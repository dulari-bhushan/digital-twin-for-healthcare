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on target</c:v>
                </c:pt>
              </c:strCache>
            </c:strRef>
          </c:tx>
          <c:spPr>
            <a:solidFill>
              <a:srgbClr val="0F7068"/>
            </a:solidFill>
            <a:effectLst/>
          </c:spPr>
          <c:invertIfNegative val="0"/>
          <c:dLbls>
            <c:numFmt formatCode="0.0&quot;%&quot;" sourceLinked="0"/>
            <c:txPr>
              <a:bodyPr/>
              <a:lstStyle/>
              <a:p>
                <a:pPr>
                  <a:defRPr b="1" i="0" strike="noStrike" sz="1100" u="none">
                    <a:solidFill>
                      <a:srgbClr val="0F3B38"/>
                    </a:solidFill>
                    <a:latin typeface="Calibri"/>
                  </a:defRPr>
                </a:pPr>
              </a:p>
            </c:txPr>
            <c:showLegendKey val="0"/>
            <c:showVal val="1"/>
            <c:showCatName val="0"/>
            <c:showSerName val="0"/>
            <c:showPercent val="0"/>
            <c:showBubbleSize val="0"/>
            <c:showLeaderLines val="0"/>
          </c:dLbls>
          <c:dPt>
            <c:idx val="0"/>
            <c:invertIfNegative val="0"/>
            <c:bubble3D val="0"/>
            <c:spPr>
              <a:solidFill>
                <a:srgbClr val="0F7068"/>
              </a:solidFill>
              <a:effectLst/>
            </c:spPr>
          </c:dPt>
          <c:dPt>
            <c:idx val="1"/>
            <c:invertIfNegative val="0"/>
            <c:bubble3D val="0"/>
            <c:spPr>
              <a:solidFill>
                <a:srgbClr val="0F7068"/>
              </a:solidFill>
              <a:effectLst/>
            </c:spPr>
          </c:dPt>
          <c:dPt>
            <c:idx val="2"/>
            <c:invertIfNegative val="0"/>
            <c:bubble3D val="0"/>
            <c:spPr>
              <a:solidFill>
                <a:srgbClr val="0F7068"/>
              </a:solidFill>
              <a:effectLst/>
            </c:spPr>
          </c:dPt>
          <c:dPt>
            <c:idx val="3"/>
            <c:invertIfNegative val="0"/>
            <c:bubble3D val="0"/>
            <c:spPr>
              <a:solidFill>
                <a:srgbClr val="B42318"/>
              </a:solidFill>
              <a:effectLst/>
            </c:spPr>
          </c:dPt>
          <c:cat>
            <c:multiLvlStrRef>
              <c:f>Sheet1!$A$2:$A$5</c:f>
              <c:multiLvlStrCache>
                <c:ptCount val="4"/>
                <c:lvl>
                  <c:pt idx="0">
                    <c:v>Blood sugar</c:v>
                  </c:pt>
                  <c:pt idx="1">
                    <c:v>Blood pressure</c:v>
                  </c:pt>
                  <c:pt idx="2">
                    <c:v>Cholesterol (LDL)</c:v>
                  </c:pt>
                  <c:pt idx="3">
                    <c:v>All three</c:v>
                  </c:pt>
                </c:lvl>
              </c:multiLvlStrCache>
            </c:multiLvlStrRef>
          </c:cat>
          <c:val>
            <c:numRef>
              <c:f>Sheet1!$B$2:$B$5</c:f>
              <c:numCache>
                <c:formatCode>General</c:formatCode>
                <c:ptCount val="4"/>
                <c:pt idx="0">
                  <c:v>36.3</c:v>
                </c:pt>
                <c:pt idx="1">
                  <c:v>48.8</c:v>
                </c:pt>
                <c:pt idx="2">
                  <c:v>41.5</c:v>
                </c:pt>
                <c:pt idx="3">
                  <c:v>7.7</c:v>
                </c:pt>
              </c:numCache>
            </c:numRef>
          </c:val>
        </c:ser>
        <c:dLbls>
          <c:numFmt formatCode="0.0&quot;%&quot;" sourceLinked="0"/>
          <c:txPr>
            <a:bodyPr/>
            <a:lstStyle/>
            <a:p>
              <a:pPr>
                <a:defRPr b="1" i="0" strike="noStrike" sz="1100" u="none">
                  <a:solidFill>
                    <a:srgbClr val="0F3B3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3B38"/>
                </a:solidFill>
                <a:latin typeface="Calibri"/>
              </a:defRPr>
            </a:pPr>
            <a:endParaRPr lang="en-US"/>
          </a:p>
        </c:txPr>
        <c:crossAx val="2094734552"/>
        <c:crosses val="autoZero"/>
        <c:auto val="1"/>
        <c:lblAlgn val="ctr"/>
        <c:noMultiLvlLbl val="1"/>
      </c:catAx>
      <c:valAx>
        <c:axId val="2094734552"/>
        <c:scaling>
          <c:orientation val="minMax"/>
          <c:max val="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No-change baseline</c:v>
                </c:pt>
              </c:strCache>
            </c:strRef>
          </c:tx>
          <c:spPr>
            <a:solidFill>
              <a:srgbClr val="B8C2C0"/>
            </a:solidFill>
            <a:effectLst/>
          </c:spPr>
          <c:invertIfNegative val="0"/>
          <c:dLbls>
            <c:numFmt formatCode="0.0" sourceLinked="0"/>
            <c:txPr>
              <a:bodyPr/>
              <a:lstStyle/>
              <a:p>
                <a:pPr>
                  <a:defRPr b="0" i="0" strike="noStrike" sz="1000" u="none">
                    <a:solidFill>
                      <a:srgbClr val="0F3B38"/>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Sheet1!$B$2:$B$4</c:f>
              <c:numCache>
                <c:formatCode>General</c:formatCode>
                <c:ptCount val="3"/>
                <c:pt idx="0">
                  <c:v>16.3</c:v>
                </c:pt>
                <c:pt idx="1">
                  <c:v>25.8</c:v>
                </c:pt>
                <c:pt idx="2">
                  <c:v>36.7</c:v>
                </c:pt>
              </c:numCache>
            </c:numRef>
          </c:val>
        </c:ser>
        <c:ser>
          <c:idx val="1"/>
          <c:order val="1"/>
          <c:tx>
            <c:strRef>
              <c:f>Sheet1!$C$1</c:f>
              <c:strCache>
                <c:ptCount val="1"/>
                <c:pt idx="0">
                  <c:v>Kaya ensemble</c:v>
                </c:pt>
              </c:strCache>
            </c:strRef>
          </c:tx>
          <c:spPr>
            <a:solidFill>
              <a:srgbClr val="0F7068"/>
            </a:solidFill>
            <a:effectLst/>
          </c:spPr>
          <c:invertIfNegative val="0"/>
          <c:dLbls>
            <c:numFmt formatCode="0.0" sourceLinked="0"/>
            <c:txPr>
              <a:bodyPr/>
              <a:lstStyle/>
              <a:p>
                <a:pPr>
                  <a:defRPr b="0" i="0" strike="noStrike" sz="1000" u="none">
                    <a:solidFill>
                      <a:srgbClr val="0F3B38"/>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Sheet1!$C$2:$C$4</c:f>
              <c:numCache>
                <c:formatCode>General</c:formatCode>
                <c:ptCount val="3"/>
                <c:pt idx="0">
                  <c:v>12.6</c:v>
                </c:pt>
                <c:pt idx="1">
                  <c:v>21.1</c:v>
                </c:pt>
                <c:pt idx="2">
                  <c:v>28.2</c:v>
                </c:pt>
              </c:numCache>
            </c:numRef>
          </c:val>
        </c:ser>
        <c:dLbls>
          <c:numFmt formatCode="0.0" sourceLinked="0"/>
          <c:txPr>
            <a:bodyPr/>
            <a:lstStyle/>
            <a:p>
              <a:pPr>
                <a:defRPr b="0" i="0" strike="noStrike" sz="1000" u="none">
                  <a:solidFill>
                    <a:srgbClr val="0F3B3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F3B38"/>
                </a:solidFill>
                <a:latin typeface="Calibri"/>
              </a:defRPr>
            </a:pPr>
            <a:endParaRPr lang="en-US"/>
          </a:p>
        </c:txPr>
        <c:crossAx val="2094734552"/>
        <c:crosses val="autoZero"/>
        <c:auto val="1"/>
        <c:lblAlgn val="ctr"/>
        <c:noMultiLvlLbl val="1"/>
      </c:catAx>
      <c:valAx>
        <c:axId val="2094734552"/>
        <c:scaling>
          <c:orientation val="minMax"/>
          <c:max val="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7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Standard score or simple baseline</c:v>
                </c:pt>
              </c:strCache>
            </c:strRef>
          </c:tx>
          <c:spPr>
            <a:solidFill>
              <a:srgbClr val="B8C2C0"/>
            </a:solidFill>
            <a:effectLst/>
          </c:spPr>
          <c:invertIfNegative val="0"/>
          <c:dLbls>
            <c:numFmt formatCode="0.00" sourceLinked="0"/>
            <c:txPr>
              <a:bodyPr/>
              <a:lstStyle/>
              <a:p>
                <a:pPr>
                  <a:defRPr b="0" i="0" strike="noStrike" sz="1000" u="none">
                    <a:solidFill>
                      <a:srgbClr val="0F3B38"/>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Liver fibrosis</c:v>
                  </c:pt>
                  <c:pt idx="1">
                    <c:v>Liver fat</c:v>
                  </c:pt>
                  <c:pt idx="2">
                    <c:v>Low eGFR</c:v>
                  </c:pt>
                </c:lvl>
              </c:multiLvlStrCache>
            </c:multiLvlStrRef>
          </c:cat>
          <c:val>
            <c:numRef>
              <c:f>Sheet1!$B$2:$B$4</c:f>
              <c:numCache>
                <c:formatCode>General</c:formatCode>
                <c:ptCount val="3"/>
                <c:pt idx="0">
                  <c:v>0.63</c:v>
                </c:pt>
                <c:pt idx="1">
                  <c:v>0.82</c:v>
                </c:pt>
                <c:pt idx="2">
                  <c:v>0.85</c:v>
                </c:pt>
              </c:numCache>
            </c:numRef>
          </c:val>
        </c:ser>
        <c:ser>
          <c:idx val="1"/>
          <c:order val="1"/>
          <c:tx>
            <c:strRef>
              <c:f>Sheet1!$C$1</c:f>
              <c:strCache>
                <c:ptCount val="1"/>
                <c:pt idx="0">
                  <c:v>Kaya</c:v>
                </c:pt>
              </c:strCache>
            </c:strRef>
          </c:tx>
          <c:spPr>
            <a:solidFill>
              <a:srgbClr val="0F7068"/>
            </a:solidFill>
            <a:effectLst/>
          </c:spPr>
          <c:invertIfNegative val="0"/>
          <c:dLbls>
            <c:numFmt formatCode="0.00" sourceLinked="0"/>
            <c:txPr>
              <a:bodyPr/>
              <a:lstStyle/>
              <a:p>
                <a:pPr>
                  <a:defRPr b="0" i="0" strike="noStrike" sz="1000" u="none">
                    <a:solidFill>
                      <a:srgbClr val="0F3B38"/>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Liver fibrosis</c:v>
                  </c:pt>
                  <c:pt idx="1">
                    <c:v>Liver fat</c:v>
                  </c:pt>
                  <c:pt idx="2">
                    <c:v>Low eGFR</c:v>
                  </c:pt>
                </c:lvl>
              </c:multiLvlStrCache>
            </c:multiLvlStrRef>
          </c:cat>
          <c:val>
            <c:numRef>
              <c:f>Sheet1!$C$2:$C$4</c:f>
              <c:numCache>
                <c:formatCode>General</c:formatCode>
                <c:ptCount val="3"/>
                <c:pt idx="0">
                  <c:v>0.83</c:v>
                </c:pt>
                <c:pt idx="1">
                  <c:v>0.83</c:v>
                </c:pt>
                <c:pt idx="2">
                  <c:v>0.85</c:v>
                </c:pt>
              </c:numCache>
            </c:numRef>
          </c:val>
        </c:ser>
        <c:dLbls>
          <c:numFmt formatCode="0.00" sourceLinked="0"/>
          <c:txPr>
            <a:bodyPr/>
            <a:lstStyle/>
            <a:p>
              <a:pPr>
                <a:defRPr b="0" i="0" strike="noStrike" sz="1000" u="none">
                  <a:solidFill>
                    <a:srgbClr val="0F3B3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F3B38"/>
                </a:solidFill>
                <a:latin typeface="Calibri"/>
              </a:defRPr>
            </a:pPr>
            <a:endParaRPr lang="en-US"/>
          </a:p>
        </c:txPr>
        <c:crossAx val="2094734552"/>
        <c:crosses val="autoZero"/>
        <c:auto val="1"/>
        <c:lblAlgn val="ctr"/>
        <c:noMultiLvlLbl val="1"/>
      </c:catAx>
      <c:valAx>
        <c:axId val="2094734552"/>
        <c:scaling>
          <c:orientation val="minMax"/>
          <c:max val="1"/>
          <c:min val="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7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about 0:08 | running total 0:08]
Hello, we are Team Kaya from IIT Hyderabad. You have seen the demo, so I will cover the problem, the architecture and the models.
---
Sources and caveats: Kaya: a multi-organ digital twin for Type 2 Diabetes. IIT Hyderabad. Team: Dulari Bhushan and Prateek Giddaplavar. Submission to the Happiest Health 'Reimagining and Reforming Healthcare in India' Summit 2026, Digital Twin Challenge,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SKIP in the 5-minute version]
Preface. Only if you want a one-line setup: diabetes rarely harms by itself, its complications do.
---
Sources and caveats: Preface. The disease is rarely fatal by itself; complications are. Existing apps and twins focus on managing sugar. Kaya connects the continuous glucose signal to organ damage. The chart is illustrative: continuous glucose versus an annual organ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about 0:25 | running total 0:33]
About 101 million Indians live with diabetes, and 136 million more have prediabetes. 43 percent of adults with diabetes do not know it. Among those who do, only 36 percent reach their sugar target, and 7.7 percent reach sugar, blood pressure and cholesterol targets together.
---
Sources and caveats: Scale: ICMR-INDIAB (2023) estimates 101 million Indians with diabetes (11.4%) and 136 million with prediabetes (15.3%). IDF Atlas 2025: about 89.8 million adults aged 20-79 in 2024 (second only to China), 43% undiagnosed, projected 156.7 million by 2050. Control: in the ICMR-INDIAB national study of 5,789 people with known diabetes, 36.3% had good glycaemic control, 48.8% good blood pressure control, 41.5% LDL on target, and only 7.7% met all three. The IDF India figures come from a news summary of the Atlas; verify against the Atlas before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about 0:20 | running total 0:53]
The damage lands in the organs: retinopathy in about 17 percent of people over 50, kidney damage in a third to nearly half in clinic studies, fatty liver in over half. These come from different studies, not one survey. Each is silent until it is late, and irreversible at blindness, dialysis or cirrhosis.
---
Sources and caveats: Complications. Eyes: National Diabetic Retinopathy Survey 2015-19 (21 districts, age 50+): DR in 16.9% of people with diabetes, sight-threatening 3.6%. Kidneys: Indian hospital studies report albuminuria or CKD in roughly 34-44% of people with type 2 diabetes (Delhi 34.4%, Kolkata 43.8% with UACR above 30); these are single-centre studies, not national. Liver: SPRINT (924 patients, 101 cities) found NAFLD in 56.5%; DiaFib-Liver (9,202 adults) found clinically significant fibrosis in 26%, advanced fibrosis in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about 0:20 | running total 1:13]
Why is it missed? Care is organised around glucose, damage happens in the organs, and nothing connects the two. Checks are rare, specialists are scarce, and the data sits in silos. So the first alarm is the complication itself.
---
Sources and caveats: Why the damage is missed. The timeline is conceptual. Ophthalmologist density is from World Diabetes Foundation project pages (about 1 per 100,000, about 80% in cities); these figures are dated and should be re-checked.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about 0:08 | running total 1:21]
Today's tools manage sugar, or look at one organ at one moment. None links daily glucose to liver, eye and kidney risk.
---
Sources and caveats: Market landscape, based on public information. Twin Health markets a whole-body metabolic digital twin for reversing type 2 diabetes using CGM, sleep, activity and stress data; its public descriptions do not describe per-organ risk or a clinician what-if tool. Verify competitor claims before the final submission. India diabetes device market is estimated at USD 4.8 billion, reaching 7.7 billion by 2030 (Frost &amp; Sullivan, via BioSpectrum).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SKIP in the 5-minute version]
Gap table. Skip in the short version; the previous slide says it.
---
Sources and caveats: Comparison is based on public product descriptions and should be verified before the final submission. Kaya's coaching is limited to nudges (a next action and why), so it is marked partial. Kaya's organ modules are validated on real data where it exists (NHANES, APTOS and IDRiD, CGMacros); the glucose-to-organ links are simulated on a synthetic cohort and not clinically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about 0:10 | running total 1:31]
Kaya's answer: one twin per patient. It forecasts glucose and organ risk together, and a doctor can test a change on the twin first.
---
Sources and caveats: Kaya fuses static EHR data and dynamic wearable data into one twin per patient, runs four organ modules (glucose, liver, eye, kidney) and a what-if engine. Glucose forecast re-runs on each 5-minute reading using a pure NumPy model in about 1 ms with no GPU. Three roles use it: patient, doctor and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SKIP in the 5-minute version]
Gaps answered. Skip in the 5-minute version; the architecture slide covers it.
---
Sources and caveats: Mapping from market gaps (previous slides) to what Kaya has built. Alert replay: at about one false alert per patient-day, 72% of hypoglycaemia episodes are caught with a median 45 minutes of warning. The retina grader reaches quadratic kappa 0.71 on the Indian IDRiD test set after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SKIP in the 5-minute version]
Features. Skip; shown in the demo video.
---
Sources and caveats: Features built so far. All data is synthetic. Uploaded reports are shown to the doctor as unverified and are not used by the twin; the twin uses verified panels only. The voice assistant checks emergency words and medicine questions in code before any language model is called, and replaces any reply containing dose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SKIP in the 5-minute version]
Product screenshots. Skip; shown in the demo video.
---
Sources and caveats: Screenshots of the running app with a synthetic patient (Rajesh Sharma). Doctor view: triage list sorted by risk, what changed since the last visit, glucose twin with forecast. Patient view: plain-language day summary with one next action, and Try a change, showing time in range and liver-fat risk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about 0:40 | running total 2:11]
The architecture. Five inputs: wearable glucose every five minutes plus heart rate, sleep and steps; EHR and labs; the retina scan; the patient's log; and voice. An encoder fuses them into one twin per patient. On it sit four modules, glucose, liver, eye and kidney, and a what-if engine. One FastAPI layer serves REST, a live WebSocket and FHIR R4 to three roles: patient, doctor and admin.
---
Sources and caveats: System architecture. Inputs (wearable stream, EHR and labs, retina scan, patient quick log, voice or chat) feed one patient-state encoder. Four organ modules and the what-if engine sit on top. Three roles use the product: patient, doctor and admin. The dashed loop shows patient logs and questions feeding back into the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about 0:40 | running total 2:51]
The models. Glucose: a GRU blended with LightGBM, with conformal 80 percent intervals. On real CGMacros data, error at one hour is 21 against 26 mg/dL for no-change, and alerts catch 72 percent of lows 45 minutes early. Liver fibrosis reaches 0.83 AUROC on NHANES against 0.63 for FIB-4. Kidney matches a strong baseline, so our value is the eGFR trajectory, a labelled simulation. The eye is EfficientNet-B2 with Grad-CAM: kappa 0.89 on APTOS, 0.71 on the Indian IDRiD set.
---
Sources and caveats: Glucose: out-of-sample on real CGMacros recordings (34 subjects): RMSE 12.6 / 21.1 / 28.2 mg/dL at 30 / 60 / 120 minutes versus 16.3 / 25.8 / 36.7 for no-change; conformal 80% intervals cover about 80%; event probabilities are isotonic-calibrated. Liver: NHANES 2017-18, 4,745 adults with FibroScan labels: advanced fibrosis AUROC 0.83 versus FIB-4 0.63; steatosis 0.83 versus FLI 0.82. Kidney: NHANES, 4,827 adults: low eGFR 0.85 (same as a simple baseline), albuminuria 0.76; the product value is the eGFR path, which is a labelled simulation. Eye: EfficientNet-B2 ordinal grader, kappa 0.89 on APTOS held-out, 0.71 on Indian IDRiD after fine-tuning (0.57 without). Progression risk is a simulation with editable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about 0:15 | running total 3:06]
Live mode runs the GRU in pure NumPy, about a millisecond per reading, no GPU. Voice and document reading use Sarvam AI from the server, with safety rules in code: emergency and dose questions never reach the model.
---
Sources and caveats: Technical stack. Data: CGMacros (PhysioNet), NHANES 2017-18, APTOS 2019 and IDRiD, and a synthetic cohort (our generator plus simglucose). Models: PyTorch GRU with quantile and event heads, LightGBM, scikit-learn, timm EfficientNet-B2, SHAP, Grad-CAM, conformal prediction and isotonic calibration. Language: Sarvam AI (saaras:v4 speech-to-text, sarvam-105b-conversations chat, bulbul:v4-flash text-to-speech) and Sarvam Document AI, all called from the server so the key never reaches the browser. Platform: FastAPI, Pydantic, WebSocket, FHIR R4, ReportLab PDFs, React 18 with Vite, NumPy live model, Docker Compose and GitHub Actions. Training used 3x NVIDIA RTX A5000.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SKIP in the 5-minute version]
Roles. Skip in the short version; covered on the architecture slide.
---
Sources and caveats: Three roles. Patient: the app shows one next action and why, how habits affect organs, a try-a-change simulator, and a voice assistant in four languages; patients can upload reports as PDF or photo. Doctor: triaged list, full record, what changed, what-if, PDF. Admin: operations page with service health, model inventory, traffic, assistant safety counters, audit trail (in memory), self-test and a hardening checklist; FHIR R4 read API for hospital IT. Persistent audit log, consent records and ABDM alignment are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about 0:12 | running total 3:18]
Honest limits: each module is validated on real data where it exists, but the links between them are simulated on a synthetic cohort. Kaya is decision support, not diagnosis.
---
Sources and caveats: Status as of this submission. The glucose-to-organ links are simulated because no public dataset links one person's glucose stream to their liver, eye and kidney outcomes; each module is validated on real data where it exists (CGMacros, NHANES, APTOS and IDRiD).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about 0:08 | running total 3:26]
Kaya connects what we measure daily, glucose, to what we find too late, organ damage. Thank you.
---
Sources and caveats: Closing. Thank the judges; offer the live demo: doctor view, patient view and admin view on synthetic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SKIP in the 5-minute version]
Appendix: detailed architecture. Open it only if asked about data sources or footnotes.
---
Sources and caveats: Appendix: detailed architecture with data sources, models, trust features and what people get. Footnotes give dataset names, model names and headline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dular\AppData\Local\Temp\claude\C--Users-dular-Documents-GitHub-digital-Twin-for-healthcare\e2aeb626-02d4-4787-bc69-9973ee664942\scratchpad\deck\logo_mark.png">    </p:cNvPr>
          <p:cNvPicPr>
            <a:picLocks noChangeAspect="1"/>
          </p:cNvPicPr>
          <p:nvPr/>
        </p:nvPicPr>
        <p:blipFill>
          <a:blip r:embed="rId1"/>
          <a:stretch>
            <a:fillRect/>
          </a:stretch>
        </p:blipFill>
        <p:spPr>
          <a:xfrm>
            <a:off x="8229600" y="246888"/>
            <a:ext cx="402336" cy="297180"/>
          </a:xfrm>
          <a:prstGeom prst="rect">
            <a:avLst/>
          </a:prstGeom>
        </p:spPr>
      </p:pic>
      <p:sp>
        <p:nvSpPr>
          <p:cNvPr id="3" name="Text 0"/>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5B6B77"/>
                </a:solidFill>
                <a:latin typeface="Calibri" pitchFamily="34" charset="0"/>
                <a:ea typeface="Calibri" pitchFamily="34" charset="-122"/>
                <a:cs typeface="Calibri" pitchFamily="34" charset="-120"/>
              </a:rPr>
              <a:t>Kaya  ·  IIT Hyderabad  ·  Digital Twin Challenge, Phase 1</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AF9F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jp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 glucose sensor worn on the upper arm, read with a phone">    </p:cNvPr>
          <p:cNvPicPr>
            <a:picLocks noChangeAspect="1"/>
          </p:cNvPicPr>
          <p:nvPr/>
        </p:nvPicPr>
        <p:blipFill>
          <a:blip r:embed="rId1"/>
          <a:srcRect l="0" r="0" t="0" b="0"/>
          <a:stretch/>
        </p:blipFill>
        <p:spPr>
          <a:xfrm>
            <a:off x="5806440" y="0"/>
            <a:ext cx="3337560" cy="5143500"/>
          </a:xfrm>
          <a:prstGeom prst="rect">
            <a:avLst/>
          </a:prstGeom>
        </p:spPr>
      </p:pic>
      <p:pic>
        <p:nvPicPr>
          <p:cNvPr id="3" name="Image 1" descr="Kaya logo">    </p:cNvPr>
          <p:cNvPicPr>
            <a:picLocks noChangeAspect="1"/>
          </p:cNvPicPr>
          <p:nvPr/>
        </p:nvPicPr>
        <p:blipFill>
          <a:blip r:embed="rId2"/>
          <a:stretch>
            <a:fillRect/>
          </a:stretch>
        </p:blipFill>
        <p:spPr>
          <a:xfrm>
            <a:off x="457200" y="685800"/>
            <a:ext cx="3108960" cy="923544"/>
          </a:xfrm>
          <a:prstGeom prst="rect">
            <a:avLst/>
          </a:prstGeom>
        </p:spPr>
      </p:pic>
      <p:sp>
        <p:nvSpPr>
          <p:cNvPr id="4" name="Title"/>
          <p:cNvSpPr txBox="1"/>
          <p:nvPr/>
        </p:nvSpPr>
        <p:spPr>
          <a:xfrm>
            <a:off x="548640" y="2011680"/>
            <a:ext cx="4937760" cy="868680"/>
          </a:xfrm>
          <a:prstGeom prst="rect">
            <a:avLst/>
          </a:prstGeom>
          <a:noFill/>
          <a:ln/>
        </p:spPr>
        <p:txBody>
          <a:bodyPr wrap="square" lIns="0" tIns="0" rIns="0" bIns="0" rtlCol="0" anchor="t"/>
          <a:lstStyle/>
          <a:p>
            <a:pPr indent="0" marL="0">
              <a:buNone/>
            </a:pPr>
            <a:r>
              <a:rPr lang="en-US" sz="2800" b="1" dirty="0">
                <a:solidFill>
                  <a:srgbClr val="0F3B38"/>
                </a:solidFill>
              </a:rPr>
              <a:t>A Multi-Organ Digital Twin for Type 2 Diabetes</a:t>
            </a:r>
            <a:endParaRPr lang="en-US" sz="2800" dirty="0"/>
          </a:p>
        </p:txBody>
      </p:sp>
      <p:sp>
        <p:nvSpPr>
          <p:cNvPr id="5" name="Tagline"/>
          <p:cNvSpPr txBox="1"/>
          <p:nvPr/>
        </p:nvSpPr>
        <p:spPr>
          <a:xfrm>
            <a:off x="548640" y="2926080"/>
            <a:ext cx="4846320" cy="822960"/>
          </a:xfrm>
          <a:prstGeom prst="rect">
            <a:avLst/>
          </a:prstGeom>
          <a:noFill/>
          <a:ln/>
        </p:spPr>
        <p:txBody>
          <a:bodyPr wrap="square" lIns="0" tIns="0" rIns="0" bIns="0" rtlCol="0" anchor="t"/>
          <a:lstStyle/>
          <a:p>
            <a:pPr indent="0" marL="0">
              <a:buNone/>
            </a:pPr>
            <a:r>
              <a:rPr lang="en-US" sz="1400" i="1" dirty="0">
                <a:solidFill>
                  <a:srgbClr val="0F7068"/>
                </a:solidFill>
              </a:rPr>
              <a:t>Other twins forecast glucose. Kaya shows what glucose does to the liver, eyes and kidneys, and lets a doctor test a change on the virtual patient first.</a:t>
            </a:r>
            <a:endParaRPr lang="en-US" sz="1400" dirty="0"/>
          </a:p>
        </p:txBody>
      </p:sp>
      <p:sp>
        <p:nvSpPr>
          <p:cNvPr id="6" name="Team"/>
          <p:cNvSpPr txBox="1"/>
          <p:nvPr/>
        </p:nvSpPr>
        <p:spPr>
          <a:xfrm>
            <a:off x="548640" y="4023360"/>
            <a:ext cx="4937760" cy="685800"/>
          </a:xfrm>
          <a:prstGeom prst="rect">
            <a:avLst/>
          </a:prstGeom>
          <a:noFill/>
          <a:ln/>
        </p:spPr>
        <p:txBody>
          <a:bodyPr wrap="square" lIns="0" tIns="0" rIns="0" bIns="0" rtlCol="0" anchor="t"/>
          <a:lstStyle/>
          <a:p>
            <a:pPr indent="0" marL="0">
              <a:buNone/>
            </a:pPr>
            <a:r>
              <a:rPr lang="en-US" sz="1200" b="1" dirty="0">
                <a:solidFill>
                  <a:srgbClr val="0F3B38"/>
                </a:solidFill>
              </a:rPr>
              <a:t>Team Kaya</a:t>
            </a:r>
            <a:endParaRPr lang="en-US" sz="1200" dirty="0"/>
          </a:p>
          <a:p>
            <a:pPr indent="0" marL="0">
              <a:buNone/>
            </a:pPr>
            <a:r>
              <a:rPr lang="en-US" sz="1200" dirty="0">
                <a:solidFill>
                  <a:srgbClr val="0F3B38"/>
                </a:solidFill>
              </a:rPr>
              <a:t>Dulari Bhushan  ·  Prateek Giddaplavar</a:t>
            </a:r>
            <a:endParaRPr lang="en-US" sz="1200" dirty="0"/>
          </a:p>
          <a:p>
            <a:pPr indent="0" marL="0">
              <a:buNone/>
            </a:pPr>
            <a:r>
              <a:rPr lang="en-US" sz="1200" dirty="0">
                <a:solidFill>
                  <a:srgbClr val="5B6B77"/>
                </a:solidFill>
              </a:rPr>
              <a:t>Indian Institute of Technology Hyderabad</a:t>
            </a:r>
            <a:endParaRPr lang="en-US" sz="1200" dirty="0"/>
          </a:p>
        </p:txBody>
      </p:sp>
      <p:sp>
        <p:nvSpPr>
          <p:cNvPr id="7" name="Shape 3"/>
          <p:cNvSpPr/>
          <p:nvPr/>
        </p:nvSpPr>
        <p:spPr>
          <a:xfrm>
            <a:off x="548640" y="4681728"/>
            <a:ext cx="4846320" cy="274320"/>
          </a:xfrm>
          <a:prstGeom prst="roundRect">
            <a:avLst>
              <a:gd name="adj" fmla="val 50000"/>
            </a:avLst>
          </a:prstGeom>
          <a:solidFill>
            <a:srgbClr val="E7F2F0"/>
          </a:solidFill>
          <a:ln w="12700">
            <a:solidFill>
              <a:srgbClr val="E7F2F0"/>
            </a:solidFill>
            <a:prstDash val="solid"/>
          </a:ln>
        </p:spPr>
      </p:sp>
      <p:sp>
        <p:nvSpPr>
          <p:cNvPr id="8" name="Text 4"/>
          <p:cNvSpPr txBox="1"/>
          <p:nvPr/>
        </p:nvSpPr>
        <p:spPr>
          <a:xfrm>
            <a:off x="548640" y="4681728"/>
            <a:ext cx="4846320" cy="274320"/>
          </a:xfrm>
          <a:prstGeom prst="rect">
            <a:avLst/>
          </a:prstGeom>
          <a:noFill/>
          <a:ln/>
        </p:spPr>
        <p:txBody>
          <a:bodyPr wrap="square" lIns="0" tIns="0" rIns="0" bIns="0" rtlCol="0" anchor="ctr"/>
          <a:lstStyle/>
          <a:p>
            <a:pPr algn="ctr" indent="0" marL="0">
              <a:buNone/>
            </a:pPr>
            <a:r>
              <a:rPr lang="en-US" sz="1000" b="1" dirty="0">
                <a:solidFill>
                  <a:srgbClr val="0F7068"/>
                </a:solidFill>
              </a:rPr>
              <a:t>Happiest Health Summit 2026  ·  Digital Twin Challenge, Phase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PREFACE</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Diabetes is rarely the killer. Its complications are</a:t>
            </a:r>
            <a:endParaRPr lang="en-US" sz="2500" dirty="0"/>
          </a:p>
        </p:txBody>
      </p:sp>
      <p:sp>
        <p:nvSpPr>
          <p:cNvPr id="4" name="Shape 2"/>
          <p:cNvSpPr/>
          <p:nvPr/>
        </p:nvSpPr>
        <p:spPr>
          <a:xfrm>
            <a:off x="548640" y="1499616"/>
            <a:ext cx="384048" cy="384048"/>
          </a:xfrm>
          <a:prstGeom prst="ellipse">
            <a:avLst/>
          </a:prstGeom>
          <a:solidFill>
            <a:srgbClr val="0F7068"/>
          </a:solidFill>
          <a:ln w="12700">
            <a:solidFill>
              <a:srgbClr val="0F7068"/>
            </a:solidFill>
            <a:prstDash val="solid"/>
          </a:ln>
        </p:spPr>
      </p:sp>
      <p:sp>
        <p:nvSpPr>
          <p:cNvPr id="5" name="Text 3"/>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097280" y="1481328"/>
            <a:ext cx="3383280" cy="292608"/>
          </a:xfrm>
          <a:prstGeom prst="rect">
            <a:avLst/>
          </a:prstGeom>
          <a:noFill/>
          <a:ln/>
        </p:spPr>
        <p:txBody>
          <a:bodyPr wrap="square" lIns="0" tIns="0" rIns="0" bIns="0" rtlCol="0" anchor="ctr"/>
          <a:lstStyle/>
          <a:p>
            <a:pPr indent="0" marL="0">
              <a:buNone/>
            </a:pPr>
            <a:r>
              <a:rPr lang="en-US" sz="1600" b="1" dirty="0">
                <a:solidFill>
                  <a:srgbClr val="0F3B38"/>
                </a:solidFill>
              </a:rPr>
              <a:t>The damage is silent</a:t>
            </a:r>
            <a:endParaRPr lang="en-US" sz="1600" dirty="0"/>
          </a:p>
        </p:txBody>
      </p:sp>
      <p:sp>
        <p:nvSpPr>
          <p:cNvPr id="7" name="Text 5"/>
          <p:cNvSpPr txBox="1"/>
          <p:nvPr/>
        </p:nvSpPr>
        <p:spPr>
          <a:xfrm>
            <a:off x="1097280" y="1792224"/>
            <a:ext cx="3383280" cy="658368"/>
          </a:xfrm>
          <a:prstGeom prst="rect">
            <a:avLst/>
          </a:prstGeom>
          <a:noFill/>
          <a:ln/>
        </p:spPr>
        <p:txBody>
          <a:bodyPr wrap="square" lIns="0" tIns="0" rIns="0" bIns="0" rtlCol="0" anchor="t"/>
          <a:lstStyle/>
          <a:p>
            <a:pPr indent="0" marL="0">
              <a:buNone/>
            </a:pPr>
            <a:r>
              <a:rPr lang="en-US" sz="1200" dirty="0">
                <a:solidFill>
                  <a:srgbClr val="5B6B77"/>
                </a:solidFill>
              </a:rPr>
              <a:t>Fatty liver turns to fibrosis, retinopathy is found after vision is lost, kidney function slowly declines. It builds for years before anyone notices.</a:t>
            </a:r>
            <a:endParaRPr lang="en-US" sz="1200" dirty="0"/>
          </a:p>
        </p:txBody>
      </p:sp>
      <p:sp>
        <p:nvSpPr>
          <p:cNvPr id="8" name="Shape 6"/>
          <p:cNvSpPr/>
          <p:nvPr/>
        </p:nvSpPr>
        <p:spPr>
          <a:xfrm>
            <a:off x="548640" y="2523744"/>
            <a:ext cx="384048" cy="384048"/>
          </a:xfrm>
          <a:prstGeom prst="ellipse">
            <a:avLst/>
          </a:prstGeom>
          <a:solidFill>
            <a:srgbClr val="0F7068"/>
          </a:solidFill>
          <a:ln w="12700">
            <a:solidFill>
              <a:srgbClr val="0F7068"/>
            </a:solidFill>
            <a:prstDash val="solid"/>
          </a:ln>
        </p:spPr>
      </p:sp>
      <p:sp>
        <p:nvSpPr>
          <p:cNvPr id="9" name="Text 7"/>
          <p:cNvSpPr txBox="1"/>
          <p:nvPr/>
        </p:nvSpPr>
        <p:spPr>
          <a:xfrm>
            <a:off x="548640" y="25237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1097280" y="2505456"/>
            <a:ext cx="3383280" cy="292608"/>
          </a:xfrm>
          <a:prstGeom prst="rect">
            <a:avLst/>
          </a:prstGeom>
          <a:noFill/>
          <a:ln/>
        </p:spPr>
        <p:txBody>
          <a:bodyPr wrap="square" lIns="0" tIns="0" rIns="0" bIns="0" rtlCol="0" anchor="ctr"/>
          <a:lstStyle/>
          <a:p>
            <a:pPr indent="0" marL="0">
              <a:buNone/>
            </a:pPr>
            <a:r>
              <a:rPr lang="en-US" sz="1600" b="1" dirty="0">
                <a:solidFill>
                  <a:srgbClr val="0F3B38"/>
                </a:solidFill>
              </a:rPr>
              <a:t>We watch sugar, not organs</a:t>
            </a:r>
            <a:endParaRPr lang="en-US" sz="1600" dirty="0"/>
          </a:p>
        </p:txBody>
      </p:sp>
      <p:sp>
        <p:nvSpPr>
          <p:cNvPr id="11" name="Text 9"/>
          <p:cNvSpPr txBox="1"/>
          <p:nvPr/>
        </p:nvSpPr>
        <p:spPr>
          <a:xfrm>
            <a:off x="1097280" y="2816352"/>
            <a:ext cx="3383280" cy="658368"/>
          </a:xfrm>
          <a:prstGeom prst="rect">
            <a:avLst/>
          </a:prstGeom>
          <a:noFill/>
          <a:ln/>
        </p:spPr>
        <p:txBody>
          <a:bodyPr wrap="square" lIns="0" tIns="0" rIns="0" bIns="0" rtlCol="0" anchor="t"/>
          <a:lstStyle/>
          <a:p>
            <a:pPr indent="0" marL="0">
              <a:buNone/>
            </a:pPr>
            <a:r>
              <a:rPr lang="en-US" sz="1200" dirty="0">
                <a:solidFill>
                  <a:srgbClr val="5B6B77"/>
                </a:solidFill>
              </a:rPr>
              <a:t>Glucose is checked every day. The liver, eyes and kidneys are checked once a year, if at all.</a:t>
            </a:r>
            <a:endParaRPr lang="en-US" sz="1200" dirty="0"/>
          </a:p>
        </p:txBody>
      </p:sp>
      <p:sp>
        <p:nvSpPr>
          <p:cNvPr id="12" name="Shape 10"/>
          <p:cNvSpPr/>
          <p:nvPr/>
        </p:nvSpPr>
        <p:spPr>
          <a:xfrm>
            <a:off x="548640" y="3547872"/>
            <a:ext cx="384048" cy="384048"/>
          </a:xfrm>
          <a:prstGeom prst="ellipse">
            <a:avLst/>
          </a:prstGeom>
          <a:solidFill>
            <a:srgbClr val="0F7068"/>
          </a:solidFill>
          <a:ln w="12700">
            <a:solidFill>
              <a:srgbClr val="0F7068"/>
            </a:solidFill>
            <a:prstDash val="solid"/>
          </a:ln>
        </p:spPr>
      </p:sp>
      <p:sp>
        <p:nvSpPr>
          <p:cNvPr id="13" name="Text 11"/>
          <p:cNvSpPr txBox="1"/>
          <p:nvPr/>
        </p:nvSpPr>
        <p:spPr>
          <a:xfrm>
            <a:off x="548640" y="3547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097280" y="3529584"/>
            <a:ext cx="3383280" cy="292608"/>
          </a:xfrm>
          <a:prstGeom prst="rect">
            <a:avLst/>
          </a:prstGeom>
          <a:noFill/>
          <a:ln/>
        </p:spPr>
        <p:txBody>
          <a:bodyPr wrap="square" lIns="0" tIns="0" rIns="0" bIns="0" rtlCol="0" anchor="ctr"/>
          <a:lstStyle/>
          <a:p>
            <a:pPr indent="0" marL="0">
              <a:buNone/>
            </a:pPr>
            <a:r>
              <a:rPr lang="en-US" sz="1600" b="1" dirty="0">
                <a:solidFill>
                  <a:srgbClr val="0F3B38"/>
                </a:solidFill>
              </a:rPr>
              <a:t>Kaya connects the two</a:t>
            </a:r>
            <a:endParaRPr lang="en-US" sz="1600" dirty="0"/>
          </a:p>
        </p:txBody>
      </p:sp>
      <p:sp>
        <p:nvSpPr>
          <p:cNvPr id="15" name="Text 13"/>
          <p:cNvSpPr txBox="1"/>
          <p:nvPr/>
        </p:nvSpPr>
        <p:spPr>
          <a:xfrm>
            <a:off x="1097280" y="3840480"/>
            <a:ext cx="3383280" cy="658368"/>
          </a:xfrm>
          <a:prstGeom prst="rect">
            <a:avLst/>
          </a:prstGeom>
          <a:noFill/>
          <a:ln/>
        </p:spPr>
        <p:txBody>
          <a:bodyPr wrap="square" lIns="0" tIns="0" rIns="0" bIns="0" rtlCol="0" anchor="t"/>
          <a:lstStyle/>
          <a:p>
            <a:pPr indent="0" marL="0">
              <a:buNone/>
            </a:pPr>
            <a:r>
              <a:rPr lang="en-US" sz="1200" dirty="0">
                <a:solidFill>
                  <a:srgbClr val="5B6B77"/>
                </a:solidFill>
              </a:rPr>
              <a:t>A living virtual copy of each patient that links daily glucose to the organs it harms, and lets a doctor ask what happens if we change something.</a:t>
            </a:r>
            <a:endParaRPr lang="en-US" sz="1200" dirty="0"/>
          </a:p>
        </p:txBody>
      </p:sp>
      <p:pic>
        <p:nvPicPr>
          <p:cNvPr id="16" name="Image 0" descr="A fingertip glucose test">    </p:cNvPr>
          <p:cNvPicPr>
            <a:picLocks noChangeAspect="1"/>
          </p:cNvPicPr>
          <p:nvPr/>
        </p:nvPicPr>
        <p:blipFill>
          <a:blip r:embed="rId1"/>
          <a:srcRect l="0" r="0" t="0" b="0"/>
          <a:stretch/>
        </p:blipFill>
        <p:spPr>
          <a:xfrm>
            <a:off x="4846320" y="1481328"/>
            <a:ext cx="3749040" cy="1325880"/>
          </a:xfrm>
          <a:prstGeom prst="rect">
            <a:avLst/>
          </a:prstGeom>
        </p:spPr>
      </p:pic>
      <p:sp>
        <p:nvSpPr>
          <p:cNvPr id="17" name="Shape 14"/>
          <p:cNvSpPr/>
          <p:nvPr/>
        </p:nvSpPr>
        <p:spPr>
          <a:xfrm>
            <a:off x="4846320" y="2926080"/>
            <a:ext cx="3749040" cy="1554480"/>
          </a:xfrm>
          <a:prstGeom prst="roundRect">
            <a:avLst>
              <a:gd name="adj" fmla="val 5882"/>
            </a:avLst>
          </a:prstGeom>
          <a:solidFill>
            <a:srgbClr val="FAF9F5"/>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8" name="Text 15"/>
          <p:cNvSpPr txBox="1"/>
          <p:nvPr/>
        </p:nvSpPr>
        <p:spPr>
          <a:xfrm>
            <a:off x="4983480" y="2980944"/>
            <a:ext cx="3474720" cy="228600"/>
          </a:xfrm>
          <a:prstGeom prst="rect">
            <a:avLst/>
          </a:prstGeom>
          <a:noFill/>
          <a:ln/>
        </p:spPr>
        <p:txBody>
          <a:bodyPr wrap="square" lIns="0" tIns="0" rIns="0" bIns="0" rtlCol="0" anchor="ctr"/>
          <a:lstStyle/>
          <a:p>
            <a:pPr indent="0" marL="0">
              <a:buNone/>
            </a:pPr>
            <a:r>
              <a:rPr lang="en-US" sz="1000" b="1" dirty="0">
                <a:solidFill>
                  <a:srgbClr val="5B6B77"/>
                </a:solidFill>
              </a:rPr>
              <a:t>What gets measured, over one year</a:t>
            </a:r>
            <a:endParaRPr lang="en-US" sz="1000" dirty="0"/>
          </a:p>
        </p:txBody>
      </p:sp>
      <p:sp>
        <p:nvSpPr>
          <p:cNvPr id="19" name="Text 16"/>
          <p:cNvSpPr txBox="1"/>
          <p:nvPr/>
        </p:nvSpPr>
        <p:spPr>
          <a:xfrm>
            <a:off x="4983480" y="3310128"/>
            <a:ext cx="731520" cy="274320"/>
          </a:xfrm>
          <a:prstGeom prst="rect">
            <a:avLst/>
          </a:prstGeom>
          <a:noFill/>
          <a:ln/>
        </p:spPr>
        <p:txBody>
          <a:bodyPr wrap="square" lIns="0" tIns="0" rIns="0" bIns="0" rtlCol="0" anchor="ctr"/>
          <a:lstStyle/>
          <a:p>
            <a:pPr indent="0" marL="0">
              <a:buNone/>
            </a:pPr>
            <a:r>
              <a:rPr lang="en-US" sz="1100" b="1" dirty="0">
                <a:solidFill>
                  <a:srgbClr val="0F7068"/>
                </a:solidFill>
              </a:rPr>
              <a:t>Glucose</a:t>
            </a:r>
            <a:endParaRPr lang="en-US" sz="1100" dirty="0"/>
          </a:p>
        </p:txBody>
      </p:sp>
      <p:sp>
        <p:nvSpPr>
          <p:cNvPr id="20" name="Shape 17"/>
          <p:cNvSpPr/>
          <p:nvPr/>
        </p:nvSpPr>
        <p:spPr>
          <a:xfrm>
            <a:off x="5760720" y="3401568"/>
            <a:ext cx="64008" cy="64008"/>
          </a:xfrm>
          <a:prstGeom prst="ellipse">
            <a:avLst/>
          </a:prstGeom>
          <a:solidFill>
            <a:srgbClr val="0F7068"/>
          </a:solidFill>
          <a:ln w="12700">
            <a:solidFill>
              <a:srgbClr val="0F7068"/>
            </a:solidFill>
            <a:prstDash val="solid"/>
          </a:ln>
        </p:spPr>
      </p:sp>
      <p:sp>
        <p:nvSpPr>
          <p:cNvPr id="21" name="Shape 18"/>
          <p:cNvSpPr/>
          <p:nvPr/>
        </p:nvSpPr>
        <p:spPr>
          <a:xfrm>
            <a:off x="5852160" y="3401568"/>
            <a:ext cx="64008" cy="64008"/>
          </a:xfrm>
          <a:prstGeom prst="ellipse">
            <a:avLst/>
          </a:prstGeom>
          <a:solidFill>
            <a:srgbClr val="0F7068"/>
          </a:solidFill>
          <a:ln w="12700">
            <a:solidFill>
              <a:srgbClr val="0F7068"/>
            </a:solidFill>
            <a:prstDash val="solid"/>
          </a:ln>
        </p:spPr>
      </p:sp>
      <p:sp>
        <p:nvSpPr>
          <p:cNvPr id="22" name="Shape 19"/>
          <p:cNvSpPr/>
          <p:nvPr/>
        </p:nvSpPr>
        <p:spPr>
          <a:xfrm>
            <a:off x="5943600" y="3401568"/>
            <a:ext cx="64008" cy="64008"/>
          </a:xfrm>
          <a:prstGeom prst="ellipse">
            <a:avLst/>
          </a:prstGeom>
          <a:solidFill>
            <a:srgbClr val="0F7068"/>
          </a:solidFill>
          <a:ln w="12700">
            <a:solidFill>
              <a:srgbClr val="0F7068"/>
            </a:solidFill>
            <a:prstDash val="solid"/>
          </a:ln>
        </p:spPr>
      </p:sp>
      <p:sp>
        <p:nvSpPr>
          <p:cNvPr id="23" name="Shape 20"/>
          <p:cNvSpPr/>
          <p:nvPr/>
        </p:nvSpPr>
        <p:spPr>
          <a:xfrm>
            <a:off x="6035040" y="3401568"/>
            <a:ext cx="64008" cy="64008"/>
          </a:xfrm>
          <a:prstGeom prst="ellipse">
            <a:avLst/>
          </a:prstGeom>
          <a:solidFill>
            <a:srgbClr val="0F7068"/>
          </a:solidFill>
          <a:ln w="12700">
            <a:solidFill>
              <a:srgbClr val="0F7068"/>
            </a:solidFill>
            <a:prstDash val="solid"/>
          </a:ln>
        </p:spPr>
      </p:sp>
      <p:sp>
        <p:nvSpPr>
          <p:cNvPr id="24" name="Shape 21"/>
          <p:cNvSpPr/>
          <p:nvPr/>
        </p:nvSpPr>
        <p:spPr>
          <a:xfrm>
            <a:off x="6126480" y="3401568"/>
            <a:ext cx="64008" cy="64008"/>
          </a:xfrm>
          <a:prstGeom prst="ellipse">
            <a:avLst/>
          </a:prstGeom>
          <a:solidFill>
            <a:srgbClr val="0F7068"/>
          </a:solidFill>
          <a:ln w="12700">
            <a:solidFill>
              <a:srgbClr val="0F7068"/>
            </a:solidFill>
            <a:prstDash val="solid"/>
          </a:ln>
        </p:spPr>
      </p:sp>
      <p:sp>
        <p:nvSpPr>
          <p:cNvPr id="25" name="Shape 22"/>
          <p:cNvSpPr/>
          <p:nvPr/>
        </p:nvSpPr>
        <p:spPr>
          <a:xfrm>
            <a:off x="6217920" y="3401568"/>
            <a:ext cx="64008" cy="64008"/>
          </a:xfrm>
          <a:prstGeom prst="ellipse">
            <a:avLst/>
          </a:prstGeom>
          <a:solidFill>
            <a:srgbClr val="0F7068"/>
          </a:solidFill>
          <a:ln w="12700">
            <a:solidFill>
              <a:srgbClr val="0F7068"/>
            </a:solidFill>
            <a:prstDash val="solid"/>
          </a:ln>
        </p:spPr>
      </p:sp>
      <p:sp>
        <p:nvSpPr>
          <p:cNvPr id="26" name="Shape 23"/>
          <p:cNvSpPr/>
          <p:nvPr/>
        </p:nvSpPr>
        <p:spPr>
          <a:xfrm>
            <a:off x="6309360" y="3401568"/>
            <a:ext cx="64008" cy="64008"/>
          </a:xfrm>
          <a:prstGeom prst="ellipse">
            <a:avLst/>
          </a:prstGeom>
          <a:solidFill>
            <a:srgbClr val="0F7068"/>
          </a:solidFill>
          <a:ln w="12700">
            <a:solidFill>
              <a:srgbClr val="0F7068"/>
            </a:solidFill>
            <a:prstDash val="solid"/>
          </a:ln>
        </p:spPr>
      </p:sp>
      <p:sp>
        <p:nvSpPr>
          <p:cNvPr id="27" name="Shape 24"/>
          <p:cNvSpPr/>
          <p:nvPr/>
        </p:nvSpPr>
        <p:spPr>
          <a:xfrm>
            <a:off x="6400800" y="3401568"/>
            <a:ext cx="64008" cy="64008"/>
          </a:xfrm>
          <a:prstGeom prst="ellipse">
            <a:avLst/>
          </a:prstGeom>
          <a:solidFill>
            <a:srgbClr val="0F7068"/>
          </a:solidFill>
          <a:ln w="12700">
            <a:solidFill>
              <a:srgbClr val="0F7068"/>
            </a:solidFill>
            <a:prstDash val="solid"/>
          </a:ln>
        </p:spPr>
      </p:sp>
      <p:sp>
        <p:nvSpPr>
          <p:cNvPr id="28" name="Shape 25"/>
          <p:cNvSpPr/>
          <p:nvPr/>
        </p:nvSpPr>
        <p:spPr>
          <a:xfrm>
            <a:off x="6492240" y="3401568"/>
            <a:ext cx="64008" cy="64008"/>
          </a:xfrm>
          <a:prstGeom prst="ellipse">
            <a:avLst/>
          </a:prstGeom>
          <a:solidFill>
            <a:srgbClr val="0F7068"/>
          </a:solidFill>
          <a:ln w="12700">
            <a:solidFill>
              <a:srgbClr val="0F7068"/>
            </a:solidFill>
            <a:prstDash val="solid"/>
          </a:ln>
        </p:spPr>
      </p:sp>
      <p:sp>
        <p:nvSpPr>
          <p:cNvPr id="29" name="Shape 26"/>
          <p:cNvSpPr/>
          <p:nvPr/>
        </p:nvSpPr>
        <p:spPr>
          <a:xfrm>
            <a:off x="6583680" y="3401568"/>
            <a:ext cx="64008" cy="64008"/>
          </a:xfrm>
          <a:prstGeom prst="ellipse">
            <a:avLst/>
          </a:prstGeom>
          <a:solidFill>
            <a:srgbClr val="0F7068"/>
          </a:solidFill>
          <a:ln w="12700">
            <a:solidFill>
              <a:srgbClr val="0F7068"/>
            </a:solidFill>
            <a:prstDash val="solid"/>
          </a:ln>
        </p:spPr>
      </p:sp>
      <p:sp>
        <p:nvSpPr>
          <p:cNvPr id="30" name="Shape 27"/>
          <p:cNvSpPr/>
          <p:nvPr/>
        </p:nvSpPr>
        <p:spPr>
          <a:xfrm>
            <a:off x="6675120" y="3401568"/>
            <a:ext cx="64008" cy="64008"/>
          </a:xfrm>
          <a:prstGeom prst="ellipse">
            <a:avLst/>
          </a:prstGeom>
          <a:solidFill>
            <a:srgbClr val="0F7068"/>
          </a:solidFill>
          <a:ln w="12700">
            <a:solidFill>
              <a:srgbClr val="0F7068"/>
            </a:solidFill>
            <a:prstDash val="solid"/>
          </a:ln>
        </p:spPr>
      </p:sp>
      <p:sp>
        <p:nvSpPr>
          <p:cNvPr id="31" name="Shape 28"/>
          <p:cNvSpPr/>
          <p:nvPr/>
        </p:nvSpPr>
        <p:spPr>
          <a:xfrm>
            <a:off x="6766560" y="3401568"/>
            <a:ext cx="64008" cy="64008"/>
          </a:xfrm>
          <a:prstGeom prst="ellipse">
            <a:avLst/>
          </a:prstGeom>
          <a:solidFill>
            <a:srgbClr val="0F7068"/>
          </a:solidFill>
          <a:ln w="12700">
            <a:solidFill>
              <a:srgbClr val="0F7068"/>
            </a:solidFill>
            <a:prstDash val="solid"/>
          </a:ln>
        </p:spPr>
      </p:sp>
      <p:sp>
        <p:nvSpPr>
          <p:cNvPr id="32" name="Shape 29"/>
          <p:cNvSpPr/>
          <p:nvPr/>
        </p:nvSpPr>
        <p:spPr>
          <a:xfrm>
            <a:off x="6858000" y="3401568"/>
            <a:ext cx="64008" cy="64008"/>
          </a:xfrm>
          <a:prstGeom prst="ellipse">
            <a:avLst/>
          </a:prstGeom>
          <a:solidFill>
            <a:srgbClr val="0F7068"/>
          </a:solidFill>
          <a:ln w="12700">
            <a:solidFill>
              <a:srgbClr val="0F7068"/>
            </a:solidFill>
            <a:prstDash val="solid"/>
          </a:ln>
        </p:spPr>
      </p:sp>
      <p:sp>
        <p:nvSpPr>
          <p:cNvPr id="33" name="Shape 30"/>
          <p:cNvSpPr/>
          <p:nvPr/>
        </p:nvSpPr>
        <p:spPr>
          <a:xfrm>
            <a:off x="6949440" y="3401568"/>
            <a:ext cx="64008" cy="64008"/>
          </a:xfrm>
          <a:prstGeom prst="ellipse">
            <a:avLst/>
          </a:prstGeom>
          <a:solidFill>
            <a:srgbClr val="0F7068"/>
          </a:solidFill>
          <a:ln w="12700">
            <a:solidFill>
              <a:srgbClr val="0F7068"/>
            </a:solidFill>
            <a:prstDash val="solid"/>
          </a:ln>
        </p:spPr>
      </p:sp>
      <p:sp>
        <p:nvSpPr>
          <p:cNvPr id="34" name="Shape 31"/>
          <p:cNvSpPr/>
          <p:nvPr/>
        </p:nvSpPr>
        <p:spPr>
          <a:xfrm>
            <a:off x="7040880" y="3401568"/>
            <a:ext cx="64008" cy="64008"/>
          </a:xfrm>
          <a:prstGeom prst="ellipse">
            <a:avLst/>
          </a:prstGeom>
          <a:solidFill>
            <a:srgbClr val="0F7068"/>
          </a:solidFill>
          <a:ln w="12700">
            <a:solidFill>
              <a:srgbClr val="0F7068"/>
            </a:solidFill>
            <a:prstDash val="solid"/>
          </a:ln>
        </p:spPr>
      </p:sp>
      <p:sp>
        <p:nvSpPr>
          <p:cNvPr id="35" name="Shape 32"/>
          <p:cNvSpPr/>
          <p:nvPr/>
        </p:nvSpPr>
        <p:spPr>
          <a:xfrm>
            <a:off x="7132320" y="3401568"/>
            <a:ext cx="64008" cy="64008"/>
          </a:xfrm>
          <a:prstGeom prst="ellipse">
            <a:avLst/>
          </a:prstGeom>
          <a:solidFill>
            <a:srgbClr val="0F7068"/>
          </a:solidFill>
          <a:ln w="12700">
            <a:solidFill>
              <a:srgbClr val="0F7068"/>
            </a:solidFill>
            <a:prstDash val="solid"/>
          </a:ln>
        </p:spPr>
      </p:sp>
      <p:sp>
        <p:nvSpPr>
          <p:cNvPr id="36" name="Shape 33"/>
          <p:cNvSpPr/>
          <p:nvPr/>
        </p:nvSpPr>
        <p:spPr>
          <a:xfrm>
            <a:off x="7223760" y="3401568"/>
            <a:ext cx="64008" cy="64008"/>
          </a:xfrm>
          <a:prstGeom prst="ellipse">
            <a:avLst/>
          </a:prstGeom>
          <a:solidFill>
            <a:srgbClr val="0F7068"/>
          </a:solidFill>
          <a:ln w="12700">
            <a:solidFill>
              <a:srgbClr val="0F7068"/>
            </a:solidFill>
            <a:prstDash val="solid"/>
          </a:ln>
        </p:spPr>
      </p:sp>
      <p:sp>
        <p:nvSpPr>
          <p:cNvPr id="37" name="Shape 34"/>
          <p:cNvSpPr/>
          <p:nvPr/>
        </p:nvSpPr>
        <p:spPr>
          <a:xfrm>
            <a:off x="7315200" y="3401568"/>
            <a:ext cx="64008" cy="64008"/>
          </a:xfrm>
          <a:prstGeom prst="ellipse">
            <a:avLst/>
          </a:prstGeom>
          <a:solidFill>
            <a:srgbClr val="0F7068"/>
          </a:solidFill>
          <a:ln w="12700">
            <a:solidFill>
              <a:srgbClr val="0F7068"/>
            </a:solidFill>
            <a:prstDash val="solid"/>
          </a:ln>
        </p:spPr>
      </p:sp>
      <p:sp>
        <p:nvSpPr>
          <p:cNvPr id="38" name="Shape 35"/>
          <p:cNvSpPr/>
          <p:nvPr/>
        </p:nvSpPr>
        <p:spPr>
          <a:xfrm>
            <a:off x="7406640" y="3401568"/>
            <a:ext cx="64008" cy="64008"/>
          </a:xfrm>
          <a:prstGeom prst="ellipse">
            <a:avLst/>
          </a:prstGeom>
          <a:solidFill>
            <a:srgbClr val="0F7068"/>
          </a:solidFill>
          <a:ln w="12700">
            <a:solidFill>
              <a:srgbClr val="0F7068"/>
            </a:solidFill>
            <a:prstDash val="solid"/>
          </a:ln>
        </p:spPr>
      </p:sp>
      <p:sp>
        <p:nvSpPr>
          <p:cNvPr id="39" name="Shape 36"/>
          <p:cNvSpPr/>
          <p:nvPr/>
        </p:nvSpPr>
        <p:spPr>
          <a:xfrm>
            <a:off x="7498080" y="3401568"/>
            <a:ext cx="64008" cy="64008"/>
          </a:xfrm>
          <a:prstGeom prst="ellipse">
            <a:avLst/>
          </a:prstGeom>
          <a:solidFill>
            <a:srgbClr val="0F7068"/>
          </a:solidFill>
          <a:ln w="12700">
            <a:solidFill>
              <a:srgbClr val="0F7068"/>
            </a:solidFill>
            <a:prstDash val="solid"/>
          </a:ln>
        </p:spPr>
      </p:sp>
      <p:sp>
        <p:nvSpPr>
          <p:cNvPr id="40" name="Shape 37"/>
          <p:cNvSpPr/>
          <p:nvPr/>
        </p:nvSpPr>
        <p:spPr>
          <a:xfrm>
            <a:off x="7589520" y="3401568"/>
            <a:ext cx="64008" cy="64008"/>
          </a:xfrm>
          <a:prstGeom prst="ellipse">
            <a:avLst/>
          </a:prstGeom>
          <a:solidFill>
            <a:srgbClr val="0F7068"/>
          </a:solidFill>
          <a:ln w="12700">
            <a:solidFill>
              <a:srgbClr val="0F7068"/>
            </a:solidFill>
            <a:prstDash val="solid"/>
          </a:ln>
        </p:spPr>
      </p:sp>
      <p:sp>
        <p:nvSpPr>
          <p:cNvPr id="41" name="Shape 38"/>
          <p:cNvSpPr/>
          <p:nvPr/>
        </p:nvSpPr>
        <p:spPr>
          <a:xfrm>
            <a:off x="7680960" y="3401568"/>
            <a:ext cx="64008" cy="64008"/>
          </a:xfrm>
          <a:prstGeom prst="ellipse">
            <a:avLst/>
          </a:prstGeom>
          <a:solidFill>
            <a:srgbClr val="0F7068"/>
          </a:solidFill>
          <a:ln w="12700">
            <a:solidFill>
              <a:srgbClr val="0F7068"/>
            </a:solidFill>
            <a:prstDash val="solid"/>
          </a:ln>
        </p:spPr>
      </p:sp>
      <p:sp>
        <p:nvSpPr>
          <p:cNvPr id="42" name="Shape 39"/>
          <p:cNvSpPr/>
          <p:nvPr/>
        </p:nvSpPr>
        <p:spPr>
          <a:xfrm>
            <a:off x="7772400" y="3401568"/>
            <a:ext cx="64008" cy="64008"/>
          </a:xfrm>
          <a:prstGeom prst="ellipse">
            <a:avLst/>
          </a:prstGeom>
          <a:solidFill>
            <a:srgbClr val="0F7068"/>
          </a:solidFill>
          <a:ln w="12700">
            <a:solidFill>
              <a:srgbClr val="0F7068"/>
            </a:solidFill>
            <a:prstDash val="solid"/>
          </a:ln>
        </p:spPr>
      </p:sp>
      <p:sp>
        <p:nvSpPr>
          <p:cNvPr id="43" name="Shape 40"/>
          <p:cNvSpPr/>
          <p:nvPr/>
        </p:nvSpPr>
        <p:spPr>
          <a:xfrm>
            <a:off x="7863840" y="3401568"/>
            <a:ext cx="64008" cy="64008"/>
          </a:xfrm>
          <a:prstGeom prst="ellipse">
            <a:avLst/>
          </a:prstGeom>
          <a:solidFill>
            <a:srgbClr val="0F7068"/>
          </a:solidFill>
          <a:ln w="12700">
            <a:solidFill>
              <a:srgbClr val="0F7068"/>
            </a:solidFill>
            <a:prstDash val="solid"/>
          </a:ln>
        </p:spPr>
      </p:sp>
      <p:sp>
        <p:nvSpPr>
          <p:cNvPr id="44" name="Shape 41"/>
          <p:cNvSpPr/>
          <p:nvPr/>
        </p:nvSpPr>
        <p:spPr>
          <a:xfrm>
            <a:off x="7955280" y="3401568"/>
            <a:ext cx="64008" cy="64008"/>
          </a:xfrm>
          <a:prstGeom prst="ellipse">
            <a:avLst/>
          </a:prstGeom>
          <a:solidFill>
            <a:srgbClr val="0F7068"/>
          </a:solidFill>
          <a:ln w="12700">
            <a:solidFill>
              <a:srgbClr val="0F7068"/>
            </a:solidFill>
            <a:prstDash val="solid"/>
          </a:ln>
        </p:spPr>
      </p:sp>
      <p:sp>
        <p:nvSpPr>
          <p:cNvPr id="45" name="Shape 42"/>
          <p:cNvSpPr/>
          <p:nvPr/>
        </p:nvSpPr>
        <p:spPr>
          <a:xfrm>
            <a:off x="8046720" y="3401568"/>
            <a:ext cx="64008" cy="64008"/>
          </a:xfrm>
          <a:prstGeom prst="ellipse">
            <a:avLst/>
          </a:prstGeom>
          <a:solidFill>
            <a:srgbClr val="0F7068"/>
          </a:solidFill>
          <a:ln w="12700">
            <a:solidFill>
              <a:srgbClr val="0F7068"/>
            </a:solidFill>
            <a:prstDash val="solid"/>
          </a:ln>
        </p:spPr>
      </p:sp>
      <p:sp>
        <p:nvSpPr>
          <p:cNvPr id="46" name="Shape 43"/>
          <p:cNvSpPr/>
          <p:nvPr/>
        </p:nvSpPr>
        <p:spPr>
          <a:xfrm>
            <a:off x="8138160" y="3401568"/>
            <a:ext cx="64008" cy="64008"/>
          </a:xfrm>
          <a:prstGeom prst="ellipse">
            <a:avLst/>
          </a:prstGeom>
          <a:solidFill>
            <a:srgbClr val="0F7068"/>
          </a:solidFill>
          <a:ln w="12700">
            <a:solidFill>
              <a:srgbClr val="0F7068"/>
            </a:solidFill>
            <a:prstDash val="solid"/>
          </a:ln>
        </p:spPr>
      </p:sp>
      <p:sp>
        <p:nvSpPr>
          <p:cNvPr id="47" name="Shape 44"/>
          <p:cNvSpPr/>
          <p:nvPr/>
        </p:nvSpPr>
        <p:spPr>
          <a:xfrm>
            <a:off x="8229600" y="3401568"/>
            <a:ext cx="64008" cy="64008"/>
          </a:xfrm>
          <a:prstGeom prst="ellipse">
            <a:avLst/>
          </a:prstGeom>
          <a:solidFill>
            <a:srgbClr val="0F7068"/>
          </a:solidFill>
          <a:ln w="12700">
            <a:solidFill>
              <a:srgbClr val="0F7068"/>
            </a:solidFill>
            <a:prstDash val="solid"/>
          </a:ln>
        </p:spPr>
      </p:sp>
      <p:sp>
        <p:nvSpPr>
          <p:cNvPr id="48" name="Text 45"/>
          <p:cNvSpPr txBox="1"/>
          <p:nvPr/>
        </p:nvSpPr>
        <p:spPr>
          <a:xfrm>
            <a:off x="5760720" y="3584448"/>
            <a:ext cx="2560320" cy="182880"/>
          </a:xfrm>
          <a:prstGeom prst="rect">
            <a:avLst/>
          </a:prstGeom>
          <a:noFill/>
          <a:ln/>
        </p:spPr>
        <p:txBody>
          <a:bodyPr wrap="square" lIns="0" tIns="0" rIns="0" bIns="0" rtlCol="0" anchor="ctr"/>
          <a:lstStyle/>
          <a:p>
            <a:pPr indent="0" marL="0">
              <a:buNone/>
            </a:pPr>
            <a:r>
              <a:rPr lang="en-US" sz="900" dirty="0">
                <a:solidFill>
                  <a:srgbClr val="5B6B77"/>
                </a:solidFill>
              </a:rPr>
              <a:t>every day</a:t>
            </a:r>
            <a:endParaRPr lang="en-US" sz="900" dirty="0"/>
          </a:p>
        </p:txBody>
      </p:sp>
      <p:sp>
        <p:nvSpPr>
          <p:cNvPr id="49" name="Text 46"/>
          <p:cNvSpPr txBox="1"/>
          <p:nvPr/>
        </p:nvSpPr>
        <p:spPr>
          <a:xfrm>
            <a:off x="4983480" y="3913632"/>
            <a:ext cx="731520" cy="274320"/>
          </a:xfrm>
          <a:prstGeom prst="rect">
            <a:avLst/>
          </a:prstGeom>
          <a:noFill/>
          <a:ln/>
        </p:spPr>
        <p:txBody>
          <a:bodyPr wrap="square" lIns="0" tIns="0" rIns="0" bIns="0" rtlCol="0" anchor="ctr"/>
          <a:lstStyle/>
          <a:p>
            <a:pPr indent="0" marL="0">
              <a:buNone/>
            </a:pPr>
            <a:r>
              <a:rPr lang="en-US" sz="1100" b="1" dirty="0">
                <a:solidFill>
                  <a:srgbClr val="E8A03C"/>
                </a:solidFill>
              </a:rPr>
              <a:t>Organs</a:t>
            </a:r>
            <a:endParaRPr lang="en-US" sz="1100" dirty="0"/>
          </a:p>
        </p:txBody>
      </p:sp>
      <p:sp>
        <p:nvSpPr>
          <p:cNvPr id="50" name="Shape 47"/>
          <p:cNvSpPr/>
          <p:nvPr/>
        </p:nvSpPr>
        <p:spPr>
          <a:xfrm>
            <a:off x="5760720" y="4050792"/>
            <a:ext cx="2560320" cy="0"/>
          </a:xfrm>
          <a:prstGeom prst="line">
            <a:avLst/>
          </a:prstGeom>
          <a:noFill/>
          <a:ln w="19050">
            <a:solidFill>
              <a:srgbClr val="D5DEDC"/>
            </a:solidFill>
            <a:prstDash val="solid"/>
          </a:ln>
        </p:spPr>
      </p:sp>
      <p:sp>
        <p:nvSpPr>
          <p:cNvPr id="51" name="Shape 48"/>
          <p:cNvSpPr/>
          <p:nvPr/>
        </p:nvSpPr>
        <p:spPr>
          <a:xfrm>
            <a:off x="7818120" y="3959352"/>
            <a:ext cx="182880" cy="182880"/>
          </a:xfrm>
          <a:prstGeom prst="ellipse">
            <a:avLst/>
          </a:prstGeom>
          <a:solidFill>
            <a:srgbClr val="E8A03C"/>
          </a:solidFill>
          <a:ln w="12700">
            <a:solidFill>
              <a:srgbClr val="E8A03C"/>
            </a:solidFill>
            <a:prstDash val="solid"/>
          </a:ln>
        </p:spPr>
      </p:sp>
      <p:sp>
        <p:nvSpPr>
          <p:cNvPr id="52" name="Text 49"/>
          <p:cNvSpPr txBox="1"/>
          <p:nvPr/>
        </p:nvSpPr>
        <p:spPr>
          <a:xfrm>
            <a:off x="5760720" y="4169664"/>
            <a:ext cx="2560320" cy="182880"/>
          </a:xfrm>
          <a:prstGeom prst="rect">
            <a:avLst/>
          </a:prstGeom>
          <a:noFill/>
          <a:ln/>
        </p:spPr>
        <p:txBody>
          <a:bodyPr wrap="square" lIns="0" tIns="0" rIns="0" bIns="0" rtlCol="0" anchor="ctr"/>
          <a:lstStyle/>
          <a:p>
            <a:pPr indent="0" marL="0">
              <a:buNone/>
            </a:pPr>
            <a:r>
              <a:rPr lang="en-US" sz="900" dirty="0">
                <a:solidFill>
                  <a:srgbClr val="5B6B77"/>
                </a:solidFill>
              </a:rPr>
              <a:t>once a year, if at all</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THE PROBLEM  ·  INDIA</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India's diabetes burden is huge, and still growing</a:t>
            </a:r>
            <a:endParaRPr lang="en-US" sz="2500" dirty="0"/>
          </a:p>
        </p:txBody>
      </p:sp>
      <p:sp>
        <p:nvSpPr>
          <p:cNvPr id="4" name="Shape 2"/>
          <p:cNvSpPr/>
          <p:nvPr/>
        </p:nvSpPr>
        <p:spPr>
          <a:xfrm>
            <a:off x="548640" y="1508760"/>
            <a:ext cx="1965960" cy="1344168"/>
          </a:xfrm>
          <a:prstGeom prst="roundRect">
            <a:avLst>
              <a:gd name="adj" fmla="val 6803"/>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5" name="Text 3"/>
          <p:cNvSpPr txBox="1"/>
          <p:nvPr/>
        </p:nvSpPr>
        <p:spPr>
          <a:xfrm>
            <a:off x="685800" y="1600200"/>
            <a:ext cx="1737360" cy="548640"/>
          </a:xfrm>
          <a:prstGeom prst="rect">
            <a:avLst/>
          </a:prstGeom>
          <a:noFill/>
          <a:ln/>
        </p:spPr>
        <p:txBody>
          <a:bodyPr wrap="square" lIns="0" tIns="0" rIns="0" bIns="0" rtlCol="0" anchor="ctr"/>
          <a:lstStyle/>
          <a:p>
            <a:pPr indent="0" marL="0">
              <a:buNone/>
            </a:pPr>
            <a:r>
              <a:rPr lang="en-US" sz="3200" b="1" dirty="0">
                <a:solidFill>
                  <a:srgbClr val="0F7068"/>
                </a:solidFill>
              </a:rPr>
              <a:t>101 M</a:t>
            </a:r>
            <a:endParaRPr lang="en-US" sz="3200" dirty="0"/>
          </a:p>
        </p:txBody>
      </p:sp>
      <p:sp>
        <p:nvSpPr>
          <p:cNvPr id="6" name="Text 4"/>
          <p:cNvSpPr txBox="1"/>
          <p:nvPr/>
        </p:nvSpPr>
        <p:spPr>
          <a:xfrm>
            <a:off x="685800" y="2167128"/>
            <a:ext cx="1737360" cy="329184"/>
          </a:xfrm>
          <a:prstGeom prst="rect">
            <a:avLst/>
          </a:prstGeom>
          <a:noFill/>
          <a:ln/>
        </p:spPr>
        <p:txBody>
          <a:bodyPr wrap="square" lIns="0" tIns="0" rIns="0" bIns="0" rtlCol="0" anchor="t"/>
          <a:lstStyle/>
          <a:p>
            <a:pPr indent="0" marL="0">
              <a:buNone/>
            </a:pPr>
            <a:r>
              <a:rPr lang="en-US" sz="1200" b="1" dirty="0">
                <a:solidFill>
                  <a:srgbClr val="0F3B38"/>
                </a:solidFill>
              </a:rPr>
              <a:t>Indians live with diabetes</a:t>
            </a:r>
            <a:endParaRPr lang="en-US" sz="1200" dirty="0"/>
          </a:p>
        </p:txBody>
      </p:sp>
      <p:sp>
        <p:nvSpPr>
          <p:cNvPr id="7" name="Text 5"/>
          <p:cNvSpPr txBox="1"/>
          <p:nvPr/>
        </p:nvSpPr>
        <p:spPr>
          <a:xfrm>
            <a:off x="685800" y="2496312"/>
            <a:ext cx="1737360" cy="274320"/>
          </a:xfrm>
          <a:prstGeom prst="rect">
            <a:avLst/>
          </a:prstGeom>
          <a:noFill/>
          <a:ln/>
        </p:spPr>
        <p:txBody>
          <a:bodyPr wrap="square" lIns="0" tIns="0" rIns="0" bIns="0" rtlCol="0" anchor="t"/>
          <a:lstStyle/>
          <a:p>
            <a:pPr indent="0" marL="0">
              <a:buNone/>
            </a:pPr>
            <a:r>
              <a:rPr lang="en-US" sz="950" dirty="0">
                <a:solidFill>
                  <a:srgbClr val="5B6B77"/>
                </a:solidFill>
              </a:rPr>
              <a:t>11.4% of adults (ICMR-INDIAB)</a:t>
            </a:r>
            <a:endParaRPr lang="en-US" sz="950" dirty="0"/>
          </a:p>
        </p:txBody>
      </p:sp>
      <p:sp>
        <p:nvSpPr>
          <p:cNvPr id="8" name="Shape 6"/>
          <p:cNvSpPr/>
          <p:nvPr/>
        </p:nvSpPr>
        <p:spPr>
          <a:xfrm>
            <a:off x="2651760" y="1508760"/>
            <a:ext cx="1965960" cy="1344168"/>
          </a:xfrm>
          <a:prstGeom prst="roundRect">
            <a:avLst>
              <a:gd name="adj" fmla="val 6803"/>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9" name="Text 7"/>
          <p:cNvSpPr txBox="1"/>
          <p:nvPr/>
        </p:nvSpPr>
        <p:spPr>
          <a:xfrm>
            <a:off x="2788920" y="1600200"/>
            <a:ext cx="1737360" cy="548640"/>
          </a:xfrm>
          <a:prstGeom prst="rect">
            <a:avLst/>
          </a:prstGeom>
          <a:noFill/>
          <a:ln/>
        </p:spPr>
        <p:txBody>
          <a:bodyPr wrap="square" lIns="0" tIns="0" rIns="0" bIns="0" rtlCol="0" anchor="ctr"/>
          <a:lstStyle/>
          <a:p>
            <a:pPr indent="0" marL="0">
              <a:buNone/>
            </a:pPr>
            <a:r>
              <a:rPr lang="en-US" sz="3200" b="1" dirty="0">
                <a:solidFill>
                  <a:srgbClr val="E8A03C"/>
                </a:solidFill>
              </a:rPr>
              <a:t>136 M</a:t>
            </a:r>
            <a:endParaRPr lang="en-US" sz="3200" dirty="0"/>
          </a:p>
        </p:txBody>
      </p:sp>
      <p:sp>
        <p:nvSpPr>
          <p:cNvPr id="10" name="Text 8"/>
          <p:cNvSpPr txBox="1"/>
          <p:nvPr/>
        </p:nvSpPr>
        <p:spPr>
          <a:xfrm>
            <a:off x="2788920" y="2167128"/>
            <a:ext cx="1737360" cy="329184"/>
          </a:xfrm>
          <a:prstGeom prst="rect">
            <a:avLst/>
          </a:prstGeom>
          <a:noFill/>
          <a:ln/>
        </p:spPr>
        <p:txBody>
          <a:bodyPr wrap="square" lIns="0" tIns="0" rIns="0" bIns="0" rtlCol="0" anchor="t"/>
          <a:lstStyle/>
          <a:p>
            <a:pPr indent="0" marL="0">
              <a:buNone/>
            </a:pPr>
            <a:r>
              <a:rPr lang="en-US" sz="1200" b="1" dirty="0">
                <a:solidFill>
                  <a:srgbClr val="0F3B38"/>
                </a:solidFill>
              </a:rPr>
              <a:t>more are prediabetic</a:t>
            </a:r>
            <a:endParaRPr lang="en-US" sz="1200" dirty="0"/>
          </a:p>
        </p:txBody>
      </p:sp>
      <p:sp>
        <p:nvSpPr>
          <p:cNvPr id="11" name="Text 9"/>
          <p:cNvSpPr txBox="1"/>
          <p:nvPr/>
        </p:nvSpPr>
        <p:spPr>
          <a:xfrm>
            <a:off x="2788920" y="2496312"/>
            <a:ext cx="1737360" cy="274320"/>
          </a:xfrm>
          <a:prstGeom prst="rect">
            <a:avLst/>
          </a:prstGeom>
          <a:noFill/>
          <a:ln/>
        </p:spPr>
        <p:txBody>
          <a:bodyPr wrap="square" lIns="0" tIns="0" rIns="0" bIns="0" rtlCol="0" anchor="t"/>
          <a:lstStyle/>
          <a:p>
            <a:pPr indent="0" marL="0">
              <a:buNone/>
            </a:pPr>
            <a:r>
              <a:rPr lang="en-US" sz="950" dirty="0">
                <a:solidFill>
                  <a:srgbClr val="5B6B77"/>
                </a:solidFill>
              </a:rPr>
              <a:t>15.3% of adults, on the way in</a:t>
            </a:r>
            <a:endParaRPr lang="en-US" sz="950" dirty="0"/>
          </a:p>
        </p:txBody>
      </p:sp>
      <p:sp>
        <p:nvSpPr>
          <p:cNvPr id="12" name="Shape 10"/>
          <p:cNvSpPr/>
          <p:nvPr/>
        </p:nvSpPr>
        <p:spPr>
          <a:xfrm>
            <a:off x="548640" y="2990088"/>
            <a:ext cx="1965960" cy="1344168"/>
          </a:xfrm>
          <a:prstGeom prst="roundRect">
            <a:avLst>
              <a:gd name="adj" fmla="val 6803"/>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3" name="Text 11"/>
          <p:cNvSpPr txBox="1"/>
          <p:nvPr/>
        </p:nvSpPr>
        <p:spPr>
          <a:xfrm>
            <a:off x="685800" y="3081528"/>
            <a:ext cx="1737360" cy="548640"/>
          </a:xfrm>
          <a:prstGeom prst="rect">
            <a:avLst/>
          </a:prstGeom>
          <a:noFill/>
          <a:ln/>
        </p:spPr>
        <p:txBody>
          <a:bodyPr wrap="square" lIns="0" tIns="0" rIns="0" bIns="0" rtlCol="0" anchor="ctr"/>
          <a:lstStyle/>
          <a:p>
            <a:pPr indent="0" marL="0">
              <a:buNone/>
            </a:pPr>
            <a:r>
              <a:rPr lang="en-US" sz="3200" b="1" dirty="0">
                <a:solidFill>
                  <a:srgbClr val="B42318"/>
                </a:solidFill>
              </a:rPr>
              <a:t>43%</a:t>
            </a:r>
            <a:endParaRPr lang="en-US" sz="3200" dirty="0"/>
          </a:p>
        </p:txBody>
      </p:sp>
      <p:sp>
        <p:nvSpPr>
          <p:cNvPr id="14" name="Text 12"/>
          <p:cNvSpPr txBox="1"/>
          <p:nvPr/>
        </p:nvSpPr>
        <p:spPr>
          <a:xfrm>
            <a:off x="685800" y="3648456"/>
            <a:ext cx="1737360" cy="329184"/>
          </a:xfrm>
          <a:prstGeom prst="rect">
            <a:avLst/>
          </a:prstGeom>
          <a:noFill/>
          <a:ln/>
        </p:spPr>
        <p:txBody>
          <a:bodyPr wrap="square" lIns="0" tIns="0" rIns="0" bIns="0" rtlCol="0" anchor="t"/>
          <a:lstStyle/>
          <a:p>
            <a:pPr indent="0" marL="0">
              <a:buNone/>
            </a:pPr>
            <a:r>
              <a:rPr lang="en-US" sz="1200" b="1" dirty="0">
                <a:solidFill>
                  <a:srgbClr val="0F3B38"/>
                </a:solidFill>
              </a:rPr>
              <a:t>do not know they have it</a:t>
            </a:r>
            <a:endParaRPr lang="en-US" sz="1200" dirty="0"/>
          </a:p>
        </p:txBody>
      </p:sp>
      <p:sp>
        <p:nvSpPr>
          <p:cNvPr id="15" name="Text 13"/>
          <p:cNvSpPr txBox="1"/>
          <p:nvPr/>
        </p:nvSpPr>
        <p:spPr>
          <a:xfrm>
            <a:off x="685800" y="3977640"/>
            <a:ext cx="1737360" cy="274320"/>
          </a:xfrm>
          <a:prstGeom prst="rect">
            <a:avLst/>
          </a:prstGeom>
          <a:noFill/>
          <a:ln/>
        </p:spPr>
        <p:txBody>
          <a:bodyPr wrap="square" lIns="0" tIns="0" rIns="0" bIns="0" rtlCol="0" anchor="t"/>
          <a:lstStyle/>
          <a:p>
            <a:pPr indent="0" marL="0">
              <a:buNone/>
            </a:pPr>
            <a:r>
              <a:rPr lang="en-US" sz="950" dirty="0">
                <a:solidFill>
                  <a:srgbClr val="5B6B77"/>
                </a:solidFill>
              </a:rPr>
              <a:t>about 39 M adults (IDF 2025)</a:t>
            </a:r>
            <a:endParaRPr lang="en-US" sz="950" dirty="0"/>
          </a:p>
        </p:txBody>
      </p:sp>
      <p:sp>
        <p:nvSpPr>
          <p:cNvPr id="16" name="Shape 14"/>
          <p:cNvSpPr/>
          <p:nvPr/>
        </p:nvSpPr>
        <p:spPr>
          <a:xfrm>
            <a:off x="2651760" y="2990088"/>
            <a:ext cx="1965960" cy="1344168"/>
          </a:xfrm>
          <a:prstGeom prst="roundRect">
            <a:avLst>
              <a:gd name="adj" fmla="val 6803"/>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7" name="Text 15"/>
          <p:cNvSpPr txBox="1"/>
          <p:nvPr/>
        </p:nvSpPr>
        <p:spPr>
          <a:xfrm>
            <a:off x="2788920" y="3081528"/>
            <a:ext cx="1737360" cy="548640"/>
          </a:xfrm>
          <a:prstGeom prst="rect">
            <a:avLst/>
          </a:prstGeom>
          <a:noFill/>
          <a:ln/>
        </p:spPr>
        <p:txBody>
          <a:bodyPr wrap="square" lIns="0" tIns="0" rIns="0" bIns="0" rtlCol="0" anchor="ctr"/>
          <a:lstStyle/>
          <a:p>
            <a:pPr indent="0" marL="0">
              <a:buNone/>
            </a:pPr>
            <a:r>
              <a:rPr lang="en-US" sz="3200" b="1" dirty="0">
                <a:solidFill>
                  <a:srgbClr val="0F7068"/>
                </a:solidFill>
              </a:rPr>
              <a:t>157 M</a:t>
            </a:r>
            <a:endParaRPr lang="en-US" sz="3200" dirty="0"/>
          </a:p>
        </p:txBody>
      </p:sp>
      <p:sp>
        <p:nvSpPr>
          <p:cNvPr id="18" name="Text 16"/>
          <p:cNvSpPr txBox="1"/>
          <p:nvPr/>
        </p:nvSpPr>
        <p:spPr>
          <a:xfrm>
            <a:off x="2788920" y="3648456"/>
            <a:ext cx="1737360" cy="329184"/>
          </a:xfrm>
          <a:prstGeom prst="rect">
            <a:avLst/>
          </a:prstGeom>
          <a:noFill/>
          <a:ln/>
        </p:spPr>
        <p:txBody>
          <a:bodyPr wrap="square" lIns="0" tIns="0" rIns="0" bIns="0" rtlCol="0" anchor="t"/>
          <a:lstStyle/>
          <a:p>
            <a:pPr indent="0" marL="0">
              <a:buNone/>
            </a:pPr>
            <a:r>
              <a:rPr lang="en-US" sz="1200" b="1" dirty="0">
                <a:solidFill>
                  <a:srgbClr val="0F3B38"/>
                </a:solidFill>
              </a:rPr>
              <a:t>adults by 2050</a:t>
            </a:r>
            <a:endParaRPr lang="en-US" sz="1200" dirty="0"/>
          </a:p>
        </p:txBody>
      </p:sp>
      <p:sp>
        <p:nvSpPr>
          <p:cNvPr id="19" name="Text 17"/>
          <p:cNvSpPr txBox="1"/>
          <p:nvPr/>
        </p:nvSpPr>
        <p:spPr>
          <a:xfrm>
            <a:off x="2788920" y="3977640"/>
            <a:ext cx="1737360" cy="274320"/>
          </a:xfrm>
          <a:prstGeom prst="rect">
            <a:avLst/>
          </a:prstGeom>
          <a:noFill/>
          <a:ln/>
        </p:spPr>
        <p:txBody>
          <a:bodyPr wrap="square" lIns="0" tIns="0" rIns="0" bIns="0" rtlCol="0" anchor="t"/>
          <a:lstStyle/>
          <a:p>
            <a:pPr indent="0" marL="0">
              <a:buNone/>
            </a:pPr>
            <a:r>
              <a:rPr lang="en-US" sz="950" dirty="0">
                <a:solidFill>
                  <a:srgbClr val="5B6B77"/>
                </a:solidFill>
              </a:rPr>
              <a:t>from about 90 M today (IDF)</a:t>
            </a:r>
            <a:endParaRPr lang="en-US" sz="950" dirty="0"/>
          </a:p>
        </p:txBody>
      </p:sp>
      <p:sp>
        <p:nvSpPr>
          <p:cNvPr id="20" name="Shape 18"/>
          <p:cNvSpPr/>
          <p:nvPr/>
        </p:nvSpPr>
        <p:spPr>
          <a:xfrm>
            <a:off x="4937760" y="1508760"/>
            <a:ext cx="3657600" cy="2825496"/>
          </a:xfrm>
          <a:prstGeom prst="roundRect">
            <a:avLst>
              <a:gd name="adj" fmla="val 3236"/>
            </a:avLst>
          </a:prstGeom>
          <a:solidFill>
            <a:srgbClr val="FAF9F5"/>
          </a:solidFill>
          <a:ln w="9525">
            <a:solidFill>
              <a:srgbClr val="D5DEDC"/>
            </a:solidFill>
            <a:prstDash val="solid"/>
          </a:ln>
        </p:spPr>
      </p:sp>
      <p:sp>
        <p:nvSpPr>
          <p:cNvPr id="21" name="Text 19"/>
          <p:cNvSpPr txBox="1"/>
          <p:nvPr/>
        </p:nvSpPr>
        <p:spPr>
          <a:xfrm>
            <a:off x="5074920" y="1572768"/>
            <a:ext cx="3383280" cy="457200"/>
          </a:xfrm>
          <a:prstGeom prst="rect">
            <a:avLst/>
          </a:prstGeom>
          <a:noFill/>
          <a:ln/>
        </p:spPr>
        <p:txBody>
          <a:bodyPr wrap="square" lIns="0" tIns="0" rIns="0" bIns="0" rtlCol="0" anchor="t"/>
          <a:lstStyle/>
          <a:p>
            <a:pPr indent="0" marL="0">
              <a:buNone/>
            </a:pPr>
            <a:r>
              <a:rPr lang="en-US" sz="1200" b="1" dirty="0">
                <a:solidFill>
                  <a:srgbClr val="0F3B38"/>
                </a:solidFill>
              </a:rPr>
              <a:t>Of Indians who know they have diabetes, how many hit the target?</a:t>
            </a:r>
            <a:endParaRPr lang="en-US" sz="1200" dirty="0"/>
          </a:p>
        </p:txBody>
      </p:sp>
      <p:graphicFrame>
        <p:nvGraphicFramePr>
          <p:cNvPr id="22" name="Chart 0" descr=""/>
          <p:cNvGraphicFramePr/>
          <p:nvPr/>
        </p:nvGraphicFramePr>
        <p:xfrm>
          <a:off x="4937760" y="2011680"/>
          <a:ext cx="3657600" cy="2286000"/>
        </p:xfrm>
        <a:graphic xmlns:a="http://schemas.openxmlformats.org/drawingml/2006/main">
          <a:graphicData uri="http://schemas.openxmlformats.org/drawingml/2006/chart">
            <c:chart xmlns:c="http://schemas.openxmlformats.org/drawingml/2006/chart" r:id="rId1"/>
          </a:graphicData>
        </a:graphic>
      </p:graphicFrame>
      <p:sp>
        <p:nvSpPr>
          <p:cNvPr id="23" name="Source"/>
          <p:cNvSpPr txBox="1"/>
          <p:nvPr/>
        </p:nvSpPr>
        <p:spPr>
          <a:xfrm>
            <a:off x="548640" y="4572000"/>
            <a:ext cx="8046720" cy="228600"/>
          </a:xfrm>
          <a:prstGeom prst="rect">
            <a:avLst/>
          </a:prstGeom>
          <a:noFill/>
          <a:ln/>
        </p:spPr>
        <p:txBody>
          <a:bodyPr wrap="square" lIns="0" tIns="0" rIns="0" bIns="0" rtlCol="0" anchor="ctr"/>
          <a:lstStyle/>
          <a:p>
            <a:pPr indent="0" marL="0">
              <a:buNone/>
            </a:pPr>
            <a:r>
              <a:rPr lang="en-US" sz="900" i="1" dirty="0">
                <a:solidFill>
                  <a:srgbClr val="5B6B77"/>
                </a:solidFill>
              </a:rPr>
              <a:t>Sources: ICMR-INDIAB, Lancet Diabetes &amp; Endocrinology 2022 and 2023; IDF Diabetes Atlas, 11th ed. (2025). Survey estimates; methods differ between sources.</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THE PROBLEM  ·  WHAT GOES WRONG</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Years of high sugar damage the eyes, kidneys and liver</a:t>
            </a:r>
            <a:endParaRPr lang="en-US" sz="2500" dirty="0"/>
          </a:p>
        </p:txBody>
      </p:sp>
      <p:sp>
        <p:nvSpPr>
          <p:cNvPr id="4" name="Shape 2"/>
          <p:cNvSpPr/>
          <p:nvPr/>
        </p:nvSpPr>
        <p:spPr>
          <a:xfrm>
            <a:off x="548640" y="1508760"/>
            <a:ext cx="2011680" cy="2880360"/>
          </a:xfrm>
          <a:prstGeom prst="roundRect">
            <a:avLst>
              <a:gd name="adj" fmla="val 5455"/>
            </a:avLst>
          </a:prstGeom>
          <a:solidFill>
            <a:srgbClr val="0F7068"/>
          </a:solidFill>
          <a:ln w="12700">
            <a:solidFill>
              <a:srgbClr val="0F7068"/>
            </a:solidFill>
            <a:prstDash val="solid"/>
          </a:ln>
          <a:effectLst>
            <a:outerShdw sx="100000" sy="100000" kx="0" ky="0" algn="bl" rotWithShape="0" blurRad="101600" dist="25400" dir="5400000">
              <a:srgbClr val="0F3B38">
                <a:alpha val="12000"/>
              </a:srgbClr>
            </a:outerShdw>
          </a:effectLst>
        </p:spPr>
      </p:sp>
      <p:pic>
        <p:nvPicPr>
          <p:cNvPr id="5" name="Image 0" descr="Glucose meter and blood drop">    </p:cNvPr>
          <p:cNvPicPr>
            <a:picLocks noChangeAspect="1"/>
          </p:cNvPicPr>
          <p:nvPr/>
        </p:nvPicPr>
        <p:blipFill>
          <a:blip r:embed="rId1"/>
          <a:stretch>
            <a:fillRect/>
          </a:stretch>
        </p:blipFill>
        <p:spPr>
          <a:xfrm>
            <a:off x="914400" y="1627632"/>
            <a:ext cx="1280160" cy="1216152"/>
          </a:xfrm>
          <a:prstGeom prst="rect">
            <a:avLst/>
          </a:prstGeom>
        </p:spPr>
      </p:pic>
      <p:sp>
        <p:nvSpPr>
          <p:cNvPr id="6" name="Text 3"/>
          <p:cNvSpPr txBox="1"/>
          <p:nvPr/>
        </p:nvSpPr>
        <p:spPr>
          <a:xfrm>
            <a:off x="640080" y="2926080"/>
            <a:ext cx="1828800" cy="320040"/>
          </a:xfrm>
          <a:prstGeom prst="rect">
            <a:avLst/>
          </a:prstGeom>
          <a:noFill/>
          <a:ln/>
        </p:spPr>
        <p:txBody>
          <a:bodyPr wrap="square" lIns="0" tIns="0" rIns="0" bIns="0" rtlCol="0" anchor="ctr"/>
          <a:lstStyle/>
          <a:p>
            <a:pPr algn="ctr" indent="0" marL="0">
              <a:buNone/>
            </a:pPr>
            <a:r>
              <a:rPr lang="en-US" sz="1800" b="1" dirty="0">
                <a:solidFill>
                  <a:srgbClr val="FFFFFF"/>
                </a:solidFill>
              </a:rPr>
              <a:t>High glucose</a:t>
            </a:r>
            <a:endParaRPr lang="en-US" sz="1800" dirty="0"/>
          </a:p>
        </p:txBody>
      </p:sp>
      <p:sp>
        <p:nvSpPr>
          <p:cNvPr id="7" name="Text 4"/>
          <p:cNvSpPr txBox="1"/>
          <p:nvPr/>
        </p:nvSpPr>
        <p:spPr>
          <a:xfrm>
            <a:off x="685800" y="3264408"/>
            <a:ext cx="1737360" cy="457200"/>
          </a:xfrm>
          <a:prstGeom prst="rect">
            <a:avLst/>
          </a:prstGeom>
          <a:noFill/>
          <a:ln/>
        </p:spPr>
        <p:txBody>
          <a:bodyPr wrap="square" lIns="0" tIns="0" rIns="0" bIns="0" rtlCol="0" anchor="t"/>
          <a:lstStyle/>
          <a:p>
            <a:pPr algn="ctr" indent="0" marL="0">
              <a:buNone/>
            </a:pPr>
            <a:r>
              <a:rPr lang="en-US" sz="1100" dirty="0">
                <a:solidFill>
                  <a:srgbClr val="D7ECE9"/>
                </a:solidFill>
              </a:rPr>
              <a:t>sustained for years, with no symptoms</a:t>
            </a:r>
            <a:endParaRPr lang="en-US" sz="1100" dirty="0"/>
          </a:p>
        </p:txBody>
      </p:sp>
      <p:sp>
        <p:nvSpPr>
          <p:cNvPr id="8" name="Text 5"/>
          <p:cNvSpPr txBox="1"/>
          <p:nvPr/>
        </p:nvSpPr>
        <p:spPr>
          <a:xfrm>
            <a:off x="685800" y="3840480"/>
            <a:ext cx="1737360" cy="457200"/>
          </a:xfrm>
          <a:prstGeom prst="rect">
            <a:avLst/>
          </a:prstGeom>
          <a:noFill/>
          <a:ln/>
        </p:spPr>
        <p:txBody>
          <a:bodyPr wrap="square" lIns="0" tIns="0" rIns="0" bIns="0" rtlCol="0" anchor="t"/>
          <a:lstStyle/>
          <a:p>
            <a:pPr algn="ctr" indent="0" marL="0">
              <a:buNone/>
            </a:pPr>
            <a:r>
              <a:rPr lang="en-US" sz="1000" i="1" dirty="0">
                <a:solidFill>
                  <a:srgbClr val="D7ECE9"/>
                </a:solidFill>
              </a:rPr>
              <a:t>Also harms the heart, nerves and feet</a:t>
            </a:r>
            <a:endParaRPr lang="en-US" sz="1000" dirty="0"/>
          </a:p>
        </p:txBody>
      </p:sp>
      <p:sp>
        <p:nvSpPr>
          <p:cNvPr id="9" name="Shape 6"/>
          <p:cNvSpPr/>
          <p:nvPr/>
        </p:nvSpPr>
        <p:spPr>
          <a:xfrm>
            <a:off x="2560320" y="1929384"/>
            <a:ext cx="411480" cy="0"/>
          </a:xfrm>
          <a:prstGeom prst="line">
            <a:avLst/>
          </a:prstGeom>
          <a:noFill/>
          <a:ln w="22225">
            <a:solidFill>
              <a:srgbClr val="0F7068"/>
            </a:solidFill>
            <a:prstDash val="solid"/>
            <a:tailEnd type="triangle"/>
          </a:ln>
        </p:spPr>
      </p:sp>
      <p:sp>
        <p:nvSpPr>
          <p:cNvPr id="10" name="Shape 7"/>
          <p:cNvSpPr/>
          <p:nvPr/>
        </p:nvSpPr>
        <p:spPr>
          <a:xfrm>
            <a:off x="3017520" y="1508760"/>
            <a:ext cx="5577840" cy="868680"/>
          </a:xfrm>
          <a:prstGeom prst="roundRect">
            <a:avLst>
              <a:gd name="adj" fmla="val 10526"/>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1" name="Shape 8"/>
          <p:cNvSpPr/>
          <p:nvPr/>
        </p:nvSpPr>
        <p:spPr>
          <a:xfrm>
            <a:off x="3108960" y="1618488"/>
            <a:ext cx="658368" cy="658368"/>
          </a:xfrm>
          <a:prstGeom prst="ellipse">
            <a:avLst/>
          </a:prstGeom>
          <a:solidFill>
            <a:srgbClr val="FCF1DE"/>
          </a:solidFill>
          <a:ln w="12700">
            <a:solidFill>
              <a:srgbClr val="FCF1DE"/>
            </a:solidFill>
            <a:prstDash val="solid"/>
          </a:ln>
        </p:spPr>
      </p:sp>
      <p:pic>
        <p:nvPicPr>
          <p:cNvPr id="12" name="Image 1" descr="Eyes illustration">    </p:cNvPr>
          <p:cNvPicPr>
            <a:picLocks noChangeAspect="1"/>
          </p:cNvPicPr>
          <p:nvPr/>
        </p:nvPicPr>
        <p:blipFill>
          <a:blip r:embed="rId2"/>
          <a:srcRect l="0" r="0" t="0" b="0"/>
          <a:stretch/>
        </p:blipFill>
        <p:spPr>
          <a:xfrm>
            <a:off x="3163824" y="1691640"/>
            <a:ext cx="548640" cy="512064"/>
          </a:xfrm>
          <a:prstGeom prst="rect">
            <a:avLst/>
          </a:prstGeom>
        </p:spPr>
      </p:pic>
      <p:sp>
        <p:nvSpPr>
          <p:cNvPr id="13" name="Text 9"/>
          <p:cNvSpPr txBox="1"/>
          <p:nvPr/>
        </p:nvSpPr>
        <p:spPr>
          <a:xfrm>
            <a:off x="3931920" y="1572768"/>
            <a:ext cx="914400" cy="274320"/>
          </a:xfrm>
          <a:prstGeom prst="rect">
            <a:avLst/>
          </a:prstGeom>
          <a:noFill/>
          <a:ln/>
        </p:spPr>
        <p:txBody>
          <a:bodyPr wrap="square" lIns="0" tIns="0" rIns="0" bIns="0" rtlCol="0" anchor="ctr"/>
          <a:lstStyle/>
          <a:p>
            <a:pPr indent="0" marL="0">
              <a:buNone/>
            </a:pPr>
            <a:r>
              <a:rPr lang="en-US" sz="1400" b="1" dirty="0">
                <a:solidFill>
                  <a:srgbClr val="0F3B38"/>
                </a:solidFill>
              </a:rPr>
              <a:t>Eyes</a:t>
            </a:r>
            <a:endParaRPr lang="en-US" sz="1400" dirty="0"/>
          </a:p>
        </p:txBody>
      </p:sp>
      <p:sp>
        <p:nvSpPr>
          <p:cNvPr id="14" name="Text 10"/>
          <p:cNvSpPr txBox="1"/>
          <p:nvPr/>
        </p:nvSpPr>
        <p:spPr>
          <a:xfrm>
            <a:off x="3931920" y="1837944"/>
            <a:ext cx="1097280" cy="457200"/>
          </a:xfrm>
          <a:prstGeom prst="rect">
            <a:avLst/>
          </a:prstGeom>
          <a:noFill/>
          <a:ln/>
        </p:spPr>
        <p:txBody>
          <a:bodyPr wrap="square" lIns="0" tIns="0" rIns="0" bIns="0" rtlCol="0" anchor="ctr"/>
          <a:lstStyle/>
          <a:p>
            <a:pPr indent="0" marL="0">
              <a:buNone/>
            </a:pPr>
            <a:r>
              <a:rPr lang="en-US" sz="2200" b="1" dirty="0">
                <a:solidFill>
                  <a:srgbClr val="B42318"/>
                </a:solidFill>
              </a:rPr>
              <a:t>17%</a:t>
            </a:r>
            <a:endParaRPr lang="en-US" sz="2200" dirty="0"/>
          </a:p>
        </p:txBody>
      </p:sp>
      <p:sp>
        <p:nvSpPr>
          <p:cNvPr id="15" name="Text 11"/>
          <p:cNvSpPr txBox="1"/>
          <p:nvPr/>
        </p:nvSpPr>
        <p:spPr>
          <a:xfrm>
            <a:off x="5120640" y="1581912"/>
            <a:ext cx="3383280" cy="457200"/>
          </a:xfrm>
          <a:prstGeom prst="rect">
            <a:avLst/>
          </a:prstGeom>
          <a:noFill/>
          <a:ln/>
        </p:spPr>
        <p:txBody>
          <a:bodyPr wrap="square" lIns="0" tIns="0" rIns="0" bIns="0" rtlCol="0" anchor="t"/>
          <a:lstStyle/>
          <a:p>
            <a:pPr indent="0" marL="0">
              <a:buNone/>
            </a:pPr>
            <a:r>
              <a:rPr lang="en-US" sz="1100" dirty="0">
                <a:solidFill>
                  <a:srgbClr val="0F3B38"/>
                </a:solidFill>
              </a:rPr>
              <a:t>of people with diabetes aged 50+ have retinopathy; 3.6% already sight-threatening</a:t>
            </a:r>
            <a:endParaRPr lang="en-US" sz="1100" dirty="0"/>
          </a:p>
        </p:txBody>
      </p:sp>
      <p:sp>
        <p:nvSpPr>
          <p:cNvPr id="16" name="Text 12"/>
          <p:cNvSpPr txBox="1"/>
          <p:nvPr/>
        </p:nvSpPr>
        <p:spPr>
          <a:xfrm>
            <a:off x="5120640" y="2039112"/>
            <a:ext cx="3383280" cy="274320"/>
          </a:xfrm>
          <a:prstGeom prst="rect">
            <a:avLst/>
          </a:prstGeom>
          <a:noFill/>
          <a:ln/>
        </p:spPr>
        <p:txBody>
          <a:bodyPr wrap="square" lIns="0" tIns="0" rIns="0" bIns="0" rtlCol="0" anchor="t"/>
          <a:lstStyle/>
          <a:p>
            <a:pPr indent="0" marL="0">
              <a:buNone/>
            </a:pPr>
            <a:r>
              <a:rPr lang="en-US" sz="1050" i="1" dirty="0">
                <a:solidFill>
                  <a:srgbClr val="5B6B77"/>
                </a:solidFill>
              </a:rPr>
              <a:t>Retinopathy is found only after vision is lost</a:t>
            </a:r>
            <a:endParaRPr lang="en-US" sz="1050" dirty="0"/>
          </a:p>
        </p:txBody>
      </p:sp>
      <p:sp>
        <p:nvSpPr>
          <p:cNvPr id="17" name="Shape 13"/>
          <p:cNvSpPr/>
          <p:nvPr/>
        </p:nvSpPr>
        <p:spPr>
          <a:xfrm>
            <a:off x="2560320" y="2907792"/>
            <a:ext cx="411480" cy="0"/>
          </a:xfrm>
          <a:prstGeom prst="line">
            <a:avLst/>
          </a:prstGeom>
          <a:noFill/>
          <a:ln w="22225">
            <a:solidFill>
              <a:srgbClr val="0F7068"/>
            </a:solidFill>
            <a:prstDash val="solid"/>
            <a:tailEnd type="triangle"/>
          </a:ln>
        </p:spPr>
      </p:sp>
      <p:sp>
        <p:nvSpPr>
          <p:cNvPr id="18" name="Shape 14"/>
          <p:cNvSpPr/>
          <p:nvPr/>
        </p:nvSpPr>
        <p:spPr>
          <a:xfrm>
            <a:off x="3017520" y="2487168"/>
            <a:ext cx="5577840" cy="868680"/>
          </a:xfrm>
          <a:prstGeom prst="roundRect">
            <a:avLst>
              <a:gd name="adj" fmla="val 10526"/>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9" name="Shape 15"/>
          <p:cNvSpPr/>
          <p:nvPr/>
        </p:nvSpPr>
        <p:spPr>
          <a:xfrm>
            <a:off x="3108960" y="2596896"/>
            <a:ext cx="658368" cy="658368"/>
          </a:xfrm>
          <a:prstGeom prst="ellipse">
            <a:avLst/>
          </a:prstGeom>
          <a:solidFill>
            <a:srgbClr val="FCF1DE"/>
          </a:solidFill>
          <a:ln w="12700">
            <a:solidFill>
              <a:srgbClr val="FCF1DE"/>
            </a:solidFill>
            <a:prstDash val="solid"/>
          </a:ln>
        </p:spPr>
      </p:sp>
      <p:pic>
        <p:nvPicPr>
          <p:cNvPr id="20" name="Image 2" descr="Kidneys illustration">    </p:cNvPr>
          <p:cNvPicPr>
            <a:picLocks noChangeAspect="1"/>
          </p:cNvPicPr>
          <p:nvPr/>
        </p:nvPicPr>
        <p:blipFill>
          <a:blip r:embed="rId3"/>
          <a:srcRect l="0" r="0" t="0" b="0"/>
          <a:stretch/>
        </p:blipFill>
        <p:spPr>
          <a:xfrm>
            <a:off x="3163824" y="2670048"/>
            <a:ext cx="548640" cy="512064"/>
          </a:xfrm>
          <a:prstGeom prst="rect">
            <a:avLst/>
          </a:prstGeom>
        </p:spPr>
      </p:pic>
      <p:sp>
        <p:nvSpPr>
          <p:cNvPr id="21" name="Text 16"/>
          <p:cNvSpPr txBox="1"/>
          <p:nvPr/>
        </p:nvSpPr>
        <p:spPr>
          <a:xfrm>
            <a:off x="3931920" y="2551176"/>
            <a:ext cx="914400" cy="274320"/>
          </a:xfrm>
          <a:prstGeom prst="rect">
            <a:avLst/>
          </a:prstGeom>
          <a:noFill/>
          <a:ln/>
        </p:spPr>
        <p:txBody>
          <a:bodyPr wrap="square" lIns="0" tIns="0" rIns="0" bIns="0" rtlCol="0" anchor="ctr"/>
          <a:lstStyle/>
          <a:p>
            <a:pPr indent="0" marL="0">
              <a:buNone/>
            </a:pPr>
            <a:r>
              <a:rPr lang="en-US" sz="1400" b="1" dirty="0">
                <a:solidFill>
                  <a:srgbClr val="0F3B38"/>
                </a:solidFill>
              </a:rPr>
              <a:t>Kidneys</a:t>
            </a:r>
            <a:endParaRPr lang="en-US" sz="1400" dirty="0"/>
          </a:p>
        </p:txBody>
      </p:sp>
      <p:sp>
        <p:nvSpPr>
          <p:cNvPr id="22" name="Text 17"/>
          <p:cNvSpPr txBox="1"/>
          <p:nvPr/>
        </p:nvSpPr>
        <p:spPr>
          <a:xfrm>
            <a:off x="3931920" y="2816352"/>
            <a:ext cx="1097280" cy="457200"/>
          </a:xfrm>
          <a:prstGeom prst="rect">
            <a:avLst/>
          </a:prstGeom>
          <a:noFill/>
          <a:ln/>
        </p:spPr>
        <p:txBody>
          <a:bodyPr wrap="square" lIns="0" tIns="0" rIns="0" bIns="0" rtlCol="0" anchor="ctr"/>
          <a:lstStyle/>
          <a:p>
            <a:pPr indent="0" marL="0">
              <a:buNone/>
            </a:pPr>
            <a:r>
              <a:rPr lang="en-US" sz="2200" b="1" dirty="0">
                <a:solidFill>
                  <a:srgbClr val="B42318"/>
                </a:solidFill>
              </a:rPr>
              <a:t>34–44%</a:t>
            </a:r>
            <a:endParaRPr lang="en-US" sz="2200" dirty="0"/>
          </a:p>
        </p:txBody>
      </p:sp>
      <p:sp>
        <p:nvSpPr>
          <p:cNvPr id="23" name="Text 18"/>
          <p:cNvSpPr txBox="1"/>
          <p:nvPr/>
        </p:nvSpPr>
        <p:spPr>
          <a:xfrm>
            <a:off x="5120640" y="2560320"/>
            <a:ext cx="3383280" cy="457200"/>
          </a:xfrm>
          <a:prstGeom prst="rect">
            <a:avLst/>
          </a:prstGeom>
          <a:noFill/>
          <a:ln/>
        </p:spPr>
        <p:txBody>
          <a:bodyPr wrap="square" lIns="0" tIns="0" rIns="0" bIns="0" rtlCol="0" anchor="t"/>
          <a:lstStyle/>
          <a:p>
            <a:pPr indent="0" marL="0">
              <a:buNone/>
            </a:pPr>
            <a:r>
              <a:rPr lang="en-US" sz="1100" dirty="0">
                <a:solidFill>
                  <a:srgbClr val="0F3B38"/>
                </a:solidFill>
              </a:rPr>
              <a:t>show kidney damage (albuminuria or CKD) in Indian clinic studies</a:t>
            </a:r>
            <a:endParaRPr lang="en-US" sz="1100" dirty="0"/>
          </a:p>
        </p:txBody>
      </p:sp>
      <p:sp>
        <p:nvSpPr>
          <p:cNvPr id="24" name="Text 19"/>
          <p:cNvSpPr txBox="1"/>
          <p:nvPr/>
        </p:nvSpPr>
        <p:spPr>
          <a:xfrm>
            <a:off x="5120640" y="3017520"/>
            <a:ext cx="3383280" cy="274320"/>
          </a:xfrm>
          <a:prstGeom prst="rect">
            <a:avLst/>
          </a:prstGeom>
          <a:noFill/>
          <a:ln/>
        </p:spPr>
        <p:txBody>
          <a:bodyPr wrap="square" lIns="0" tIns="0" rIns="0" bIns="0" rtlCol="0" anchor="t"/>
          <a:lstStyle/>
          <a:p>
            <a:pPr indent="0" marL="0">
              <a:buNone/>
            </a:pPr>
            <a:r>
              <a:rPr lang="en-US" sz="1050" i="1" dirty="0">
                <a:solidFill>
                  <a:srgbClr val="5B6B77"/>
                </a:solidFill>
              </a:rPr>
              <a:t>Silent until failure and dialysis</a:t>
            </a:r>
            <a:endParaRPr lang="en-US" sz="1050" dirty="0"/>
          </a:p>
        </p:txBody>
      </p:sp>
      <p:sp>
        <p:nvSpPr>
          <p:cNvPr id="25" name="Shape 20"/>
          <p:cNvSpPr/>
          <p:nvPr/>
        </p:nvSpPr>
        <p:spPr>
          <a:xfrm>
            <a:off x="2560320" y="3886200"/>
            <a:ext cx="411480" cy="0"/>
          </a:xfrm>
          <a:prstGeom prst="line">
            <a:avLst/>
          </a:prstGeom>
          <a:noFill/>
          <a:ln w="22225">
            <a:solidFill>
              <a:srgbClr val="0F7068"/>
            </a:solidFill>
            <a:prstDash val="solid"/>
            <a:tailEnd type="triangle"/>
          </a:ln>
        </p:spPr>
      </p:sp>
      <p:sp>
        <p:nvSpPr>
          <p:cNvPr id="26" name="Shape 21"/>
          <p:cNvSpPr/>
          <p:nvPr/>
        </p:nvSpPr>
        <p:spPr>
          <a:xfrm>
            <a:off x="3017520" y="3465576"/>
            <a:ext cx="5577840" cy="868680"/>
          </a:xfrm>
          <a:prstGeom prst="roundRect">
            <a:avLst>
              <a:gd name="adj" fmla="val 10526"/>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27" name="Shape 22"/>
          <p:cNvSpPr/>
          <p:nvPr/>
        </p:nvSpPr>
        <p:spPr>
          <a:xfrm>
            <a:off x="3108960" y="3575304"/>
            <a:ext cx="658368" cy="658368"/>
          </a:xfrm>
          <a:prstGeom prst="ellipse">
            <a:avLst/>
          </a:prstGeom>
          <a:solidFill>
            <a:srgbClr val="FCF1DE"/>
          </a:solidFill>
          <a:ln w="12700">
            <a:solidFill>
              <a:srgbClr val="FCF1DE"/>
            </a:solidFill>
            <a:prstDash val="solid"/>
          </a:ln>
        </p:spPr>
      </p:sp>
      <p:pic>
        <p:nvPicPr>
          <p:cNvPr id="28" name="Image 3" descr="Liver illustration">    </p:cNvPr>
          <p:cNvPicPr>
            <a:picLocks noChangeAspect="1"/>
          </p:cNvPicPr>
          <p:nvPr/>
        </p:nvPicPr>
        <p:blipFill>
          <a:blip r:embed="rId4"/>
          <a:srcRect l="0" r="0" t="0" b="0"/>
          <a:stretch/>
        </p:blipFill>
        <p:spPr>
          <a:xfrm>
            <a:off x="3163824" y="3648456"/>
            <a:ext cx="548640" cy="512064"/>
          </a:xfrm>
          <a:prstGeom prst="rect">
            <a:avLst/>
          </a:prstGeom>
        </p:spPr>
      </p:pic>
      <p:sp>
        <p:nvSpPr>
          <p:cNvPr id="29" name="Text 23"/>
          <p:cNvSpPr txBox="1"/>
          <p:nvPr/>
        </p:nvSpPr>
        <p:spPr>
          <a:xfrm>
            <a:off x="3931920" y="3529584"/>
            <a:ext cx="914400" cy="274320"/>
          </a:xfrm>
          <a:prstGeom prst="rect">
            <a:avLst/>
          </a:prstGeom>
          <a:noFill/>
          <a:ln/>
        </p:spPr>
        <p:txBody>
          <a:bodyPr wrap="square" lIns="0" tIns="0" rIns="0" bIns="0" rtlCol="0" anchor="ctr"/>
          <a:lstStyle/>
          <a:p>
            <a:pPr indent="0" marL="0">
              <a:buNone/>
            </a:pPr>
            <a:r>
              <a:rPr lang="en-US" sz="1400" b="1" dirty="0">
                <a:solidFill>
                  <a:srgbClr val="0F3B38"/>
                </a:solidFill>
              </a:rPr>
              <a:t>Liver</a:t>
            </a:r>
            <a:endParaRPr lang="en-US" sz="1400" dirty="0"/>
          </a:p>
        </p:txBody>
      </p:sp>
      <p:sp>
        <p:nvSpPr>
          <p:cNvPr id="30" name="Text 24"/>
          <p:cNvSpPr txBox="1"/>
          <p:nvPr/>
        </p:nvSpPr>
        <p:spPr>
          <a:xfrm>
            <a:off x="3931920" y="3794760"/>
            <a:ext cx="1097280" cy="457200"/>
          </a:xfrm>
          <a:prstGeom prst="rect">
            <a:avLst/>
          </a:prstGeom>
          <a:noFill/>
          <a:ln/>
        </p:spPr>
        <p:txBody>
          <a:bodyPr wrap="square" lIns="0" tIns="0" rIns="0" bIns="0" rtlCol="0" anchor="ctr"/>
          <a:lstStyle/>
          <a:p>
            <a:pPr indent="0" marL="0">
              <a:buNone/>
            </a:pPr>
            <a:r>
              <a:rPr lang="en-US" sz="2200" b="1" dirty="0">
                <a:solidFill>
                  <a:srgbClr val="B42318"/>
                </a:solidFill>
              </a:rPr>
              <a:t>56%</a:t>
            </a:r>
            <a:endParaRPr lang="en-US" sz="2200" dirty="0"/>
          </a:p>
        </p:txBody>
      </p:sp>
      <p:sp>
        <p:nvSpPr>
          <p:cNvPr id="31" name="Text 25"/>
          <p:cNvSpPr txBox="1"/>
          <p:nvPr/>
        </p:nvSpPr>
        <p:spPr>
          <a:xfrm>
            <a:off x="5120640" y="3538728"/>
            <a:ext cx="3383280" cy="457200"/>
          </a:xfrm>
          <a:prstGeom prst="rect">
            <a:avLst/>
          </a:prstGeom>
          <a:noFill/>
          <a:ln/>
        </p:spPr>
        <p:txBody>
          <a:bodyPr wrap="square" lIns="0" tIns="0" rIns="0" bIns="0" rtlCol="0" anchor="t"/>
          <a:lstStyle/>
          <a:p>
            <a:pPr indent="0" marL="0">
              <a:buNone/>
            </a:pPr>
            <a:r>
              <a:rPr lang="en-US" sz="1100" dirty="0">
                <a:solidFill>
                  <a:srgbClr val="0F3B38"/>
                </a:solidFill>
              </a:rPr>
              <a:t>of Indians with type 2 diabetes have fatty liver; 26% have significant fibrosis</a:t>
            </a:r>
            <a:endParaRPr lang="en-US" sz="1100" dirty="0"/>
          </a:p>
        </p:txBody>
      </p:sp>
      <p:sp>
        <p:nvSpPr>
          <p:cNvPr id="32" name="Text 26"/>
          <p:cNvSpPr txBox="1"/>
          <p:nvPr/>
        </p:nvSpPr>
        <p:spPr>
          <a:xfrm>
            <a:off x="5120640" y="3995928"/>
            <a:ext cx="3383280" cy="274320"/>
          </a:xfrm>
          <a:prstGeom prst="rect">
            <a:avLst/>
          </a:prstGeom>
          <a:noFill/>
          <a:ln/>
        </p:spPr>
        <p:txBody>
          <a:bodyPr wrap="square" lIns="0" tIns="0" rIns="0" bIns="0" rtlCol="0" anchor="t"/>
          <a:lstStyle/>
          <a:p>
            <a:pPr indent="0" marL="0">
              <a:buNone/>
            </a:pPr>
            <a:r>
              <a:rPr lang="en-US" sz="1050" i="1" dirty="0">
                <a:solidFill>
                  <a:srgbClr val="5B6B77"/>
                </a:solidFill>
              </a:rPr>
              <a:t>Fatty liver progresses to fibrosis and cirrhosis</a:t>
            </a:r>
            <a:endParaRPr lang="en-US" sz="1050" dirty="0"/>
          </a:p>
        </p:txBody>
      </p:sp>
      <p:sp>
        <p:nvSpPr>
          <p:cNvPr id="33" name="Source"/>
          <p:cNvSpPr txBox="1"/>
          <p:nvPr/>
        </p:nvSpPr>
        <p:spPr>
          <a:xfrm>
            <a:off x="548640" y="4572000"/>
            <a:ext cx="8046720" cy="228600"/>
          </a:xfrm>
          <a:prstGeom prst="rect">
            <a:avLst/>
          </a:prstGeom>
          <a:noFill/>
          <a:ln/>
        </p:spPr>
        <p:txBody>
          <a:bodyPr wrap="square" lIns="0" tIns="0" rIns="0" bIns="0" rtlCol="0" anchor="ctr"/>
          <a:lstStyle/>
          <a:p>
            <a:pPr indent="0" marL="0">
              <a:buNone/>
            </a:pPr>
            <a:r>
              <a:rPr lang="en-US" sz="900" i="1" dirty="0">
                <a:solidFill>
                  <a:srgbClr val="5B6B77"/>
                </a:solidFill>
              </a:rPr>
              <a:t>Sources: National DR Survey 2015-19 (age 50+); Indian clinic studies (Delhi 34%, Kolkata 44%); SPRINT and DiaFib-Liver studies. Studies differ in method and population.</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THE PROBLEM  ·  WHY IT IS MISSED</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The damage builds silently and is found late</a:t>
            </a:r>
            <a:endParaRPr lang="en-US" sz="2500" dirty="0"/>
          </a:p>
        </p:txBody>
      </p:sp>
      <p:sp>
        <p:nvSpPr>
          <p:cNvPr id="4" name="Text 2"/>
          <p:cNvSpPr txBox="1"/>
          <p:nvPr/>
        </p:nvSpPr>
        <p:spPr>
          <a:xfrm>
            <a:off x="548640" y="1243584"/>
            <a:ext cx="5486400" cy="228600"/>
          </a:xfrm>
          <a:prstGeom prst="rect">
            <a:avLst/>
          </a:prstGeom>
          <a:noFill/>
          <a:ln/>
        </p:spPr>
        <p:txBody>
          <a:bodyPr wrap="square" lIns="0" tIns="0" rIns="0" bIns="0" rtlCol="0" anchor="ctr"/>
          <a:lstStyle/>
          <a:p>
            <a:pPr indent="0" marL="0">
              <a:buNone/>
            </a:pPr>
            <a:r>
              <a:rPr lang="en-US" sz="1000" b="1" dirty="0">
                <a:solidFill>
                  <a:srgbClr val="5B6B77"/>
                </a:solidFill>
              </a:rPr>
              <a:t>Illustrative course of a diabetic complication</a:t>
            </a:r>
            <a:endParaRPr lang="en-US" sz="1000" dirty="0"/>
          </a:p>
        </p:txBody>
      </p:sp>
      <p:sp>
        <p:nvSpPr>
          <p:cNvPr id="5" name="Shape 3"/>
          <p:cNvSpPr/>
          <p:nvPr/>
        </p:nvSpPr>
        <p:spPr>
          <a:xfrm>
            <a:off x="548640" y="2240280"/>
            <a:ext cx="1920240" cy="457200"/>
          </a:xfrm>
          <a:prstGeom prst="roundRect">
            <a:avLst>
              <a:gd name="adj" fmla="val 16000"/>
            </a:avLst>
          </a:prstGeom>
          <a:solidFill>
            <a:srgbClr val="E7F2F0"/>
          </a:solidFill>
          <a:ln w="12700">
            <a:solidFill>
              <a:srgbClr val="0F7068"/>
            </a:solidFill>
            <a:prstDash val="solid"/>
          </a:ln>
        </p:spPr>
      </p:sp>
      <p:sp>
        <p:nvSpPr>
          <p:cNvPr id="6" name="Text 4"/>
          <p:cNvSpPr txBox="1"/>
          <p:nvPr/>
        </p:nvSpPr>
        <p:spPr>
          <a:xfrm>
            <a:off x="548640" y="2240280"/>
            <a:ext cx="1920240" cy="457200"/>
          </a:xfrm>
          <a:prstGeom prst="rect">
            <a:avLst/>
          </a:prstGeom>
          <a:noFill/>
          <a:ln/>
        </p:spPr>
        <p:txBody>
          <a:bodyPr wrap="square" lIns="0" tIns="0" rIns="0" bIns="0" rtlCol="0" anchor="ctr"/>
          <a:lstStyle/>
          <a:p>
            <a:pPr algn="ctr" indent="0" marL="0">
              <a:buNone/>
            </a:pPr>
            <a:r>
              <a:rPr lang="en-US" sz="1200" b="1" dirty="0">
                <a:solidFill>
                  <a:srgbClr val="0F7068"/>
                </a:solidFill>
              </a:rPr>
              <a:t>Diagnosis</a:t>
            </a:r>
            <a:endParaRPr lang="en-US" sz="1200" dirty="0"/>
          </a:p>
        </p:txBody>
      </p:sp>
      <p:sp>
        <p:nvSpPr>
          <p:cNvPr id="7" name="Shape 5"/>
          <p:cNvSpPr/>
          <p:nvPr/>
        </p:nvSpPr>
        <p:spPr>
          <a:xfrm>
            <a:off x="2560320" y="2240280"/>
            <a:ext cx="3383280" cy="457200"/>
          </a:xfrm>
          <a:prstGeom prst="roundRect">
            <a:avLst>
              <a:gd name="adj" fmla="val 16000"/>
            </a:avLst>
          </a:prstGeom>
          <a:solidFill>
            <a:srgbClr val="FCF1DE"/>
          </a:solidFill>
          <a:ln w="12700">
            <a:solidFill>
              <a:srgbClr val="E8A03C"/>
            </a:solidFill>
            <a:prstDash val="solid"/>
          </a:ln>
        </p:spPr>
      </p:sp>
      <p:sp>
        <p:nvSpPr>
          <p:cNvPr id="8" name="Text 6"/>
          <p:cNvSpPr txBox="1"/>
          <p:nvPr/>
        </p:nvSpPr>
        <p:spPr>
          <a:xfrm>
            <a:off x="2560320" y="2240280"/>
            <a:ext cx="3383280" cy="457200"/>
          </a:xfrm>
          <a:prstGeom prst="rect">
            <a:avLst/>
          </a:prstGeom>
          <a:noFill/>
          <a:ln/>
        </p:spPr>
        <p:txBody>
          <a:bodyPr wrap="square" lIns="0" tIns="0" rIns="0" bIns="0" rtlCol="0" anchor="ctr"/>
          <a:lstStyle/>
          <a:p>
            <a:pPr algn="ctr" indent="0" marL="0">
              <a:buNone/>
            </a:pPr>
            <a:r>
              <a:rPr lang="en-US" sz="1200" b="1" dirty="0">
                <a:solidFill>
                  <a:srgbClr val="8A5A12"/>
                </a:solidFill>
              </a:rPr>
              <a:t>Years of silent damage, no symptoms</a:t>
            </a:r>
            <a:endParaRPr lang="en-US" sz="1200" dirty="0"/>
          </a:p>
        </p:txBody>
      </p:sp>
      <p:sp>
        <p:nvSpPr>
          <p:cNvPr id="9" name="Shape 7"/>
          <p:cNvSpPr/>
          <p:nvPr/>
        </p:nvSpPr>
        <p:spPr>
          <a:xfrm>
            <a:off x="6035040" y="2240280"/>
            <a:ext cx="2560320" cy="457200"/>
          </a:xfrm>
          <a:prstGeom prst="roundRect">
            <a:avLst>
              <a:gd name="adj" fmla="val 16000"/>
            </a:avLst>
          </a:prstGeom>
          <a:solidFill>
            <a:srgbClr val="FBE4E1"/>
          </a:solidFill>
          <a:ln w="12700">
            <a:solidFill>
              <a:srgbClr val="B42318"/>
            </a:solidFill>
            <a:prstDash val="solid"/>
          </a:ln>
        </p:spPr>
      </p:sp>
      <p:sp>
        <p:nvSpPr>
          <p:cNvPr id="10" name="Text 8"/>
          <p:cNvSpPr txBox="1"/>
          <p:nvPr/>
        </p:nvSpPr>
        <p:spPr>
          <a:xfrm>
            <a:off x="6035040" y="2240280"/>
            <a:ext cx="2560320" cy="457200"/>
          </a:xfrm>
          <a:prstGeom prst="rect">
            <a:avLst/>
          </a:prstGeom>
          <a:noFill/>
          <a:ln/>
        </p:spPr>
        <p:txBody>
          <a:bodyPr wrap="square" lIns="0" tIns="0" rIns="0" bIns="0" rtlCol="0" anchor="ctr"/>
          <a:lstStyle/>
          <a:p>
            <a:pPr algn="ctr" indent="0" marL="0">
              <a:buNone/>
            </a:pPr>
            <a:r>
              <a:rPr lang="en-US" sz="1200" b="1" dirty="0">
                <a:solidFill>
                  <a:srgbClr val="B42318"/>
                </a:solidFill>
              </a:rPr>
              <a:t>Blindness, dialysis, cirrhosis</a:t>
            </a:r>
            <a:endParaRPr lang="en-US" sz="1200" dirty="0"/>
          </a:p>
        </p:txBody>
      </p:sp>
      <p:sp>
        <p:nvSpPr>
          <p:cNvPr id="11" name="Shape 9"/>
          <p:cNvSpPr/>
          <p:nvPr/>
        </p:nvSpPr>
        <p:spPr>
          <a:xfrm>
            <a:off x="3017520" y="1828800"/>
            <a:ext cx="0" cy="384048"/>
          </a:xfrm>
          <a:prstGeom prst="line">
            <a:avLst/>
          </a:prstGeom>
          <a:noFill/>
          <a:ln w="25400">
            <a:solidFill>
              <a:srgbClr val="0F7068"/>
            </a:solidFill>
            <a:prstDash val="solid"/>
            <a:tailEnd type="triangle"/>
          </a:ln>
        </p:spPr>
      </p:sp>
      <p:sp>
        <p:nvSpPr>
          <p:cNvPr id="12" name="Shape 10"/>
          <p:cNvSpPr/>
          <p:nvPr/>
        </p:nvSpPr>
        <p:spPr>
          <a:xfrm>
            <a:off x="2194560" y="1664208"/>
            <a:ext cx="1645920" cy="182880"/>
          </a:xfrm>
          <a:prstGeom prst="roundRect">
            <a:avLst>
              <a:gd name="adj" fmla="val 25000"/>
            </a:avLst>
          </a:prstGeom>
          <a:solidFill>
            <a:srgbClr val="0F7068"/>
          </a:solidFill>
          <a:ln w="12700">
            <a:solidFill>
              <a:srgbClr val="0F7068"/>
            </a:solidFill>
            <a:prstDash val="solid"/>
          </a:ln>
        </p:spPr>
      </p:sp>
      <p:sp>
        <p:nvSpPr>
          <p:cNvPr id="13" name="Text 11"/>
          <p:cNvSpPr txBox="1"/>
          <p:nvPr/>
        </p:nvSpPr>
        <p:spPr>
          <a:xfrm>
            <a:off x="2194560" y="1664208"/>
            <a:ext cx="1645920" cy="182880"/>
          </a:xfrm>
          <a:prstGeom prst="rect">
            <a:avLst/>
          </a:prstGeom>
          <a:noFill/>
          <a:ln/>
        </p:spPr>
        <p:txBody>
          <a:bodyPr wrap="square" lIns="0" tIns="0" rIns="0" bIns="0" rtlCol="0" anchor="ctr"/>
          <a:lstStyle/>
          <a:p>
            <a:pPr algn="ctr" indent="0" marL="0">
              <a:buNone/>
            </a:pPr>
            <a:r>
              <a:rPr lang="en-US" sz="900" b="1" dirty="0">
                <a:solidFill>
                  <a:srgbClr val="FFFFFF"/>
                </a:solidFill>
              </a:rPr>
              <a:t>Kaya flags risk here</a:t>
            </a:r>
            <a:endParaRPr lang="en-US" sz="900" dirty="0"/>
          </a:p>
        </p:txBody>
      </p:sp>
      <p:sp>
        <p:nvSpPr>
          <p:cNvPr id="14" name="Shape 12"/>
          <p:cNvSpPr/>
          <p:nvPr/>
        </p:nvSpPr>
        <p:spPr>
          <a:xfrm>
            <a:off x="7223760" y="2724912"/>
            <a:ext cx="0" cy="320040"/>
          </a:xfrm>
          <a:prstGeom prst="line">
            <a:avLst/>
          </a:prstGeom>
          <a:noFill/>
          <a:ln w="25400">
            <a:solidFill>
              <a:srgbClr val="B42318"/>
            </a:solidFill>
            <a:prstDash val="solid"/>
            <a:headEnd type="triangle"/>
          </a:ln>
        </p:spPr>
      </p:sp>
      <p:sp>
        <p:nvSpPr>
          <p:cNvPr id="15" name="Shape 13"/>
          <p:cNvSpPr/>
          <p:nvPr/>
        </p:nvSpPr>
        <p:spPr>
          <a:xfrm>
            <a:off x="5989320" y="3044952"/>
            <a:ext cx="2606040" cy="201168"/>
          </a:xfrm>
          <a:prstGeom prst="roundRect">
            <a:avLst>
              <a:gd name="adj" fmla="val 22727"/>
            </a:avLst>
          </a:prstGeom>
          <a:solidFill>
            <a:srgbClr val="B42318"/>
          </a:solidFill>
          <a:ln w="12700">
            <a:solidFill>
              <a:srgbClr val="B42318"/>
            </a:solidFill>
            <a:prstDash val="solid"/>
          </a:ln>
        </p:spPr>
      </p:sp>
      <p:sp>
        <p:nvSpPr>
          <p:cNvPr id="16" name="Text 14"/>
          <p:cNvSpPr txBox="1"/>
          <p:nvPr/>
        </p:nvSpPr>
        <p:spPr>
          <a:xfrm>
            <a:off x="5989320" y="3044952"/>
            <a:ext cx="2606040" cy="201168"/>
          </a:xfrm>
          <a:prstGeom prst="rect">
            <a:avLst/>
          </a:prstGeom>
          <a:noFill/>
          <a:ln/>
        </p:spPr>
        <p:txBody>
          <a:bodyPr wrap="square" lIns="0" tIns="0" rIns="0" bIns="0" rtlCol="0" anchor="ctr"/>
          <a:lstStyle/>
          <a:p>
            <a:pPr algn="ctr" indent="0" marL="0">
              <a:buNone/>
            </a:pPr>
            <a:r>
              <a:rPr lang="en-US" sz="900" b="1" dirty="0">
                <a:solidFill>
                  <a:srgbClr val="FFFFFF"/>
                </a:solidFill>
              </a:rPr>
              <a:t>Today: found when it already hurts</a:t>
            </a:r>
            <a:endParaRPr lang="en-US" sz="900" dirty="0"/>
          </a:p>
        </p:txBody>
      </p:sp>
      <p:sp>
        <p:nvSpPr>
          <p:cNvPr id="17" name="Shape 15"/>
          <p:cNvSpPr/>
          <p:nvPr/>
        </p:nvSpPr>
        <p:spPr>
          <a:xfrm>
            <a:off x="548640" y="3383280"/>
            <a:ext cx="2560320" cy="1097280"/>
          </a:xfrm>
          <a:prstGeom prst="roundRect">
            <a:avLst>
              <a:gd name="adj" fmla="val 8333"/>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8" name="Shape 16"/>
          <p:cNvSpPr/>
          <p:nvPr/>
        </p:nvSpPr>
        <p:spPr>
          <a:xfrm>
            <a:off x="658368" y="3474720"/>
            <a:ext cx="384048" cy="384048"/>
          </a:xfrm>
          <a:prstGeom prst="ellipse">
            <a:avLst/>
          </a:prstGeom>
          <a:solidFill>
            <a:srgbClr val="E7F2F0"/>
          </a:solidFill>
          <a:ln w="12700">
            <a:solidFill>
              <a:srgbClr val="E7F2F0"/>
            </a:solidFill>
            <a:prstDash val="solid"/>
          </a:ln>
        </p:spPr>
      </p:sp>
      <p:sp>
        <p:nvSpPr>
          <p:cNvPr id="19" name="Text 17"/>
          <p:cNvSpPr txBox="1"/>
          <p:nvPr/>
        </p:nvSpPr>
        <p:spPr>
          <a:xfrm>
            <a:off x="658368" y="3474720"/>
            <a:ext cx="384048" cy="384048"/>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20" name="Text 18"/>
          <p:cNvSpPr txBox="1"/>
          <p:nvPr/>
        </p:nvSpPr>
        <p:spPr>
          <a:xfrm>
            <a:off x="1143000" y="3474720"/>
            <a:ext cx="1874520" cy="384048"/>
          </a:xfrm>
          <a:prstGeom prst="rect">
            <a:avLst/>
          </a:prstGeom>
          <a:noFill/>
          <a:ln/>
        </p:spPr>
        <p:txBody>
          <a:bodyPr wrap="square" lIns="0" tIns="0" rIns="0" bIns="0" rtlCol="0" anchor="ctr"/>
          <a:lstStyle/>
          <a:p>
            <a:pPr indent="0" marL="0">
              <a:buNone/>
            </a:pPr>
            <a:r>
              <a:rPr lang="en-US" sz="1300" b="1" dirty="0">
                <a:solidFill>
                  <a:srgbClr val="0F3B38"/>
                </a:solidFill>
              </a:rPr>
              <a:t>Checks are rare</a:t>
            </a:r>
            <a:endParaRPr lang="en-US" sz="1300" dirty="0"/>
          </a:p>
        </p:txBody>
      </p:sp>
      <p:sp>
        <p:nvSpPr>
          <p:cNvPr id="21" name="Text 19"/>
          <p:cNvSpPr txBox="1"/>
          <p:nvPr/>
        </p:nvSpPr>
        <p:spPr>
          <a:xfrm>
            <a:off x="658368" y="3904488"/>
            <a:ext cx="2359152" cy="548640"/>
          </a:xfrm>
          <a:prstGeom prst="rect">
            <a:avLst/>
          </a:prstGeom>
          <a:noFill/>
          <a:ln/>
        </p:spPr>
        <p:txBody>
          <a:bodyPr wrap="square" lIns="0" tIns="0" rIns="0" bIns="0" rtlCol="0" anchor="t"/>
          <a:lstStyle/>
          <a:p>
            <a:pPr indent="0" marL="0">
              <a:buNone/>
            </a:pPr>
            <a:r>
              <a:rPr lang="en-US" sz="1000" dirty="0">
                <a:solidFill>
                  <a:srgbClr val="5B6B77"/>
                </a:solidFill>
              </a:rPr>
              <a:t>43% of adults with diabetes in India are undiagnosed, and only 36% of those diagnosed control their sugar.</a:t>
            </a:r>
            <a:endParaRPr lang="en-US" sz="1000" dirty="0"/>
          </a:p>
        </p:txBody>
      </p:sp>
      <p:sp>
        <p:nvSpPr>
          <p:cNvPr id="22" name="Shape 20"/>
          <p:cNvSpPr/>
          <p:nvPr/>
        </p:nvSpPr>
        <p:spPr>
          <a:xfrm>
            <a:off x="3291840" y="3383280"/>
            <a:ext cx="2560320" cy="1097280"/>
          </a:xfrm>
          <a:prstGeom prst="roundRect">
            <a:avLst>
              <a:gd name="adj" fmla="val 8333"/>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23" name="Shape 21"/>
          <p:cNvSpPr/>
          <p:nvPr/>
        </p:nvSpPr>
        <p:spPr>
          <a:xfrm>
            <a:off x="3401568" y="3474720"/>
            <a:ext cx="384048" cy="384048"/>
          </a:xfrm>
          <a:prstGeom prst="ellipse">
            <a:avLst/>
          </a:prstGeom>
          <a:solidFill>
            <a:srgbClr val="E7F2F0"/>
          </a:solidFill>
          <a:ln w="12700">
            <a:solidFill>
              <a:srgbClr val="E7F2F0"/>
            </a:solidFill>
            <a:prstDash val="solid"/>
          </a:ln>
        </p:spPr>
      </p:sp>
      <p:sp>
        <p:nvSpPr>
          <p:cNvPr id="24" name="Text 22"/>
          <p:cNvSpPr txBox="1"/>
          <p:nvPr/>
        </p:nvSpPr>
        <p:spPr>
          <a:xfrm>
            <a:off x="3401568" y="3474720"/>
            <a:ext cx="384048" cy="384048"/>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25" name="Text 23"/>
          <p:cNvSpPr txBox="1"/>
          <p:nvPr/>
        </p:nvSpPr>
        <p:spPr>
          <a:xfrm>
            <a:off x="3886200" y="3474720"/>
            <a:ext cx="1874520" cy="384048"/>
          </a:xfrm>
          <a:prstGeom prst="rect">
            <a:avLst/>
          </a:prstGeom>
          <a:noFill/>
          <a:ln/>
        </p:spPr>
        <p:txBody>
          <a:bodyPr wrap="square" lIns="0" tIns="0" rIns="0" bIns="0" rtlCol="0" anchor="ctr"/>
          <a:lstStyle/>
          <a:p>
            <a:pPr indent="0" marL="0">
              <a:buNone/>
            </a:pPr>
            <a:r>
              <a:rPr lang="en-US" sz="1300" b="1" dirty="0">
                <a:solidFill>
                  <a:srgbClr val="0F3B38"/>
                </a:solidFill>
              </a:rPr>
              <a:t>Specialists are scarce</a:t>
            </a:r>
            <a:endParaRPr lang="en-US" sz="1300" dirty="0"/>
          </a:p>
        </p:txBody>
      </p:sp>
      <p:sp>
        <p:nvSpPr>
          <p:cNvPr id="26" name="Text 24"/>
          <p:cNvSpPr txBox="1"/>
          <p:nvPr/>
        </p:nvSpPr>
        <p:spPr>
          <a:xfrm>
            <a:off x="3401568" y="3904488"/>
            <a:ext cx="2359152" cy="548640"/>
          </a:xfrm>
          <a:prstGeom prst="rect">
            <a:avLst/>
          </a:prstGeom>
          <a:noFill/>
          <a:ln/>
        </p:spPr>
        <p:txBody>
          <a:bodyPr wrap="square" lIns="0" tIns="0" rIns="0" bIns="0" rtlCol="0" anchor="t"/>
          <a:lstStyle/>
          <a:p>
            <a:pPr indent="0" marL="0">
              <a:buNone/>
            </a:pPr>
            <a:r>
              <a:rPr lang="en-US" sz="1000" dirty="0">
                <a:solidFill>
                  <a:srgbClr val="5B6B77"/>
                </a:solidFill>
              </a:rPr>
              <a:t>About 1 ophthalmologist per 100,000 people, around 80% of them in cities. Screening is mostly urban.</a:t>
            </a:r>
            <a:endParaRPr lang="en-US" sz="1000" dirty="0"/>
          </a:p>
        </p:txBody>
      </p:sp>
      <p:sp>
        <p:nvSpPr>
          <p:cNvPr id="27" name="Shape 25"/>
          <p:cNvSpPr/>
          <p:nvPr/>
        </p:nvSpPr>
        <p:spPr>
          <a:xfrm>
            <a:off x="6035040" y="3383280"/>
            <a:ext cx="2560320" cy="1097280"/>
          </a:xfrm>
          <a:prstGeom prst="roundRect">
            <a:avLst>
              <a:gd name="adj" fmla="val 8333"/>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28" name="Shape 26"/>
          <p:cNvSpPr/>
          <p:nvPr/>
        </p:nvSpPr>
        <p:spPr>
          <a:xfrm>
            <a:off x="6144768" y="3474720"/>
            <a:ext cx="384048" cy="384048"/>
          </a:xfrm>
          <a:prstGeom prst="ellipse">
            <a:avLst/>
          </a:prstGeom>
          <a:solidFill>
            <a:srgbClr val="E7F2F0"/>
          </a:solidFill>
          <a:ln w="12700">
            <a:solidFill>
              <a:srgbClr val="E7F2F0"/>
            </a:solidFill>
            <a:prstDash val="solid"/>
          </a:ln>
        </p:spPr>
      </p:sp>
      <p:sp>
        <p:nvSpPr>
          <p:cNvPr id="29" name="Text 27"/>
          <p:cNvSpPr txBox="1"/>
          <p:nvPr/>
        </p:nvSpPr>
        <p:spPr>
          <a:xfrm>
            <a:off x="6144768" y="3474720"/>
            <a:ext cx="384048" cy="384048"/>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30" name="Text 28"/>
          <p:cNvSpPr txBox="1"/>
          <p:nvPr/>
        </p:nvSpPr>
        <p:spPr>
          <a:xfrm>
            <a:off x="6629400" y="3474720"/>
            <a:ext cx="1874520" cy="384048"/>
          </a:xfrm>
          <a:prstGeom prst="rect">
            <a:avLst/>
          </a:prstGeom>
          <a:noFill/>
          <a:ln/>
        </p:spPr>
        <p:txBody>
          <a:bodyPr wrap="square" lIns="0" tIns="0" rIns="0" bIns="0" rtlCol="0" anchor="ctr"/>
          <a:lstStyle/>
          <a:p>
            <a:pPr indent="0" marL="0">
              <a:buNone/>
            </a:pPr>
            <a:r>
              <a:rPr lang="en-US" sz="1300" b="1" dirty="0">
                <a:solidFill>
                  <a:srgbClr val="0F3B38"/>
                </a:solidFill>
              </a:rPr>
              <a:t>Data sits in silos</a:t>
            </a:r>
            <a:endParaRPr lang="en-US" sz="1300" dirty="0"/>
          </a:p>
        </p:txBody>
      </p:sp>
      <p:sp>
        <p:nvSpPr>
          <p:cNvPr id="31" name="Text 29"/>
          <p:cNvSpPr txBox="1"/>
          <p:nvPr/>
        </p:nvSpPr>
        <p:spPr>
          <a:xfrm>
            <a:off x="6144768" y="3904488"/>
            <a:ext cx="2359152" cy="548640"/>
          </a:xfrm>
          <a:prstGeom prst="rect">
            <a:avLst/>
          </a:prstGeom>
          <a:noFill/>
          <a:ln/>
        </p:spPr>
        <p:txBody>
          <a:bodyPr wrap="square" lIns="0" tIns="0" rIns="0" bIns="0" rtlCol="0" anchor="t"/>
          <a:lstStyle/>
          <a:p>
            <a:pPr indent="0" marL="0">
              <a:buNone/>
            </a:pPr>
            <a:r>
              <a:rPr lang="en-US" sz="1000" dirty="0">
                <a:solidFill>
                  <a:srgbClr val="5B6B77"/>
                </a:solidFill>
              </a:rPr>
              <a:t>Glucose sensors, lab reports and eye scans live apart. Nobody links daily glucose to organ damage.</a:t>
            </a:r>
            <a:endParaRPr lang="en-US" sz="1000" dirty="0"/>
          </a:p>
        </p:txBody>
      </p:sp>
      <p:sp>
        <p:nvSpPr>
          <p:cNvPr id="32" name="Source"/>
          <p:cNvSpPr txBox="1"/>
          <p:nvPr/>
        </p:nvSpPr>
        <p:spPr>
          <a:xfrm>
            <a:off x="548640" y="4572000"/>
            <a:ext cx="8046720" cy="228600"/>
          </a:xfrm>
          <a:prstGeom prst="rect">
            <a:avLst/>
          </a:prstGeom>
          <a:noFill/>
          <a:ln/>
        </p:spPr>
        <p:txBody>
          <a:bodyPr wrap="square" lIns="0" tIns="0" rIns="0" bIns="0" rtlCol="0" anchor="ctr"/>
          <a:lstStyle/>
          <a:p>
            <a:pPr indent="0" marL="0">
              <a:buNone/>
            </a:pPr>
            <a:r>
              <a:rPr lang="en-US" sz="900" i="1" dirty="0">
                <a:solidFill>
                  <a:srgbClr val="5B6B77"/>
                </a:solidFill>
              </a:rPr>
              <a:t>Sources: IDF Atlas 2025; ICMR-INDIAB 2022; World Diabetes Foundation (ophthalmologist density). The timeline is a conceptual illustration, not patient data.</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MARKET LANDSCAPE</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Today's tools manage sugar. They stop short of the organs</a:t>
            </a:r>
            <a:endParaRPr lang="en-US" sz="2500" dirty="0"/>
          </a:p>
        </p:txBody>
      </p:sp>
      <p:sp>
        <p:nvSpPr>
          <p:cNvPr id="4" name="Shape 2"/>
          <p:cNvSpPr/>
          <p:nvPr/>
        </p:nvSpPr>
        <p:spPr>
          <a:xfrm>
            <a:off x="548640" y="1481328"/>
            <a:ext cx="1874520" cy="3017520"/>
          </a:xfrm>
          <a:prstGeom prst="roundRect">
            <a:avLst>
              <a:gd name="adj" fmla="val 4878"/>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5" name="Shape 3"/>
          <p:cNvSpPr/>
          <p:nvPr/>
        </p:nvSpPr>
        <p:spPr>
          <a:xfrm>
            <a:off x="685800" y="1600200"/>
            <a:ext cx="457200" cy="457200"/>
          </a:xfrm>
          <a:prstGeom prst="ellipse">
            <a:avLst/>
          </a:prstGeom>
          <a:solidFill>
            <a:srgbClr val="E7F2F0"/>
          </a:solidFill>
          <a:ln w="12700">
            <a:solidFill>
              <a:srgbClr val="E7F2F0"/>
            </a:solidFill>
            <a:prstDash val="solid"/>
          </a:ln>
        </p:spPr>
      </p:sp>
      <p:sp>
        <p:nvSpPr>
          <p:cNvPr id="6" name="Text 4"/>
          <p:cNvSpPr txBox="1"/>
          <p:nvPr/>
        </p:nvSpPr>
        <p:spPr>
          <a:xfrm>
            <a:off x="685800" y="1600200"/>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7" name="Text 5"/>
          <p:cNvSpPr txBox="1"/>
          <p:nvPr/>
        </p:nvSpPr>
        <p:spPr>
          <a:xfrm>
            <a:off x="685800" y="2103120"/>
            <a:ext cx="1600200" cy="457200"/>
          </a:xfrm>
          <a:prstGeom prst="rect">
            <a:avLst/>
          </a:prstGeom>
          <a:noFill/>
          <a:ln/>
        </p:spPr>
        <p:txBody>
          <a:bodyPr wrap="square" lIns="0" tIns="0" rIns="0" bIns="0" rtlCol="0" anchor="t"/>
          <a:lstStyle/>
          <a:p>
            <a:pPr indent="0" marL="0">
              <a:buNone/>
            </a:pPr>
            <a:r>
              <a:rPr lang="en-US" sz="1250" b="1" dirty="0">
                <a:solidFill>
                  <a:srgbClr val="0F3B38"/>
                </a:solidFill>
              </a:rPr>
              <a:t>Glucose monitors and CGMs</a:t>
            </a:r>
            <a:endParaRPr lang="en-US" sz="1250" dirty="0"/>
          </a:p>
        </p:txBody>
      </p:sp>
      <p:sp>
        <p:nvSpPr>
          <p:cNvPr id="8" name="Text 6"/>
          <p:cNvSpPr txBox="1"/>
          <p:nvPr/>
        </p:nvSpPr>
        <p:spPr>
          <a:xfrm>
            <a:off x="685800" y="2578608"/>
            <a:ext cx="1600200" cy="502920"/>
          </a:xfrm>
          <a:prstGeom prst="rect">
            <a:avLst/>
          </a:prstGeom>
          <a:noFill/>
          <a:ln/>
        </p:spPr>
        <p:txBody>
          <a:bodyPr wrap="square" lIns="0" tIns="0" rIns="0" bIns="0" rtlCol="0" anchor="t"/>
          <a:lstStyle/>
          <a:p>
            <a:pPr indent="0" marL="0">
              <a:buNone/>
            </a:pPr>
            <a:r>
              <a:rPr lang="en-US" sz="950" i="1" dirty="0">
                <a:solidFill>
                  <a:srgbClr val="5B6B77"/>
                </a:solidFill>
              </a:rPr>
              <a:t>Abbott FreeStyle Libre, Dexcom, Medtronic</a:t>
            </a:r>
            <a:endParaRPr lang="en-US" sz="950" dirty="0"/>
          </a:p>
        </p:txBody>
      </p:sp>
      <p:sp>
        <p:nvSpPr>
          <p:cNvPr id="9" name="Text 7"/>
          <p:cNvSpPr txBox="1"/>
          <p:nvPr/>
        </p:nvSpPr>
        <p:spPr>
          <a:xfrm>
            <a:off x="685800" y="3108960"/>
            <a:ext cx="1600200" cy="640080"/>
          </a:xfrm>
          <a:prstGeom prst="rect">
            <a:avLst/>
          </a:prstGeom>
          <a:noFill/>
          <a:ln/>
        </p:spPr>
        <p:txBody>
          <a:bodyPr wrap="square" lIns="0" tIns="0" rIns="0" bIns="0" rtlCol="0" anchor="t"/>
          <a:lstStyle/>
          <a:p>
            <a:pPr indent="0" marL="0">
              <a:buNone/>
            </a:pPr>
            <a:r>
              <a:rPr lang="en-US" sz="900" b="1" dirty="0">
                <a:solidFill>
                  <a:srgbClr val="0F7068"/>
                </a:solidFill>
              </a:rPr>
              <a:t>Does well</a:t>
            </a:r>
            <a:endParaRPr lang="en-US" sz="900" dirty="0"/>
          </a:p>
          <a:p>
            <a:pPr indent="0" marL="0">
              <a:buNone/>
            </a:pPr>
            <a:r>
              <a:rPr lang="en-US" sz="1050" dirty="0">
                <a:solidFill>
                  <a:srgbClr val="0F3B38"/>
                </a:solidFill>
              </a:rPr>
              <a:t>Accurate real-time glucose, low-sugar alerts</a:t>
            </a:r>
            <a:endParaRPr lang="en-US" sz="900" dirty="0"/>
          </a:p>
        </p:txBody>
      </p:sp>
      <p:sp>
        <p:nvSpPr>
          <p:cNvPr id="10" name="Text 8"/>
          <p:cNvSpPr txBox="1"/>
          <p:nvPr/>
        </p:nvSpPr>
        <p:spPr>
          <a:xfrm>
            <a:off x="685800" y="3767328"/>
            <a:ext cx="1600200" cy="713232"/>
          </a:xfrm>
          <a:prstGeom prst="rect">
            <a:avLst/>
          </a:prstGeom>
          <a:noFill/>
          <a:ln/>
        </p:spPr>
        <p:txBody>
          <a:bodyPr wrap="square" lIns="0" tIns="0" rIns="0" bIns="0" rtlCol="0" anchor="t"/>
          <a:lstStyle/>
          <a:p>
            <a:pPr indent="0" marL="0">
              <a:buNone/>
            </a:pPr>
            <a:r>
              <a:rPr lang="en-US" sz="900" b="1" dirty="0">
                <a:solidFill>
                  <a:srgbClr val="B42318"/>
                </a:solidFill>
              </a:rPr>
              <a:t>Does not solve</a:t>
            </a:r>
            <a:endParaRPr lang="en-US" sz="900" dirty="0"/>
          </a:p>
          <a:p>
            <a:pPr indent="0" marL="0">
              <a:buNone/>
            </a:pPr>
            <a:r>
              <a:rPr lang="en-US" sz="1050" dirty="0">
                <a:solidFill>
                  <a:srgbClr val="0F3B38"/>
                </a:solidFill>
              </a:rPr>
              <a:t>Stops at glucose. No view of liver, eye or kidney damage</a:t>
            </a:r>
            <a:endParaRPr lang="en-US" sz="900" dirty="0"/>
          </a:p>
        </p:txBody>
      </p:sp>
      <p:sp>
        <p:nvSpPr>
          <p:cNvPr id="11" name="Shape 9"/>
          <p:cNvSpPr/>
          <p:nvPr/>
        </p:nvSpPr>
        <p:spPr>
          <a:xfrm>
            <a:off x="2560320" y="1481328"/>
            <a:ext cx="1874520" cy="3017520"/>
          </a:xfrm>
          <a:prstGeom prst="roundRect">
            <a:avLst>
              <a:gd name="adj" fmla="val 4878"/>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2" name="Shape 10"/>
          <p:cNvSpPr/>
          <p:nvPr/>
        </p:nvSpPr>
        <p:spPr>
          <a:xfrm>
            <a:off x="2697480" y="1600200"/>
            <a:ext cx="457200" cy="457200"/>
          </a:xfrm>
          <a:prstGeom prst="ellipse">
            <a:avLst/>
          </a:prstGeom>
          <a:solidFill>
            <a:srgbClr val="E7F2F0"/>
          </a:solidFill>
          <a:ln w="12700">
            <a:solidFill>
              <a:srgbClr val="E7F2F0"/>
            </a:solidFill>
            <a:prstDash val="solid"/>
          </a:ln>
        </p:spPr>
      </p:sp>
      <p:sp>
        <p:nvSpPr>
          <p:cNvPr id="13" name="Text 11"/>
          <p:cNvSpPr txBox="1"/>
          <p:nvPr/>
        </p:nvSpPr>
        <p:spPr>
          <a:xfrm>
            <a:off x="2697480" y="1600200"/>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14" name="Text 12"/>
          <p:cNvSpPr txBox="1"/>
          <p:nvPr/>
        </p:nvSpPr>
        <p:spPr>
          <a:xfrm>
            <a:off x="2697480" y="2103120"/>
            <a:ext cx="1600200" cy="457200"/>
          </a:xfrm>
          <a:prstGeom prst="rect">
            <a:avLst/>
          </a:prstGeom>
          <a:noFill/>
          <a:ln/>
        </p:spPr>
        <p:txBody>
          <a:bodyPr wrap="square" lIns="0" tIns="0" rIns="0" bIns="0" rtlCol="0" anchor="t"/>
          <a:lstStyle/>
          <a:p>
            <a:pPr indent="0" marL="0">
              <a:buNone/>
            </a:pPr>
            <a:r>
              <a:rPr lang="en-US" sz="1250" b="1" dirty="0">
                <a:solidFill>
                  <a:srgbClr val="0F3B38"/>
                </a:solidFill>
              </a:rPr>
              <a:t>Coaching apps</a:t>
            </a:r>
            <a:endParaRPr lang="en-US" sz="1250" dirty="0"/>
          </a:p>
        </p:txBody>
      </p:sp>
      <p:sp>
        <p:nvSpPr>
          <p:cNvPr id="15" name="Text 13"/>
          <p:cNvSpPr txBox="1"/>
          <p:nvPr/>
        </p:nvSpPr>
        <p:spPr>
          <a:xfrm>
            <a:off x="2697480" y="2578608"/>
            <a:ext cx="1600200" cy="502920"/>
          </a:xfrm>
          <a:prstGeom prst="rect">
            <a:avLst/>
          </a:prstGeom>
          <a:noFill/>
          <a:ln/>
        </p:spPr>
        <p:txBody>
          <a:bodyPr wrap="square" lIns="0" tIns="0" rIns="0" bIns="0" rtlCol="0" anchor="t"/>
          <a:lstStyle/>
          <a:p>
            <a:pPr indent="0" marL="0">
              <a:buNone/>
            </a:pPr>
            <a:r>
              <a:rPr lang="en-US" sz="950" i="1" dirty="0">
                <a:solidFill>
                  <a:srgbClr val="5B6B77"/>
                </a:solidFill>
              </a:rPr>
              <a:t>Sugar.fit, BeatO, Fitterfly, Ultrahuman</a:t>
            </a:r>
            <a:endParaRPr lang="en-US" sz="950" dirty="0"/>
          </a:p>
        </p:txBody>
      </p:sp>
      <p:sp>
        <p:nvSpPr>
          <p:cNvPr id="16" name="Text 14"/>
          <p:cNvSpPr txBox="1"/>
          <p:nvPr/>
        </p:nvSpPr>
        <p:spPr>
          <a:xfrm>
            <a:off x="2697480" y="3108960"/>
            <a:ext cx="1600200" cy="640080"/>
          </a:xfrm>
          <a:prstGeom prst="rect">
            <a:avLst/>
          </a:prstGeom>
          <a:noFill/>
          <a:ln/>
        </p:spPr>
        <p:txBody>
          <a:bodyPr wrap="square" lIns="0" tIns="0" rIns="0" bIns="0" rtlCol="0" anchor="t"/>
          <a:lstStyle/>
          <a:p>
            <a:pPr indent="0" marL="0">
              <a:buNone/>
            </a:pPr>
            <a:r>
              <a:rPr lang="en-US" sz="900" b="1" dirty="0">
                <a:solidFill>
                  <a:srgbClr val="0F7068"/>
                </a:solidFill>
              </a:rPr>
              <a:t>Does well</a:t>
            </a:r>
            <a:endParaRPr lang="en-US" sz="900" dirty="0"/>
          </a:p>
          <a:p>
            <a:pPr indent="0" marL="0">
              <a:buNone/>
            </a:pPr>
            <a:r>
              <a:rPr lang="en-US" sz="1050" dirty="0">
                <a:solidFill>
                  <a:srgbClr val="0F3B38"/>
                </a:solidFill>
              </a:rPr>
              <a:t>Diet, activity and habit coaching, affordable</a:t>
            </a:r>
            <a:endParaRPr lang="en-US" sz="900" dirty="0"/>
          </a:p>
        </p:txBody>
      </p:sp>
      <p:sp>
        <p:nvSpPr>
          <p:cNvPr id="17" name="Text 15"/>
          <p:cNvSpPr txBox="1"/>
          <p:nvPr/>
        </p:nvSpPr>
        <p:spPr>
          <a:xfrm>
            <a:off x="2697480" y="3767328"/>
            <a:ext cx="1600200" cy="713232"/>
          </a:xfrm>
          <a:prstGeom prst="rect">
            <a:avLst/>
          </a:prstGeom>
          <a:noFill/>
          <a:ln/>
        </p:spPr>
        <p:txBody>
          <a:bodyPr wrap="square" lIns="0" tIns="0" rIns="0" bIns="0" rtlCol="0" anchor="t"/>
          <a:lstStyle/>
          <a:p>
            <a:pPr indent="0" marL="0">
              <a:buNone/>
            </a:pPr>
            <a:r>
              <a:rPr lang="en-US" sz="900" b="1" dirty="0">
                <a:solidFill>
                  <a:srgbClr val="B42318"/>
                </a:solidFill>
              </a:rPr>
              <a:t>Does not solve</a:t>
            </a:r>
            <a:endParaRPr lang="en-US" sz="900" dirty="0"/>
          </a:p>
          <a:p>
            <a:pPr indent="0" marL="0">
              <a:buNone/>
            </a:pPr>
            <a:r>
              <a:rPr lang="en-US" sz="1050" dirty="0">
                <a:solidFill>
                  <a:srgbClr val="0F3B38"/>
                </a:solidFill>
              </a:rPr>
              <a:t>Tracks sugar and habits, not organ risk</a:t>
            </a:r>
            <a:endParaRPr lang="en-US" sz="900" dirty="0"/>
          </a:p>
        </p:txBody>
      </p:sp>
      <p:sp>
        <p:nvSpPr>
          <p:cNvPr id="18" name="Shape 16"/>
          <p:cNvSpPr/>
          <p:nvPr/>
        </p:nvSpPr>
        <p:spPr>
          <a:xfrm>
            <a:off x="4572000" y="1481328"/>
            <a:ext cx="1874520" cy="3017520"/>
          </a:xfrm>
          <a:prstGeom prst="roundRect">
            <a:avLst>
              <a:gd name="adj" fmla="val 4878"/>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9" name="Shape 17"/>
          <p:cNvSpPr/>
          <p:nvPr/>
        </p:nvSpPr>
        <p:spPr>
          <a:xfrm>
            <a:off x="4709160" y="1600200"/>
            <a:ext cx="457200" cy="457200"/>
          </a:xfrm>
          <a:prstGeom prst="ellipse">
            <a:avLst/>
          </a:prstGeom>
          <a:solidFill>
            <a:srgbClr val="E7F2F0"/>
          </a:solidFill>
          <a:ln w="12700">
            <a:solidFill>
              <a:srgbClr val="E7F2F0"/>
            </a:solidFill>
            <a:prstDash val="solid"/>
          </a:ln>
        </p:spPr>
      </p:sp>
      <p:sp>
        <p:nvSpPr>
          <p:cNvPr id="20" name="Text 18"/>
          <p:cNvSpPr txBox="1"/>
          <p:nvPr/>
        </p:nvSpPr>
        <p:spPr>
          <a:xfrm>
            <a:off x="4709160" y="1600200"/>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21" name="Text 19"/>
          <p:cNvSpPr txBox="1"/>
          <p:nvPr/>
        </p:nvSpPr>
        <p:spPr>
          <a:xfrm>
            <a:off x="4709160" y="2103120"/>
            <a:ext cx="1600200" cy="457200"/>
          </a:xfrm>
          <a:prstGeom prst="rect">
            <a:avLst/>
          </a:prstGeom>
          <a:noFill/>
          <a:ln/>
        </p:spPr>
        <p:txBody>
          <a:bodyPr wrap="square" lIns="0" tIns="0" rIns="0" bIns="0" rtlCol="0" anchor="t"/>
          <a:lstStyle/>
          <a:p>
            <a:pPr indent="0" marL="0">
              <a:buNone/>
            </a:pPr>
            <a:r>
              <a:rPr lang="en-US" sz="1250" b="1" dirty="0">
                <a:solidFill>
                  <a:srgbClr val="0F3B38"/>
                </a:solidFill>
              </a:rPr>
              <a:t>Metabolic twin programmes</a:t>
            </a:r>
            <a:endParaRPr lang="en-US" sz="1250" dirty="0"/>
          </a:p>
        </p:txBody>
      </p:sp>
      <p:sp>
        <p:nvSpPr>
          <p:cNvPr id="22" name="Text 20"/>
          <p:cNvSpPr txBox="1"/>
          <p:nvPr/>
        </p:nvSpPr>
        <p:spPr>
          <a:xfrm>
            <a:off x="4709160" y="2578608"/>
            <a:ext cx="1600200" cy="502920"/>
          </a:xfrm>
          <a:prstGeom prst="rect">
            <a:avLst/>
          </a:prstGeom>
          <a:noFill/>
          <a:ln/>
        </p:spPr>
        <p:txBody>
          <a:bodyPr wrap="square" lIns="0" tIns="0" rIns="0" bIns="0" rtlCol="0" anchor="t"/>
          <a:lstStyle/>
          <a:p>
            <a:pPr indent="0" marL="0">
              <a:buNone/>
            </a:pPr>
            <a:r>
              <a:rPr lang="en-US" sz="950" i="1" dirty="0">
                <a:solidFill>
                  <a:srgbClr val="5B6B77"/>
                </a:solidFill>
              </a:rPr>
              <a:t>Twin Health</a:t>
            </a:r>
            <a:endParaRPr lang="en-US" sz="950" dirty="0"/>
          </a:p>
        </p:txBody>
      </p:sp>
      <p:sp>
        <p:nvSpPr>
          <p:cNvPr id="23" name="Text 21"/>
          <p:cNvSpPr txBox="1"/>
          <p:nvPr/>
        </p:nvSpPr>
        <p:spPr>
          <a:xfrm>
            <a:off x="4709160" y="3108960"/>
            <a:ext cx="1600200" cy="640080"/>
          </a:xfrm>
          <a:prstGeom prst="rect">
            <a:avLst/>
          </a:prstGeom>
          <a:noFill/>
          <a:ln/>
        </p:spPr>
        <p:txBody>
          <a:bodyPr wrap="square" lIns="0" tIns="0" rIns="0" bIns="0" rtlCol="0" anchor="t"/>
          <a:lstStyle/>
          <a:p>
            <a:pPr indent="0" marL="0">
              <a:buNone/>
            </a:pPr>
            <a:r>
              <a:rPr lang="en-US" sz="900" b="1" dirty="0">
                <a:solidFill>
                  <a:srgbClr val="0F7068"/>
                </a:solidFill>
              </a:rPr>
              <a:t>Does well</a:t>
            </a:r>
            <a:endParaRPr lang="en-US" sz="900" dirty="0"/>
          </a:p>
          <a:p>
            <a:pPr indent="0" marL="0">
              <a:buNone/>
            </a:pPr>
            <a:r>
              <a:rPr lang="en-US" sz="1050" dirty="0">
                <a:solidFill>
                  <a:srgbClr val="0F3B38"/>
                </a:solidFill>
              </a:rPr>
              <a:t>Personalised metabolic guidance towards remission</a:t>
            </a:r>
            <a:endParaRPr lang="en-US" sz="900" dirty="0"/>
          </a:p>
        </p:txBody>
      </p:sp>
      <p:sp>
        <p:nvSpPr>
          <p:cNvPr id="24" name="Text 22"/>
          <p:cNvSpPr txBox="1"/>
          <p:nvPr/>
        </p:nvSpPr>
        <p:spPr>
          <a:xfrm>
            <a:off x="4709160" y="3767328"/>
            <a:ext cx="1600200" cy="713232"/>
          </a:xfrm>
          <a:prstGeom prst="rect">
            <a:avLst/>
          </a:prstGeom>
          <a:noFill/>
          <a:ln/>
        </p:spPr>
        <p:txBody>
          <a:bodyPr wrap="square" lIns="0" tIns="0" rIns="0" bIns="0" rtlCol="0" anchor="t"/>
          <a:lstStyle/>
          <a:p>
            <a:pPr indent="0" marL="0">
              <a:buNone/>
            </a:pPr>
            <a:r>
              <a:rPr lang="en-US" sz="900" b="1" dirty="0">
                <a:solidFill>
                  <a:srgbClr val="B42318"/>
                </a:solidFill>
              </a:rPr>
              <a:t>Does not solve</a:t>
            </a:r>
            <a:endParaRPr lang="en-US" sz="900" dirty="0"/>
          </a:p>
          <a:p>
            <a:pPr indent="0" marL="0">
              <a:buNone/>
            </a:pPr>
            <a:r>
              <a:rPr lang="en-US" sz="1050" dirty="0">
                <a:solidFill>
                  <a:srgbClr val="0F3B38"/>
                </a:solidFill>
              </a:rPr>
              <a:t>Built around metabolic data. No per-organ risk or doctor what-if in public descriptions</a:t>
            </a:r>
            <a:endParaRPr lang="en-US" sz="900" dirty="0"/>
          </a:p>
        </p:txBody>
      </p:sp>
      <p:sp>
        <p:nvSpPr>
          <p:cNvPr id="25" name="Shape 23"/>
          <p:cNvSpPr/>
          <p:nvPr/>
        </p:nvSpPr>
        <p:spPr>
          <a:xfrm>
            <a:off x="6583680" y="1481328"/>
            <a:ext cx="1874520" cy="3017520"/>
          </a:xfrm>
          <a:prstGeom prst="roundRect">
            <a:avLst>
              <a:gd name="adj" fmla="val 4878"/>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26" name="Shape 24"/>
          <p:cNvSpPr/>
          <p:nvPr/>
        </p:nvSpPr>
        <p:spPr>
          <a:xfrm>
            <a:off x="6720840" y="1600200"/>
            <a:ext cx="457200" cy="457200"/>
          </a:xfrm>
          <a:prstGeom prst="ellipse">
            <a:avLst/>
          </a:prstGeom>
          <a:solidFill>
            <a:srgbClr val="E7F2F0"/>
          </a:solidFill>
          <a:ln w="12700">
            <a:solidFill>
              <a:srgbClr val="E7F2F0"/>
            </a:solidFill>
            <a:prstDash val="solid"/>
          </a:ln>
        </p:spPr>
      </p:sp>
      <p:sp>
        <p:nvSpPr>
          <p:cNvPr id="27" name="Text 25"/>
          <p:cNvSpPr txBox="1"/>
          <p:nvPr/>
        </p:nvSpPr>
        <p:spPr>
          <a:xfrm>
            <a:off x="6720840" y="1600200"/>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28" name="Text 26"/>
          <p:cNvSpPr txBox="1"/>
          <p:nvPr/>
        </p:nvSpPr>
        <p:spPr>
          <a:xfrm>
            <a:off x="6720840" y="2103120"/>
            <a:ext cx="1600200" cy="457200"/>
          </a:xfrm>
          <a:prstGeom prst="rect">
            <a:avLst/>
          </a:prstGeom>
          <a:noFill/>
          <a:ln/>
        </p:spPr>
        <p:txBody>
          <a:bodyPr wrap="square" lIns="0" tIns="0" rIns="0" bIns="0" rtlCol="0" anchor="t"/>
          <a:lstStyle/>
          <a:p>
            <a:pPr indent="0" marL="0">
              <a:buNone/>
            </a:pPr>
            <a:r>
              <a:rPr lang="en-US" sz="1250" b="1" dirty="0">
                <a:solidFill>
                  <a:srgbClr val="0F3B38"/>
                </a:solidFill>
              </a:rPr>
              <a:t>Single-organ AI and tests</a:t>
            </a:r>
            <a:endParaRPr lang="en-US" sz="1250" dirty="0"/>
          </a:p>
        </p:txBody>
      </p:sp>
      <p:sp>
        <p:nvSpPr>
          <p:cNvPr id="29" name="Text 27"/>
          <p:cNvSpPr txBox="1"/>
          <p:nvPr/>
        </p:nvSpPr>
        <p:spPr>
          <a:xfrm>
            <a:off x="6720840" y="2578608"/>
            <a:ext cx="1600200" cy="502920"/>
          </a:xfrm>
          <a:prstGeom prst="rect">
            <a:avLst/>
          </a:prstGeom>
          <a:noFill/>
          <a:ln/>
        </p:spPr>
        <p:txBody>
          <a:bodyPr wrap="square" lIns="0" tIns="0" rIns="0" bIns="0" rtlCol="0" anchor="t"/>
          <a:lstStyle/>
          <a:p>
            <a:pPr indent="0" marL="0">
              <a:buNone/>
            </a:pPr>
            <a:r>
              <a:rPr lang="en-US" sz="950" i="1" dirty="0">
                <a:solidFill>
                  <a:srgbClr val="5B6B77"/>
                </a:solidFill>
              </a:rPr>
              <a:t>AI retina screening (e.g. Remidio), FibroScan, yearly eGFR and UACR labs</a:t>
            </a:r>
            <a:endParaRPr lang="en-US" sz="950" dirty="0"/>
          </a:p>
        </p:txBody>
      </p:sp>
      <p:sp>
        <p:nvSpPr>
          <p:cNvPr id="30" name="Text 28"/>
          <p:cNvSpPr txBox="1"/>
          <p:nvPr/>
        </p:nvSpPr>
        <p:spPr>
          <a:xfrm>
            <a:off x="6720840" y="3108960"/>
            <a:ext cx="1600200" cy="640080"/>
          </a:xfrm>
          <a:prstGeom prst="rect">
            <a:avLst/>
          </a:prstGeom>
          <a:noFill/>
          <a:ln/>
        </p:spPr>
        <p:txBody>
          <a:bodyPr wrap="square" lIns="0" tIns="0" rIns="0" bIns="0" rtlCol="0" anchor="t"/>
          <a:lstStyle/>
          <a:p>
            <a:pPr indent="0" marL="0">
              <a:buNone/>
            </a:pPr>
            <a:r>
              <a:rPr lang="en-US" sz="900" b="1" dirty="0">
                <a:solidFill>
                  <a:srgbClr val="0F7068"/>
                </a:solidFill>
              </a:rPr>
              <a:t>Does well</a:t>
            </a:r>
            <a:endParaRPr lang="en-US" sz="900" dirty="0"/>
          </a:p>
          <a:p>
            <a:pPr indent="0" marL="0">
              <a:buNone/>
            </a:pPr>
            <a:r>
              <a:rPr lang="en-US" sz="1050" dirty="0">
                <a:solidFill>
                  <a:srgbClr val="0F3B38"/>
                </a:solidFill>
              </a:rPr>
              <a:t>Strong for one organ at one moment</a:t>
            </a:r>
            <a:endParaRPr lang="en-US" sz="900" dirty="0"/>
          </a:p>
        </p:txBody>
      </p:sp>
      <p:sp>
        <p:nvSpPr>
          <p:cNvPr id="31" name="Text 29"/>
          <p:cNvSpPr txBox="1"/>
          <p:nvPr/>
        </p:nvSpPr>
        <p:spPr>
          <a:xfrm>
            <a:off x="6720840" y="3767328"/>
            <a:ext cx="1600200" cy="713232"/>
          </a:xfrm>
          <a:prstGeom prst="rect">
            <a:avLst/>
          </a:prstGeom>
          <a:noFill/>
          <a:ln/>
        </p:spPr>
        <p:txBody>
          <a:bodyPr wrap="square" lIns="0" tIns="0" rIns="0" bIns="0" rtlCol="0" anchor="t"/>
          <a:lstStyle/>
          <a:p>
            <a:pPr indent="0" marL="0">
              <a:buNone/>
            </a:pPr>
            <a:r>
              <a:rPr lang="en-US" sz="900" b="1" dirty="0">
                <a:solidFill>
                  <a:srgbClr val="B42318"/>
                </a:solidFill>
              </a:rPr>
              <a:t>Does not solve</a:t>
            </a:r>
            <a:endParaRPr lang="en-US" sz="900" dirty="0"/>
          </a:p>
          <a:p>
            <a:pPr indent="0" marL="0">
              <a:buNone/>
            </a:pPr>
            <a:r>
              <a:rPr lang="en-US" sz="1050" dirty="0">
                <a:solidFill>
                  <a:srgbClr val="0F3B38"/>
                </a:solidFill>
              </a:rPr>
              <a:t>A snapshot, not linked to daily glucose. Each in its own silo</a:t>
            </a:r>
            <a:endParaRPr lang="en-US" sz="900" dirty="0"/>
          </a:p>
        </p:txBody>
      </p:sp>
      <p:sp>
        <p:nvSpPr>
          <p:cNvPr id="32" name="Source"/>
          <p:cNvSpPr txBox="1"/>
          <p:nvPr/>
        </p:nvSpPr>
        <p:spPr>
          <a:xfrm>
            <a:off x="548640" y="4572000"/>
            <a:ext cx="8046720" cy="228600"/>
          </a:xfrm>
          <a:prstGeom prst="rect">
            <a:avLst/>
          </a:prstGeom>
          <a:noFill/>
          <a:ln/>
        </p:spPr>
        <p:txBody>
          <a:bodyPr wrap="square" lIns="0" tIns="0" rIns="0" bIns="0" rtlCol="0" anchor="ctr"/>
          <a:lstStyle/>
          <a:p>
            <a:pPr indent="0" marL="0">
              <a:buNone/>
            </a:pPr>
            <a:r>
              <a:rPr lang="en-US" sz="900" i="1" dirty="0">
                <a:solidFill>
                  <a:srgbClr val="5B6B77"/>
                </a:solidFill>
              </a:rPr>
              <a:t>Based on public product descriptions. Company names are examples, not an exhaustive list.</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THE GAP</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No one links daily glucose to organ damage</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914400"/>
        </p:xfrm>
        <a:graphic>
          <a:graphicData uri="http://schemas.openxmlformats.org/drawingml/2006/table">
            <a:tbl>
              <a:tblPr/>
              <a:tblGrid>
                <a:gridCol w="2926080"/>
                <a:gridCol w="1005840"/>
                <a:gridCol w="1005840"/>
                <a:gridCol w="1005840"/>
                <a:gridCol w="1097280"/>
                <a:gridCol w="1005840"/>
              </a:tblGrid>
              <a:tr h="310896">
                <a:tc>
                  <a:txBody>
                    <a:bodyPr/>
                    <a:lstStyle/>
                    <a:p>
                      <a:pPr algn="l" indent="0" marL="0">
                        <a:buNone/>
                      </a:pP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algn="ctr" indent="0" marL="0">
                        <a:buNone/>
                      </a:pPr>
                      <a:r>
                        <a:rPr lang="en-US" sz="1050" b="1" dirty="0">
                          <a:solidFill>
                            <a:srgbClr val="0F3B38"/>
                          </a:solidFill>
                          <a:latin typeface="Calibri" pitchFamily="34" charset="0"/>
                          <a:ea typeface="Calibri" pitchFamily="34" charset="-122"/>
                          <a:cs typeface="Calibri" pitchFamily="34" charset="-120"/>
                        </a:rPr>
                        <a:t>CGMs and meters</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algn="ctr" indent="0" marL="0">
                        <a:buNone/>
                      </a:pPr>
                      <a:r>
                        <a:rPr lang="en-US" sz="1050" b="1" dirty="0">
                          <a:solidFill>
                            <a:srgbClr val="0F3B38"/>
                          </a:solidFill>
                          <a:latin typeface="Calibri" pitchFamily="34" charset="0"/>
                          <a:ea typeface="Calibri" pitchFamily="34" charset="-122"/>
                          <a:cs typeface="Calibri" pitchFamily="34" charset="-120"/>
                        </a:rPr>
                        <a:t>Coaching apps</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algn="ctr" indent="0" marL="0">
                        <a:buNone/>
                      </a:pPr>
                      <a:r>
                        <a:rPr lang="en-US" sz="1050" b="1" dirty="0">
                          <a:solidFill>
                            <a:srgbClr val="0F3B38"/>
                          </a:solidFill>
                          <a:latin typeface="Calibri" pitchFamily="34" charset="0"/>
                          <a:ea typeface="Calibri" pitchFamily="34" charset="-122"/>
                          <a:cs typeface="Calibri" pitchFamily="34" charset="-120"/>
                        </a:rPr>
                        <a:t>Metabolic twin</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algn="ctr" indent="0" marL="0">
                        <a:buNone/>
                      </a:pPr>
                      <a:r>
                        <a:rPr lang="en-US" sz="1050" b="1" dirty="0">
                          <a:solidFill>
                            <a:srgbClr val="0F3B38"/>
                          </a:solidFill>
                          <a:latin typeface="Calibri" pitchFamily="34" charset="0"/>
                          <a:ea typeface="Calibri" pitchFamily="34" charset="-122"/>
                          <a:cs typeface="Calibri" pitchFamily="34" charset="-120"/>
                        </a:rPr>
                        <a:t>Single-organ AI</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Kaya</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0F7068"/>
                    </a:solidFill>
                  </a:tcPr>
                </a:tc>
              </a:tr>
              <a:tr h="310896">
                <a:tc>
                  <a:txBody>
                    <a:bodyPr/>
                    <a:lstStyle/>
                    <a:p>
                      <a:pPr algn="l" indent="0" marL="0">
                        <a:buNone/>
                      </a:pPr>
                      <a:r>
                        <a:rPr lang="en-US" sz="1100" dirty="0">
                          <a:solidFill>
                            <a:srgbClr val="0F3B38"/>
                          </a:solidFill>
                          <a:latin typeface="Calibri" pitchFamily="34" charset="0"/>
                          <a:ea typeface="Calibri" pitchFamily="34" charset="-122"/>
                          <a:cs typeface="Calibri" pitchFamily="34" charset="-120"/>
                        </a:rPr>
                        <a:t>Tracks and forecasts glucose</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3B3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3B3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r>
              <a:tr h="310896">
                <a:tc>
                  <a:txBody>
                    <a:bodyPr/>
                    <a:lstStyle/>
                    <a:p>
                      <a:pPr algn="l" indent="0" marL="0">
                        <a:buNone/>
                      </a:pPr>
                      <a:r>
                        <a:rPr lang="en-US" sz="1100" dirty="0">
                          <a:solidFill>
                            <a:srgbClr val="0F3B38"/>
                          </a:solidFill>
                          <a:latin typeface="Calibri" pitchFamily="34" charset="0"/>
                          <a:ea typeface="Calibri" pitchFamily="34" charset="-122"/>
                          <a:cs typeface="Calibri" pitchFamily="34" charset="-120"/>
                        </a:rPr>
                        <a:t>Diet and lifestyle coaching</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3B3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3B3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r>
              <a:tr h="310896">
                <a:tc>
                  <a:txBody>
                    <a:bodyPr/>
                    <a:lstStyle/>
                    <a:p>
                      <a:pPr algn="l" indent="0" marL="0">
                        <a:buNone/>
                      </a:pPr>
                      <a:r>
                        <a:rPr lang="en-US" sz="1100" dirty="0">
                          <a:solidFill>
                            <a:srgbClr val="0F3B38"/>
                          </a:solidFill>
                          <a:latin typeface="Calibri" pitchFamily="34" charset="0"/>
                          <a:ea typeface="Calibri" pitchFamily="34" charset="-122"/>
                          <a:cs typeface="Calibri" pitchFamily="34" charset="-120"/>
                        </a:rPr>
                        <a:t>Liver risk from daily glucose</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r>
              <a:tr h="310896">
                <a:tc>
                  <a:txBody>
                    <a:bodyPr/>
                    <a:lstStyle/>
                    <a:p>
                      <a:pPr algn="l" indent="0" marL="0">
                        <a:buNone/>
                      </a:pPr>
                      <a:r>
                        <a:rPr lang="en-US" sz="1100" dirty="0">
                          <a:solidFill>
                            <a:srgbClr val="0F3B38"/>
                          </a:solidFill>
                          <a:latin typeface="Calibri" pitchFamily="34" charset="0"/>
                          <a:ea typeface="Calibri" pitchFamily="34" charset="-122"/>
                          <a:cs typeface="Calibri" pitchFamily="34" charset="-120"/>
                        </a:rPr>
                        <a:t>Eye: retinopathy grade and progression</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r>
              <a:tr h="310896">
                <a:tc>
                  <a:txBody>
                    <a:bodyPr/>
                    <a:lstStyle/>
                    <a:p>
                      <a:pPr algn="l" indent="0" marL="0">
                        <a:buNone/>
                      </a:pPr>
                      <a:r>
                        <a:rPr lang="en-US" sz="1100" dirty="0">
                          <a:solidFill>
                            <a:srgbClr val="0F3B38"/>
                          </a:solidFill>
                          <a:latin typeface="Calibri" pitchFamily="34" charset="0"/>
                          <a:ea typeface="Calibri" pitchFamily="34" charset="-122"/>
                          <a:cs typeface="Calibri" pitchFamily="34" charset="-120"/>
                        </a:rPr>
                        <a:t>Kidney: eGFR trajectory and risk</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r>
              <a:tr h="310896">
                <a:tc>
                  <a:txBody>
                    <a:bodyPr/>
                    <a:lstStyle/>
                    <a:p>
                      <a:pPr algn="l" indent="0" marL="0">
                        <a:buNone/>
                      </a:pPr>
                      <a:r>
                        <a:rPr lang="en-US" sz="1100" dirty="0">
                          <a:solidFill>
                            <a:srgbClr val="0F3B38"/>
                          </a:solidFill>
                          <a:latin typeface="Calibri" pitchFamily="34" charset="0"/>
                          <a:ea typeface="Calibri" pitchFamily="34" charset="-122"/>
                          <a:cs typeface="Calibri" pitchFamily="34" charset="-120"/>
                        </a:rPr>
                        <a:t>Doctor what-if on a virtual patient</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r>
              <a:tr h="310896">
                <a:tc>
                  <a:txBody>
                    <a:bodyPr/>
                    <a:lstStyle/>
                    <a:p>
                      <a:pPr algn="l" indent="0" marL="0">
                        <a:buNone/>
                      </a:pPr>
                      <a:r>
                        <a:rPr lang="en-US" sz="1100" dirty="0">
                          <a:solidFill>
                            <a:srgbClr val="0F3B38"/>
                          </a:solidFill>
                          <a:latin typeface="Calibri" pitchFamily="34" charset="0"/>
                          <a:ea typeface="Calibri" pitchFamily="34" charset="-122"/>
                          <a:cs typeface="Calibri" pitchFamily="34" charset="-120"/>
                        </a:rPr>
                        <a:t>Patient app in Hindi, Telugu, Kannada, with voice</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r>
            </a:tbl>
          </a:graphicData>
        </a:graphic>
      </p:graphicFrame>
      <p:sp>
        <p:nvSpPr>
          <p:cNvPr id="5" name="Shape 2"/>
          <p:cNvSpPr/>
          <p:nvPr/>
        </p:nvSpPr>
        <p:spPr>
          <a:xfrm>
            <a:off x="548640" y="4114800"/>
            <a:ext cx="8046720" cy="457200"/>
          </a:xfrm>
          <a:prstGeom prst="roundRect">
            <a:avLst>
              <a:gd name="adj" fmla="val 20000"/>
            </a:avLst>
          </a:prstGeom>
          <a:solidFill>
            <a:srgbClr val="0F3B38"/>
          </a:solidFill>
          <a:ln w="12700">
            <a:solidFill>
              <a:srgbClr val="0F3B38"/>
            </a:solidFill>
            <a:prstDash val="solid"/>
          </a:ln>
        </p:spPr>
      </p:sp>
      <p:sp>
        <p:nvSpPr>
          <p:cNvPr id="6" name="Text 3"/>
          <p:cNvSpPr txBox="1"/>
          <p:nvPr/>
        </p:nvSpPr>
        <p:spPr>
          <a:xfrm>
            <a:off x="731520" y="4114800"/>
            <a:ext cx="7680960" cy="457200"/>
          </a:xfrm>
          <a:prstGeom prst="rect">
            <a:avLst/>
          </a:prstGeom>
          <a:noFill/>
          <a:ln/>
        </p:spPr>
        <p:txBody>
          <a:bodyPr wrap="square" lIns="0" tIns="0" rIns="0" bIns="0" rtlCol="0" anchor="ctr"/>
          <a:lstStyle/>
          <a:p>
            <a:pPr indent="0" marL="0">
              <a:buNone/>
            </a:pPr>
            <a:r>
              <a:rPr lang="en-US" sz="1200" b="1" dirty="0">
                <a:solidFill>
                  <a:srgbClr val="E8A03C"/>
                </a:solidFill>
              </a:rPr>
              <a:t>The gap:  </a:t>
            </a:r>
            <a:pPr indent="0" marL="0">
              <a:buNone/>
            </a:pPr>
            <a:r>
              <a:rPr lang="en-US" sz="1200" dirty="0">
                <a:solidFill>
                  <a:srgbClr val="FFFFFF"/>
                </a:solidFill>
              </a:rPr>
              <a:t>connect glucose to the liver, eyes and kidneys, and let a doctor test a change on the twin before the real patient.</a:t>
            </a:r>
            <a:endParaRPr lang="en-US" sz="1200" dirty="0"/>
          </a:p>
        </p:txBody>
      </p:sp>
      <p:sp>
        <p:nvSpPr>
          <p:cNvPr id="7" name="Text 4"/>
          <p:cNvSpPr txBox="1"/>
          <p:nvPr/>
        </p:nvSpPr>
        <p:spPr>
          <a:xfrm>
            <a:off x="548640" y="4608576"/>
            <a:ext cx="8046720" cy="201168"/>
          </a:xfrm>
          <a:prstGeom prst="rect">
            <a:avLst/>
          </a:prstGeom>
          <a:noFill/>
          <a:ln/>
        </p:spPr>
        <p:txBody>
          <a:bodyPr wrap="square" lIns="0" tIns="0" rIns="0" bIns="0" rtlCol="0" anchor="ctr"/>
          <a:lstStyle/>
          <a:p>
            <a:pPr indent="0" marL="0">
              <a:buNone/>
            </a:pPr>
            <a:r>
              <a:rPr lang="en-US" sz="900" i="1" dirty="0">
                <a:solidFill>
                  <a:srgbClr val="5B6B77"/>
                </a:solidFill>
              </a:rPr>
              <a:t>●  does it     ◐  partial or not publicly documented     ○  does not</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OUR SOLUTION</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Meet Kaya: one living twin for every patient</a:t>
            </a:r>
            <a:endParaRPr lang="en-US" sz="2500" dirty="0"/>
          </a:p>
        </p:txBody>
      </p:sp>
      <p:sp>
        <p:nvSpPr>
          <p:cNvPr id="4" name="Shape 2"/>
          <p:cNvSpPr/>
          <p:nvPr/>
        </p:nvSpPr>
        <p:spPr>
          <a:xfrm>
            <a:off x="548640" y="1481328"/>
            <a:ext cx="2560320" cy="2148840"/>
          </a:xfrm>
          <a:prstGeom prst="roundRect">
            <a:avLst>
              <a:gd name="adj" fmla="val 4255"/>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5" name="Shape 3"/>
          <p:cNvSpPr/>
          <p:nvPr/>
        </p:nvSpPr>
        <p:spPr>
          <a:xfrm>
            <a:off x="731520" y="1645920"/>
            <a:ext cx="566928" cy="566928"/>
          </a:xfrm>
          <a:prstGeom prst="ellipse">
            <a:avLst/>
          </a:prstGeom>
          <a:solidFill>
            <a:srgbClr val="E7F2F0"/>
          </a:solidFill>
          <a:ln w="12700">
            <a:solidFill>
              <a:srgbClr val="E7F2F0"/>
            </a:solidFill>
            <a:prstDash val="solid"/>
          </a:ln>
        </p:spPr>
      </p:sp>
      <p:sp>
        <p:nvSpPr>
          <p:cNvPr id="6" name="Text 4"/>
          <p:cNvSpPr txBox="1"/>
          <p:nvPr/>
        </p:nvSpPr>
        <p:spPr>
          <a:xfrm>
            <a:off x="731520" y="1645920"/>
            <a:ext cx="566928" cy="566928"/>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7" name="Text 5"/>
          <p:cNvSpPr txBox="1"/>
          <p:nvPr/>
        </p:nvSpPr>
        <p:spPr>
          <a:xfrm>
            <a:off x="1417320" y="1645920"/>
            <a:ext cx="1600200" cy="310896"/>
          </a:xfrm>
          <a:prstGeom prst="rect">
            <a:avLst/>
          </a:prstGeom>
          <a:noFill/>
          <a:ln/>
        </p:spPr>
        <p:txBody>
          <a:bodyPr wrap="square" lIns="0" tIns="0" rIns="0" bIns="0" rtlCol="0" anchor="ctr"/>
          <a:lstStyle/>
          <a:p>
            <a:pPr indent="0" marL="0">
              <a:buNone/>
            </a:pPr>
            <a:r>
              <a:rPr lang="en-US" sz="1800" b="1" dirty="0">
                <a:solidFill>
                  <a:srgbClr val="0F3B38"/>
                </a:solidFill>
              </a:rPr>
              <a:t>1  Fuse</a:t>
            </a:r>
            <a:endParaRPr lang="en-US" sz="1800" dirty="0"/>
          </a:p>
        </p:txBody>
      </p:sp>
      <p:sp>
        <p:nvSpPr>
          <p:cNvPr id="8" name="Text 6"/>
          <p:cNvSpPr txBox="1"/>
          <p:nvPr/>
        </p:nvSpPr>
        <p:spPr>
          <a:xfrm>
            <a:off x="1417320" y="1956816"/>
            <a:ext cx="1600200" cy="256032"/>
          </a:xfrm>
          <a:prstGeom prst="rect">
            <a:avLst/>
          </a:prstGeom>
          <a:noFill/>
          <a:ln/>
        </p:spPr>
        <p:txBody>
          <a:bodyPr wrap="square" lIns="0" tIns="0" rIns="0" bIns="0" rtlCol="0" anchor="ctr"/>
          <a:lstStyle/>
          <a:p>
            <a:pPr indent="0" marL="0">
              <a:buNone/>
            </a:pPr>
            <a:r>
              <a:rPr lang="en-US" sz="1100" b="1" dirty="0">
                <a:solidFill>
                  <a:srgbClr val="0F7068"/>
                </a:solidFill>
              </a:rPr>
              <a:t>One twin per patient</a:t>
            </a:r>
            <a:endParaRPr lang="en-US" sz="1100" dirty="0"/>
          </a:p>
        </p:txBody>
      </p:sp>
      <p:sp>
        <p:nvSpPr>
          <p:cNvPr id="9" name="Text 7"/>
          <p:cNvSpPr txBox="1"/>
          <p:nvPr/>
        </p:nvSpPr>
        <p:spPr>
          <a:xfrm>
            <a:off x="731520" y="2395728"/>
            <a:ext cx="2194560" cy="1143000"/>
          </a:xfrm>
          <a:prstGeom prst="rect">
            <a:avLst/>
          </a:prstGeom>
          <a:noFill/>
          <a:ln/>
        </p:spPr>
        <p:txBody>
          <a:bodyPr wrap="square" lIns="0" tIns="0" rIns="0" bIns="0" rtlCol="0" anchor="t"/>
          <a:lstStyle/>
          <a:p>
            <a:pPr indent="0" marL="0">
              <a:buNone/>
            </a:pPr>
            <a:r>
              <a:rPr lang="en-US" sz="1200" dirty="0">
                <a:solidFill>
                  <a:srgbClr val="5B6B77"/>
                </a:solidFill>
              </a:rPr>
              <a:t>Hospital records and labs, wearable glucose, heart rate and sleep, and the retina scan, combined into one patient state.</a:t>
            </a:r>
            <a:endParaRPr lang="en-US" sz="1200" dirty="0"/>
          </a:p>
        </p:txBody>
      </p:sp>
      <p:sp>
        <p:nvSpPr>
          <p:cNvPr id="10" name="Shape 8"/>
          <p:cNvSpPr/>
          <p:nvPr/>
        </p:nvSpPr>
        <p:spPr>
          <a:xfrm>
            <a:off x="3127248" y="2542032"/>
            <a:ext cx="146304" cy="0"/>
          </a:xfrm>
          <a:prstGeom prst="line">
            <a:avLst/>
          </a:prstGeom>
          <a:noFill/>
          <a:ln w="25400">
            <a:solidFill>
              <a:srgbClr val="0F7068"/>
            </a:solidFill>
            <a:prstDash val="solid"/>
            <a:tailEnd type="triangle"/>
          </a:ln>
        </p:spPr>
      </p:sp>
      <p:sp>
        <p:nvSpPr>
          <p:cNvPr id="11" name="Shape 9"/>
          <p:cNvSpPr/>
          <p:nvPr/>
        </p:nvSpPr>
        <p:spPr>
          <a:xfrm>
            <a:off x="3291840" y="1481328"/>
            <a:ext cx="2560320" cy="2148840"/>
          </a:xfrm>
          <a:prstGeom prst="roundRect">
            <a:avLst>
              <a:gd name="adj" fmla="val 4255"/>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2" name="Shape 10"/>
          <p:cNvSpPr/>
          <p:nvPr/>
        </p:nvSpPr>
        <p:spPr>
          <a:xfrm>
            <a:off x="3474720" y="1645920"/>
            <a:ext cx="566928" cy="566928"/>
          </a:xfrm>
          <a:prstGeom prst="ellipse">
            <a:avLst/>
          </a:prstGeom>
          <a:solidFill>
            <a:srgbClr val="E7F2F0"/>
          </a:solidFill>
          <a:ln w="12700">
            <a:solidFill>
              <a:srgbClr val="E7F2F0"/>
            </a:solidFill>
            <a:prstDash val="solid"/>
          </a:ln>
        </p:spPr>
      </p:sp>
      <p:sp>
        <p:nvSpPr>
          <p:cNvPr id="13" name="Text 11"/>
          <p:cNvSpPr txBox="1"/>
          <p:nvPr/>
        </p:nvSpPr>
        <p:spPr>
          <a:xfrm>
            <a:off x="3474720" y="1645920"/>
            <a:ext cx="566928" cy="566928"/>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14" name="Text 12"/>
          <p:cNvSpPr txBox="1"/>
          <p:nvPr/>
        </p:nvSpPr>
        <p:spPr>
          <a:xfrm>
            <a:off x="4160520" y="1645920"/>
            <a:ext cx="1600200" cy="310896"/>
          </a:xfrm>
          <a:prstGeom prst="rect">
            <a:avLst/>
          </a:prstGeom>
          <a:noFill/>
          <a:ln/>
        </p:spPr>
        <p:txBody>
          <a:bodyPr wrap="square" lIns="0" tIns="0" rIns="0" bIns="0" rtlCol="0" anchor="ctr"/>
          <a:lstStyle/>
          <a:p>
            <a:pPr indent="0" marL="0">
              <a:buNone/>
            </a:pPr>
            <a:r>
              <a:rPr lang="en-US" sz="1800" b="1" dirty="0">
                <a:solidFill>
                  <a:srgbClr val="0F3B38"/>
                </a:solidFill>
              </a:rPr>
              <a:t>2  Foresee</a:t>
            </a:r>
            <a:endParaRPr lang="en-US" sz="1800" dirty="0"/>
          </a:p>
        </p:txBody>
      </p:sp>
      <p:sp>
        <p:nvSpPr>
          <p:cNvPr id="15" name="Text 13"/>
          <p:cNvSpPr txBox="1"/>
          <p:nvPr/>
        </p:nvSpPr>
        <p:spPr>
          <a:xfrm>
            <a:off x="4160520" y="1956816"/>
            <a:ext cx="1600200" cy="256032"/>
          </a:xfrm>
          <a:prstGeom prst="rect">
            <a:avLst/>
          </a:prstGeom>
          <a:noFill/>
          <a:ln/>
        </p:spPr>
        <p:txBody>
          <a:bodyPr wrap="square" lIns="0" tIns="0" rIns="0" bIns="0" rtlCol="0" anchor="ctr"/>
          <a:lstStyle/>
          <a:p>
            <a:pPr indent="0" marL="0">
              <a:buNone/>
            </a:pPr>
            <a:r>
              <a:rPr lang="en-US" sz="1100" b="1" dirty="0">
                <a:solidFill>
                  <a:srgbClr val="0F7068"/>
                </a:solidFill>
              </a:rPr>
              <a:t>Sugar and organs together</a:t>
            </a:r>
            <a:endParaRPr lang="en-US" sz="1100" dirty="0"/>
          </a:p>
        </p:txBody>
      </p:sp>
      <p:sp>
        <p:nvSpPr>
          <p:cNvPr id="16" name="Text 14"/>
          <p:cNvSpPr txBox="1"/>
          <p:nvPr/>
        </p:nvSpPr>
        <p:spPr>
          <a:xfrm>
            <a:off x="3474720" y="2395728"/>
            <a:ext cx="2194560" cy="1143000"/>
          </a:xfrm>
          <a:prstGeom prst="rect">
            <a:avLst/>
          </a:prstGeom>
          <a:noFill/>
          <a:ln/>
        </p:spPr>
        <p:txBody>
          <a:bodyPr wrap="square" lIns="0" tIns="0" rIns="0" bIns="0" rtlCol="0" anchor="t"/>
          <a:lstStyle/>
          <a:p>
            <a:pPr indent="0" marL="0">
              <a:buNone/>
            </a:pPr>
            <a:r>
              <a:rPr lang="en-US" sz="1200" dirty="0">
                <a:solidFill>
                  <a:srgbClr val="5B6B77"/>
                </a:solidFill>
              </a:rPr>
              <a:t>Glucose two hours ahead, plus liver, eye and kidney risk and where each is heading, with honest uncertainty.</a:t>
            </a:r>
            <a:endParaRPr lang="en-US" sz="1200" dirty="0"/>
          </a:p>
        </p:txBody>
      </p:sp>
      <p:sp>
        <p:nvSpPr>
          <p:cNvPr id="17" name="Shape 15"/>
          <p:cNvSpPr/>
          <p:nvPr/>
        </p:nvSpPr>
        <p:spPr>
          <a:xfrm>
            <a:off x="5870448" y="2542032"/>
            <a:ext cx="146304" cy="0"/>
          </a:xfrm>
          <a:prstGeom prst="line">
            <a:avLst/>
          </a:prstGeom>
          <a:noFill/>
          <a:ln w="25400">
            <a:solidFill>
              <a:srgbClr val="0F7068"/>
            </a:solidFill>
            <a:prstDash val="solid"/>
            <a:tailEnd type="triangle"/>
          </a:ln>
        </p:spPr>
      </p:sp>
      <p:sp>
        <p:nvSpPr>
          <p:cNvPr id="18" name="Shape 16"/>
          <p:cNvSpPr/>
          <p:nvPr/>
        </p:nvSpPr>
        <p:spPr>
          <a:xfrm>
            <a:off x="6035040" y="1481328"/>
            <a:ext cx="2560320" cy="2148840"/>
          </a:xfrm>
          <a:prstGeom prst="roundRect">
            <a:avLst>
              <a:gd name="adj" fmla="val 4255"/>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9" name="Shape 17"/>
          <p:cNvSpPr/>
          <p:nvPr/>
        </p:nvSpPr>
        <p:spPr>
          <a:xfrm>
            <a:off x="6217920" y="1645920"/>
            <a:ext cx="566928" cy="566928"/>
          </a:xfrm>
          <a:prstGeom prst="ellipse">
            <a:avLst/>
          </a:prstGeom>
          <a:solidFill>
            <a:srgbClr val="E7F2F0"/>
          </a:solidFill>
          <a:ln w="12700">
            <a:solidFill>
              <a:srgbClr val="E7F2F0"/>
            </a:solidFill>
            <a:prstDash val="solid"/>
          </a:ln>
        </p:spPr>
      </p:sp>
      <p:sp>
        <p:nvSpPr>
          <p:cNvPr id="20" name="Text 18"/>
          <p:cNvSpPr txBox="1"/>
          <p:nvPr/>
        </p:nvSpPr>
        <p:spPr>
          <a:xfrm>
            <a:off x="6217920" y="1645920"/>
            <a:ext cx="566928" cy="566928"/>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21" name="Text 19"/>
          <p:cNvSpPr txBox="1"/>
          <p:nvPr/>
        </p:nvSpPr>
        <p:spPr>
          <a:xfrm>
            <a:off x="6903720" y="1645920"/>
            <a:ext cx="1600200" cy="310896"/>
          </a:xfrm>
          <a:prstGeom prst="rect">
            <a:avLst/>
          </a:prstGeom>
          <a:noFill/>
          <a:ln/>
        </p:spPr>
        <p:txBody>
          <a:bodyPr wrap="square" lIns="0" tIns="0" rIns="0" bIns="0" rtlCol="0" anchor="ctr"/>
          <a:lstStyle/>
          <a:p>
            <a:pPr indent="0" marL="0">
              <a:buNone/>
            </a:pPr>
            <a:r>
              <a:rPr lang="en-US" sz="1800" b="1" dirty="0">
                <a:solidFill>
                  <a:srgbClr val="0F3B38"/>
                </a:solidFill>
              </a:rPr>
              <a:t>3  Test first</a:t>
            </a:r>
            <a:endParaRPr lang="en-US" sz="1800" dirty="0"/>
          </a:p>
        </p:txBody>
      </p:sp>
      <p:sp>
        <p:nvSpPr>
          <p:cNvPr id="22" name="Text 20"/>
          <p:cNvSpPr txBox="1"/>
          <p:nvPr/>
        </p:nvSpPr>
        <p:spPr>
          <a:xfrm>
            <a:off x="6903720" y="1956816"/>
            <a:ext cx="1600200" cy="256032"/>
          </a:xfrm>
          <a:prstGeom prst="rect">
            <a:avLst/>
          </a:prstGeom>
          <a:noFill/>
          <a:ln/>
        </p:spPr>
        <p:txBody>
          <a:bodyPr wrap="square" lIns="0" tIns="0" rIns="0" bIns="0" rtlCol="0" anchor="ctr"/>
          <a:lstStyle/>
          <a:p>
            <a:pPr indent="0" marL="0">
              <a:buNone/>
            </a:pPr>
            <a:r>
              <a:rPr lang="en-US" sz="1100" b="1" dirty="0">
                <a:solidFill>
                  <a:srgbClr val="0F7068"/>
                </a:solidFill>
              </a:rPr>
              <a:t>Try it on the twin</a:t>
            </a:r>
            <a:endParaRPr lang="en-US" sz="1100" dirty="0"/>
          </a:p>
        </p:txBody>
      </p:sp>
      <p:sp>
        <p:nvSpPr>
          <p:cNvPr id="23" name="Text 21"/>
          <p:cNvSpPr txBox="1"/>
          <p:nvPr/>
        </p:nvSpPr>
        <p:spPr>
          <a:xfrm>
            <a:off x="6217920" y="2395728"/>
            <a:ext cx="2194560" cy="1143000"/>
          </a:xfrm>
          <a:prstGeom prst="rect">
            <a:avLst/>
          </a:prstGeom>
          <a:noFill/>
          <a:ln/>
        </p:spPr>
        <p:txBody>
          <a:bodyPr wrap="square" lIns="0" tIns="0" rIns="0" bIns="0" rtlCol="0" anchor="t"/>
          <a:lstStyle/>
          <a:p>
            <a:pPr indent="0" marL="0">
              <a:buNone/>
            </a:pPr>
            <a:r>
              <a:rPr lang="en-US" sz="1200" dirty="0">
                <a:solidFill>
                  <a:srgbClr val="5B6B77"/>
                </a:solidFill>
              </a:rPr>
              <a:t>A doctor or patient changes a meal, a walk, sleep or a medicine and sees the new glucose curve and one-year organ risk.</a:t>
            </a:r>
            <a:endParaRPr lang="en-US" sz="1200" dirty="0"/>
          </a:p>
        </p:txBody>
      </p:sp>
      <p:sp>
        <p:nvSpPr>
          <p:cNvPr id="24" name="Shape 22"/>
          <p:cNvSpPr/>
          <p:nvPr/>
        </p:nvSpPr>
        <p:spPr>
          <a:xfrm>
            <a:off x="548640" y="3749040"/>
            <a:ext cx="1874520" cy="822960"/>
          </a:xfrm>
          <a:prstGeom prst="roundRect">
            <a:avLst>
              <a:gd name="adj" fmla="val 8889"/>
            </a:avLst>
          </a:prstGeom>
          <a:solidFill>
            <a:srgbClr val="0F3B38"/>
          </a:solidFill>
          <a:ln w="12700">
            <a:solidFill>
              <a:srgbClr val="0F3B38"/>
            </a:solidFill>
            <a:prstDash val="solid"/>
          </a:ln>
        </p:spPr>
      </p:sp>
      <p:sp>
        <p:nvSpPr>
          <p:cNvPr id="25" name="Text 23"/>
          <p:cNvSpPr txBox="1"/>
          <p:nvPr/>
        </p:nvSpPr>
        <p:spPr>
          <a:xfrm>
            <a:off x="548640" y="3785616"/>
            <a:ext cx="1874520" cy="438912"/>
          </a:xfrm>
          <a:prstGeom prst="rect">
            <a:avLst/>
          </a:prstGeom>
          <a:noFill/>
          <a:ln/>
        </p:spPr>
        <p:txBody>
          <a:bodyPr wrap="square" lIns="0" tIns="0" rIns="0" bIns="0" rtlCol="0" anchor="ctr"/>
          <a:lstStyle/>
          <a:p>
            <a:pPr algn="ctr" indent="0" marL="0">
              <a:buNone/>
            </a:pPr>
            <a:r>
              <a:rPr lang="en-US" sz="2400" b="1" dirty="0">
                <a:solidFill>
                  <a:srgbClr val="E8A03C"/>
                </a:solidFill>
              </a:rPr>
              <a:t>2 h</a:t>
            </a:r>
            <a:endParaRPr lang="en-US" sz="2400" dirty="0"/>
          </a:p>
        </p:txBody>
      </p:sp>
      <p:sp>
        <p:nvSpPr>
          <p:cNvPr id="26" name="Text 24"/>
          <p:cNvSpPr txBox="1"/>
          <p:nvPr/>
        </p:nvSpPr>
        <p:spPr>
          <a:xfrm>
            <a:off x="640080" y="4224528"/>
            <a:ext cx="1691640" cy="310896"/>
          </a:xfrm>
          <a:prstGeom prst="rect">
            <a:avLst/>
          </a:prstGeom>
          <a:noFill/>
          <a:ln/>
        </p:spPr>
        <p:txBody>
          <a:bodyPr wrap="square" lIns="0" tIns="0" rIns="0" bIns="0" rtlCol="0" anchor="t"/>
          <a:lstStyle/>
          <a:p>
            <a:pPr algn="ctr" indent="0" marL="0">
              <a:buNone/>
            </a:pPr>
            <a:r>
              <a:rPr lang="en-US" sz="1000" dirty="0">
                <a:solidFill>
                  <a:srgbClr val="FFFFFF"/>
                </a:solidFill>
              </a:rPr>
              <a:t>glucose forecast, every 5 min</a:t>
            </a:r>
            <a:endParaRPr lang="en-US" sz="1000" dirty="0"/>
          </a:p>
        </p:txBody>
      </p:sp>
      <p:sp>
        <p:nvSpPr>
          <p:cNvPr id="27" name="Shape 25"/>
          <p:cNvSpPr/>
          <p:nvPr/>
        </p:nvSpPr>
        <p:spPr>
          <a:xfrm>
            <a:off x="2606040" y="3749040"/>
            <a:ext cx="1874520" cy="822960"/>
          </a:xfrm>
          <a:prstGeom prst="roundRect">
            <a:avLst>
              <a:gd name="adj" fmla="val 8889"/>
            </a:avLst>
          </a:prstGeom>
          <a:solidFill>
            <a:srgbClr val="0F3B38"/>
          </a:solidFill>
          <a:ln w="12700">
            <a:solidFill>
              <a:srgbClr val="0F3B38"/>
            </a:solidFill>
            <a:prstDash val="solid"/>
          </a:ln>
        </p:spPr>
      </p:sp>
      <p:sp>
        <p:nvSpPr>
          <p:cNvPr id="28" name="Text 26"/>
          <p:cNvSpPr txBox="1"/>
          <p:nvPr/>
        </p:nvSpPr>
        <p:spPr>
          <a:xfrm>
            <a:off x="2606040" y="3785616"/>
            <a:ext cx="1874520" cy="438912"/>
          </a:xfrm>
          <a:prstGeom prst="rect">
            <a:avLst/>
          </a:prstGeom>
          <a:noFill/>
          <a:ln/>
        </p:spPr>
        <p:txBody>
          <a:bodyPr wrap="square" lIns="0" tIns="0" rIns="0" bIns="0" rtlCol="0" anchor="ctr"/>
          <a:lstStyle/>
          <a:p>
            <a:pPr algn="ctr" indent="0" marL="0">
              <a:buNone/>
            </a:pPr>
            <a:r>
              <a:rPr lang="en-US" sz="2400" b="1" dirty="0">
                <a:solidFill>
                  <a:srgbClr val="E8A03C"/>
                </a:solidFill>
              </a:rPr>
              <a:t>4</a:t>
            </a:r>
            <a:endParaRPr lang="en-US" sz="2400" dirty="0"/>
          </a:p>
        </p:txBody>
      </p:sp>
      <p:sp>
        <p:nvSpPr>
          <p:cNvPr id="29" name="Text 27"/>
          <p:cNvSpPr txBox="1"/>
          <p:nvPr/>
        </p:nvSpPr>
        <p:spPr>
          <a:xfrm>
            <a:off x="2697480" y="4224528"/>
            <a:ext cx="1691640" cy="310896"/>
          </a:xfrm>
          <a:prstGeom prst="rect">
            <a:avLst/>
          </a:prstGeom>
          <a:noFill/>
          <a:ln/>
        </p:spPr>
        <p:txBody>
          <a:bodyPr wrap="square" lIns="0" tIns="0" rIns="0" bIns="0" rtlCol="0" anchor="t"/>
          <a:lstStyle/>
          <a:p>
            <a:pPr algn="ctr" indent="0" marL="0">
              <a:buNone/>
            </a:pPr>
            <a:r>
              <a:rPr lang="en-US" sz="1000" dirty="0">
                <a:solidFill>
                  <a:srgbClr val="FFFFFF"/>
                </a:solidFill>
              </a:rPr>
              <a:t>glucose, liver, eye, kidney</a:t>
            </a:r>
            <a:endParaRPr lang="en-US" sz="1000" dirty="0"/>
          </a:p>
        </p:txBody>
      </p:sp>
      <p:sp>
        <p:nvSpPr>
          <p:cNvPr id="30" name="Shape 28"/>
          <p:cNvSpPr/>
          <p:nvPr/>
        </p:nvSpPr>
        <p:spPr>
          <a:xfrm>
            <a:off x="4663440" y="3749040"/>
            <a:ext cx="1874520" cy="822960"/>
          </a:xfrm>
          <a:prstGeom prst="roundRect">
            <a:avLst>
              <a:gd name="adj" fmla="val 8889"/>
            </a:avLst>
          </a:prstGeom>
          <a:solidFill>
            <a:srgbClr val="0F3B38"/>
          </a:solidFill>
          <a:ln w="12700">
            <a:solidFill>
              <a:srgbClr val="0F3B38"/>
            </a:solidFill>
            <a:prstDash val="solid"/>
          </a:ln>
        </p:spPr>
      </p:sp>
      <p:sp>
        <p:nvSpPr>
          <p:cNvPr id="31" name="Text 29"/>
          <p:cNvSpPr txBox="1"/>
          <p:nvPr/>
        </p:nvSpPr>
        <p:spPr>
          <a:xfrm>
            <a:off x="4663440" y="3785616"/>
            <a:ext cx="1874520" cy="438912"/>
          </a:xfrm>
          <a:prstGeom prst="rect">
            <a:avLst/>
          </a:prstGeom>
          <a:noFill/>
          <a:ln/>
        </p:spPr>
        <p:txBody>
          <a:bodyPr wrap="square" lIns="0" tIns="0" rIns="0" bIns="0" rtlCol="0" anchor="ctr"/>
          <a:lstStyle/>
          <a:p>
            <a:pPr algn="ctr" indent="0" marL="0">
              <a:buNone/>
            </a:pPr>
            <a:r>
              <a:rPr lang="en-US" sz="2400" b="1" dirty="0">
                <a:solidFill>
                  <a:srgbClr val="E8A03C"/>
                </a:solidFill>
              </a:rPr>
              <a:t>~1 ms</a:t>
            </a:r>
            <a:endParaRPr lang="en-US" sz="2400" dirty="0"/>
          </a:p>
        </p:txBody>
      </p:sp>
      <p:sp>
        <p:nvSpPr>
          <p:cNvPr id="32" name="Text 30"/>
          <p:cNvSpPr txBox="1"/>
          <p:nvPr/>
        </p:nvSpPr>
        <p:spPr>
          <a:xfrm>
            <a:off x="4754880" y="4224528"/>
            <a:ext cx="1691640" cy="310896"/>
          </a:xfrm>
          <a:prstGeom prst="rect">
            <a:avLst/>
          </a:prstGeom>
          <a:noFill/>
          <a:ln/>
        </p:spPr>
        <p:txBody>
          <a:bodyPr wrap="square" lIns="0" tIns="0" rIns="0" bIns="0" rtlCol="0" anchor="t"/>
          <a:lstStyle/>
          <a:p>
            <a:pPr algn="ctr" indent="0" marL="0">
              <a:buNone/>
            </a:pPr>
            <a:r>
              <a:rPr lang="en-US" sz="1000" dirty="0">
                <a:solidFill>
                  <a:srgbClr val="FFFFFF"/>
                </a:solidFill>
              </a:rPr>
              <a:t>per reading, no GPU needed</a:t>
            </a:r>
            <a:endParaRPr lang="en-US" sz="1000" dirty="0"/>
          </a:p>
        </p:txBody>
      </p:sp>
      <p:sp>
        <p:nvSpPr>
          <p:cNvPr id="33" name="Shape 31"/>
          <p:cNvSpPr/>
          <p:nvPr/>
        </p:nvSpPr>
        <p:spPr>
          <a:xfrm>
            <a:off x="6720840" y="3749040"/>
            <a:ext cx="1874520" cy="822960"/>
          </a:xfrm>
          <a:prstGeom prst="roundRect">
            <a:avLst>
              <a:gd name="adj" fmla="val 8889"/>
            </a:avLst>
          </a:prstGeom>
          <a:solidFill>
            <a:srgbClr val="0F3B38"/>
          </a:solidFill>
          <a:ln w="12700">
            <a:solidFill>
              <a:srgbClr val="0F3B38"/>
            </a:solidFill>
            <a:prstDash val="solid"/>
          </a:ln>
        </p:spPr>
      </p:sp>
      <p:sp>
        <p:nvSpPr>
          <p:cNvPr id="34" name="Text 32"/>
          <p:cNvSpPr txBox="1"/>
          <p:nvPr/>
        </p:nvSpPr>
        <p:spPr>
          <a:xfrm>
            <a:off x="6720840" y="3785616"/>
            <a:ext cx="1874520" cy="438912"/>
          </a:xfrm>
          <a:prstGeom prst="rect">
            <a:avLst/>
          </a:prstGeom>
          <a:noFill/>
          <a:ln/>
        </p:spPr>
        <p:txBody>
          <a:bodyPr wrap="square" lIns="0" tIns="0" rIns="0" bIns="0" rtlCol="0" anchor="ctr"/>
          <a:lstStyle/>
          <a:p>
            <a:pPr algn="ctr" indent="0" marL="0">
              <a:buNone/>
            </a:pPr>
            <a:r>
              <a:rPr lang="en-US" sz="2400" b="1" dirty="0">
                <a:solidFill>
                  <a:srgbClr val="E8A03C"/>
                </a:solidFill>
              </a:rPr>
              <a:t>3</a:t>
            </a:r>
            <a:endParaRPr lang="en-US" sz="2400" dirty="0"/>
          </a:p>
        </p:txBody>
      </p:sp>
      <p:sp>
        <p:nvSpPr>
          <p:cNvPr id="35" name="Text 33"/>
          <p:cNvSpPr txBox="1"/>
          <p:nvPr/>
        </p:nvSpPr>
        <p:spPr>
          <a:xfrm>
            <a:off x="6812280" y="4224528"/>
            <a:ext cx="1691640" cy="310896"/>
          </a:xfrm>
          <a:prstGeom prst="rect">
            <a:avLst/>
          </a:prstGeom>
          <a:noFill/>
          <a:ln/>
        </p:spPr>
        <p:txBody>
          <a:bodyPr wrap="square" lIns="0" tIns="0" rIns="0" bIns="0" rtlCol="0" anchor="t"/>
          <a:lstStyle/>
          <a:p>
            <a:pPr algn="ctr" indent="0" marL="0">
              <a:buNone/>
            </a:pPr>
            <a:r>
              <a:rPr lang="en-US" sz="1000" dirty="0">
                <a:solidFill>
                  <a:srgbClr val="FFFFFF"/>
                </a:solidFill>
              </a:rPr>
              <a:t>roles: patient, doctor, admin</a:t>
            </a:r>
            <a:endParaRPr lang="en-US" sz="10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WHAT IS NEW</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Every gap we found, Kaya answers</a:t>
            </a:r>
            <a:endParaRPr lang="en-US" sz="2500" dirty="0"/>
          </a:p>
        </p:txBody>
      </p:sp>
      <p:sp>
        <p:nvSpPr>
          <p:cNvPr id="4" name="Text 2"/>
          <p:cNvSpPr txBox="1"/>
          <p:nvPr/>
        </p:nvSpPr>
        <p:spPr>
          <a:xfrm>
            <a:off x="548640" y="1417320"/>
            <a:ext cx="3108960" cy="201168"/>
          </a:xfrm>
          <a:prstGeom prst="rect">
            <a:avLst/>
          </a:prstGeom>
          <a:noFill/>
          <a:ln/>
        </p:spPr>
        <p:txBody>
          <a:bodyPr wrap="square" lIns="0" tIns="0" rIns="0" bIns="0" rtlCol="0" anchor="ctr"/>
          <a:lstStyle/>
          <a:p>
            <a:pPr indent="0" marL="0">
              <a:buNone/>
            </a:pPr>
            <a:r>
              <a:rPr lang="en-US" sz="1000" b="1" spc="200" kern="0" dirty="0">
                <a:solidFill>
                  <a:srgbClr val="B42318"/>
                </a:solidFill>
              </a:rPr>
              <a:t>GAP IN TODAY'S TOOLS</a:t>
            </a:r>
            <a:endParaRPr lang="en-US" sz="1000" dirty="0"/>
          </a:p>
        </p:txBody>
      </p:sp>
      <p:sp>
        <p:nvSpPr>
          <p:cNvPr id="5" name="Text 3"/>
          <p:cNvSpPr txBox="1"/>
          <p:nvPr/>
        </p:nvSpPr>
        <p:spPr>
          <a:xfrm>
            <a:off x="4206240" y="1417320"/>
            <a:ext cx="4389120" cy="201168"/>
          </a:xfrm>
          <a:prstGeom prst="rect">
            <a:avLst/>
          </a:prstGeom>
          <a:noFill/>
          <a:ln/>
        </p:spPr>
        <p:txBody>
          <a:bodyPr wrap="square" lIns="0" tIns="0" rIns="0" bIns="0" rtlCol="0" anchor="ctr"/>
          <a:lstStyle/>
          <a:p>
            <a:pPr indent="0" marL="0">
              <a:buNone/>
            </a:pPr>
            <a:r>
              <a:rPr lang="en-US" sz="1000" b="1" spc="200" kern="0" dirty="0">
                <a:solidFill>
                  <a:srgbClr val="0F7068"/>
                </a:solidFill>
              </a:rPr>
              <a:t>WHAT KAYA DOES</a:t>
            </a:r>
            <a:endParaRPr lang="en-US" sz="1000" dirty="0"/>
          </a:p>
        </p:txBody>
      </p:sp>
      <p:sp>
        <p:nvSpPr>
          <p:cNvPr id="6" name="Shape 4"/>
          <p:cNvSpPr/>
          <p:nvPr/>
        </p:nvSpPr>
        <p:spPr>
          <a:xfrm>
            <a:off x="548640" y="1691640"/>
            <a:ext cx="3108960" cy="402336"/>
          </a:xfrm>
          <a:prstGeom prst="roundRect">
            <a:avLst>
              <a:gd name="adj" fmla="val 18182"/>
            </a:avLst>
          </a:prstGeom>
          <a:solidFill>
            <a:srgbClr val="FBEDEA"/>
          </a:solidFill>
          <a:ln w="12700">
            <a:solidFill>
              <a:srgbClr val="FBEDEA"/>
            </a:solidFill>
            <a:prstDash val="solid"/>
          </a:ln>
        </p:spPr>
      </p:sp>
      <p:sp>
        <p:nvSpPr>
          <p:cNvPr id="7" name="Text 5"/>
          <p:cNvSpPr txBox="1"/>
          <p:nvPr/>
        </p:nvSpPr>
        <p:spPr>
          <a:xfrm>
            <a:off x="685800" y="1691640"/>
            <a:ext cx="2926080" cy="402336"/>
          </a:xfrm>
          <a:prstGeom prst="rect">
            <a:avLst/>
          </a:prstGeom>
          <a:noFill/>
          <a:ln/>
        </p:spPr>
        <p:txBody>
          <a:bodyPr wrap="square" lIns="0" tIns="0" rIns="0" bIns="0" rtlCol="0" anchor="ctr"/>
          <a:lstStyle/>
          <a:p>
            <a:pPr indent="0" marL="0">
              <a:buNone/>
            </a:pPr>
            <a:r>
              <a:rPr lang="en-US" sz="1200" b="1" dirty="0">
                <a:solidFill>
                  <a:srgbClr val="B42318"/>
                </a:solidFill>
              </a:rPr>
              <a:t>Stops at glucose</a:t>
            </a:r>
            <a:endParaRPr lang="en-US" sz="1200" dirty="0"/>
          </a:p>
        </p:txBody>
      </p:sp>
      <p:sp>
        <p:nvSpPr>
          <p:cNvPr id="8" name="Shape 6"/>
          <p:cNvSpPr/>
          <p:nvPr/>
        </p:nvSpPr>
        <p:spPr>
          <a:xfrm>
            <a:off x="3703320" y="1892808"/>
            <a:ext cx="411480" cy="0"/>
          </a:xfrm>
          <a:prstGeom prst="line">
            <a:avLst/>
          </a:prstGeom>
          <a:noFill/>
          <a:ln w="22225">
            <a:solidFill>
              <a:srgbClr val="0F7068"/>
            </a:solidFill>
            <a:prstDash val="solid"/>
            <a:tailEnd type="triangle"/>
          </a:ln>
        </p:spPr>
      </p:sp>
      <p:sp>
        <p:nvSpPr>
          <p:cNvPr id="9" name="Shape 7"/>
          <p:cNvSpPr/>
          <p:nvPr/>
        </p:nvSpPr>
        <p:spPr>
          <a:xfrm>
            <a:off x="4160520" y="1691640"/>
            <a:ext cx="4434840" cy="402336"/>
          </a:xfrm>
          <a:prstGeom prst="roundRect">
            <a:avLst>
              <a:gd name="adj" fmla="val 18182"/>
            </a:avLst>
          </a:prstGeom>
          <a:solidFill>
            <a:srgbClr val="E7F2F0"/>
          </a:solidFill>
          <a:ln w="12700">
            <a:solidFill>
              <a:srgbClr val="E7F2F0"/>
            </a:solidFill>
            <a:prstDash val="solid"/>
          </a:ln>
        </p:spPr>
      </p:sp>
      <p:sp>
        <p:nvSpPr>
          <p:cNvPr id="10" name="Text 8"/>
          <p:cNvSpPr txBox="1"/>
          <p:nvPr/>
        </p:nvSpPr>
        <p:spPr>
          <a:xfrm>
            <a:off x="4297680" y="1691640"/>
            <a:ext cx="4206240" cy="402336"/>
          </a:xfrm>
          <a:prstGeom prst="rect">
            <a:avLst/>
          </a:prstGeom>
          <a:noFill/>
          <a:ln/>
        </p:spPr>
        <p:txBody>
          <a:bodyPr wrap="square" lIns="0" tIns="0" rIns="0" bIns="0" rtlCol="0" anchor="ctr"/>
          <a:lstStyle/>
          <a:p>
            <a:pPr indent="0" marL="0">
              <a:buNone/>
            </a:pPr>
            <a:r>
              <a:rPr lang="en-US" sz="1050" dirty="0">
                <a:solidFill>
                  <a:srgbClr val="0F3B38"/>
                </a:solidFill>
              </a:rPr>
              <a:t>Links glucose to the liver, eyes and kidneys in one twin, with each organ's trend</a:t>
            </a:r>
            <a:endParaRPr lang="en-US" sz="1050" dirty="0"/>
          </a:p>
        </p:txBody>
      </p:sp>
      <p:sp>
        <p:nvSpPr>
          <p:cNvPr id="11" name="Shape 9"/>
          <p:cNvSpPr/>
          <p:nvPr/>
        </p:nvSpPr>
        <p:spPr>
          <a:xfrm>
            <a:off x="548640" y="2148840"/>
            <a:ext cx="3108960" cy="402336"/>
          </a:xfrm>
          <a:prstGeom prst="roundRect">
            <a:avLst>
              <a:gd name="adj" fmla="val 18182"/>
            </a:avLst>
          </a:prstGeom>
          <a:solidFill>
            <a:srgbClr val="FBEDEA"/>
          </a:solidFill>
          <a:ln w="12700">
            <a:solidFill>
              <a:srgbClr val="FBEDEA"/>
            </a:solidFill>
            <a:prstDash val="solid"/>
          </a:ln>
        </p:spPr>
      </p:sp>
      <p:sp>
        <p:nvSpPr>
          <p:cNvPr id="12" name="Text 10"/>
          <p:cNvSpPr txBox="1"/>
          <p:nvPr/>
        </p:nvSpPr>
        <p:spPr>
          <a:xfrm>
            <a:off x="685800" y="2148840"/>
            <a:ext cx="2926080" cy="402336"/>
          </a:xfrm>
          <a:prstGeom prst="rect">
            <a:avLst/>
          </a:prstGeom>
          <a:noFill/>
          <a:ln/>
        </p:spPr>
        <p:txBody>
          <a:bodyPr wrap="square" lIns="0" tIns="0" rIns="0" bIns="0" rtlCol="0" anchor="ctr"/>
          <a:lstStyle/>
          <a:p>
            <a:pPr indent="0" marL="0">
              <a:buNone/>
            </a:pPr>
            <a:r>
              <a:rPr lang="en-US" sz="1200" b="1" dirty="0">
                <a:solidFill>
                  <a:srgbClr val="B42318"/>
                </a:solidFill>
              </a:rPr>
              <a:t>No way to test a change</a:t>
            </a:r>
            <a:endParaRPr lang="en-US" sz="1200" dirty="0"/>
          </a:p>
        </p:txBody>
      </p:sp>
      <p:sp>
        <p:nvSpPr>
          <p:cNvPr id="13" name="Shape 11"/>
          <p:cNvSpPr/>
          <p:nvPr/>
        </p:nvSpPr>
        <p:spPr>
          <a:xfrm>
            <a:off x="3703320" y="2350008"/>
            <a:ext cx="411480" cy="0"/>
          </a:xfrm>
          <a:prstGeom prst="line">
            <a:avLst/>
          </a:prstGeom>
          <a:noFill/>
          <a:ln w="22225">
            <a:solidFill>
              <a:srgbClr val="0F7068"/>
            </a:solidFill>
            <a:prstDash val="solid"/>
            <a:tailEnd type="triangle"/>
          </a:ln>
        </p:spPr>
      </p:sp>
      <p:sp>
        <p:nvSpPr>
          <p:cNvPr id="14" name="Shape 12"/>
          <p:cNvSpPr/>
          <p:nvPr/>
        </p:nvSpPr>
        <p:spPr>
          <a:xfrm>
            <a:off x="4160520" y="2148840"/>
            <a:ext cx="4434840" cy="402336"/>
          </a:xfrm>
          <a:prstGeom prst="roundRect">
            <a:avLst>
              <a:gd name="adj" fmla="val 18182"/>
            </a:avLst>
          </a:prstGeom>
          <a:solidFill>
            <a:srgbClr val="E7F2F0"/>
          </a:solidFill>
          <a:ln w="12700">
            <a:solidFill>
              <a:srgbClr val="E7F2F0"/>
            </a:solidFill>
            <a:prstDash val="solid"/>
          </a:ln>
        </p:spPr>
      </p:sp>
      <p:sp>
        <p:nvSpPr>
          <p:cNvPr id="15" name="Text 13"/>
          <p:cNvSpPr txBox="1"/>
          <p:nvPr/>
        </p:nvSpPr>
        <p:spPr>
          <a:xfrm>
            <a:off x="4297680" y="2148840"/>
            <a:ext cx="4206240" cy="402336"/>
          </a:xfrm>
          <a:prstGeom prst="rect">
            <a:avLst/>
          </a:prstGeom>
          <a:noFill/>
          <a:ln/>
        </p:spPr>
        <p:txBody>
          <a:bodyPr wrap="square" lIns="0" tIns="0" rIns="0" bIns="0" rtlCol="0" anchor="ctr"/>
          <a:lstStyle/>
          <a:p>
            <a:pPr indent="0" marL="0">
              <a:buNone/>
            </a:pPr>
            <a:r>
              <a:rPr lang="en-US" sz="1050" dirty="0">
                <a:solidFill>
                  <a:srgbClr val="0F3B38"/>
                </a:solidFill>
              </a:rPr>
              <a:t>What-if engine: change a meal, walk, sleep or medicine and see glucose and one-year organ risk, before vs after</a:t>
            </a:r>
            <a:endParaRPr lang="en-US" sz="1050" dirty="0"/>
          </a:p>
        </p:txBody>
      </p:sp>
      <p:sp>
        <p:nvSpPr>
          <p:cNvPr id="16" name="Shape 14"/>
          <p:cNvSpPr/>
          <p:nvPr/>
        </p:nvSpPr>
        <p:spPr>
          <a:xfrm>
            <a:off x="548640" y="2606040"/>
            <a:ext cx="3108960" cy="402336"/>
          </a:xfrm>
          <a:prstGeom prst="roundRect">
            <a:avLst>
              <a:gd name="adj" fmla="val 18182"/>
            </a:avLst>
          </a:prstGeom>
          <a:solidFill>
            <a:srgbClr val="FBEDEA"/>
          </a:solidFill>
          <a:ln w="12700">
            <a:solidFill>
              <a:srgbClr val="FBEDEA"/>
            </a:solidFill>
            <a:prstDash val="solid"/>
          </a:ln>
        </p:spPr>
      </p:sp>
      <p:sp>
        <p:nvSpPr>
          <p:cNvPr id="17" name="Text 15"/>
          <p:cNvSpPr txBox="1"/>
          <p:nvPr/>
        </p:nvSpPr>
        <p:spPr>
          <a:xfrm>
            <a:off x="685800" y="2606040"/>
            <a:ext cx="2926080" cy="402336"/>
          </a:xfrm>
          <a:prstGeom prst="rect">
            <a:avLst/>
          </a:prstGeom>
          <a:noFill/>
          <a:ln/>
        </p:spPr>
        <p:txBody>
          <a:bodyPr wrap="square" lIns="0" tIns="0" rIns="0" bIns="0" rtlCol="0" anchor="ctr"/>
          <a:lstStyle/>
          <a:p>
            <a:pPr indent="0" marL="0">
              <a:buNone/>
            </a:pPr>
            <a:r>
              <a:rPr lang="en-US" sz="1200" b="1" dirty="0">
                <a:solidFill>
                  <a:srgbClr val="B42318"/>
                </a:solidFill>
              </a:rPr>
              <a:t>Black-box scores</a:t>
            </a:r>
            <a:endParaRPr lang="en-US" sz="1200" dirty="0"/>
          </a:p>
        </p:txBody>
      </p:sp>
      <p:sp>
        <p:nvSpPr>
          <p:cNvPr id="18" name="Shape 16"/>
          <p:cNvSpPr/>
          <p:nvPr/>
        </p:nvSpPr>
        <p:spPr>
          <a:xfrm>
            <a:off x="3703320" y="2807208"/>
            <a:ext cx="411480" cy="0"/>
          </a:xfrm>
          <a:prstGeom prst="line">
            <a:avLst/>
          </a:prstGeom>
          <a:noFill/>
          <a:ln w="22225">
            <a:solidFill>
              <a:srgbClr val="0F7068"/>
            </a:solidFill>
            <a:prstDash val="solid"/>
            <a:tailEnd type="triangle"/>
          </a:ln>
        </p:spPr>
      </p:sp>
      <p:sp>
        <p:nvSpPr>
          <p:cNvPr id="19" name="Shape 17"/>
          <p:cNvSpPr/>
          <p:nvPr/>
        </p:nvSpPr>
        <p:spPr>
          <a:xfrm>
            <a:off x="4160520" y="2606040"/>
            <a:ext cx="4434840" cy="402336"/>
          </a:xfrm>
          <a:prstGeom prst="roundRect">
            <a:avLst>
              <a:gd name="adj" fmla="val 18182"/>
            </a:avLst>
          </a:prstGeom>
          <a:solidFill>
            <a:srgbClr val="E7F2F0"/>
          </a:solidFill>
          <a:ln w="12700">
            <a:solidFill>
              <a:srgbClr val="E7F2F0"/>
            </a:solidFill>
            <a:prstDash val="solid"/>
          </a:ln>
        </p:spPr>
      </p:sp>
      <p:sp>
        <p:nvSpPr>
          <p:cNvPr id="20" name="Text 18"/>
          <p:cNvSpPr txBox="1"/>
          <p:nvPr/>
        </p:nvSpPr>
        <p:spPr>
          <a:xfrm>
            <a:off x="4297680" y="2606040"/>
            <a:ext cx="4206240" cy="402336"/>
          </a:xfrm>
          <a:prstGeom prst="rect">
            <a:avLst/>
          </a:prstGeom>
          <a:noFill/>
          <a:ln/>
        </p:spPr>
        <p:txBody>
          <a:bodyPr wrap="square" lIns="0" tIns="0" rIns="0" bIns="0" rtlCol="0" anchor="ctr"/>
          <a:lstStyle/>
          <a:p>
            <a:pPr indent="0" marL="0">
              <a:buNone/>
            </a:pPr>
            <a:r>
              <a:rPr lang="en-US" sz="1050" dirty="0">
                <a:solidFill>
                  <a:srgbClr val="0F3B38"/>
                </a:solidFill>
              </a:rPr>
              <a:t>Explains itself: why an alert fired, SHAP drivers per patient, Grad-CAM retina heat-map, calibrated uncertainty</a:t>
            </a:r>
            <a:endParaRPr lang="en-US" sz="1050" dirty="0"/>
          </a:p>
        </p:txBody>
      </p:sp>
      <p:sp>
        <p:nvSpPr>
          <p:cNvPr id="21" name="Shape 19"/>
          <p:cNvSpPr/>
          <p:nvPr/>
        </p:nvSpPr>
        <p:spPr>
          <a:xfrm>
            <a:off x="548640" y="3063240"/>
            <a:ext cx="3108960" cy="402336"/>
          </a:xfrm>
          <a:prstGeom prst="roundRect">
            <a:avLst>
              <a:gd name="adj" fmla="val 18182"/>
            </a:avLst>
          </a:prstGeom>
          <a:solidFill>
            <a:srgbClr val="FBEDEA"/>
          </a:solidFill>
          <a:ln w="12700">
            <a:solidFill>
              <a:srgbClr val="FBEDEA"/>
            </a:solidFill>
            <a:prstDash val="solid"/>
          </a:ln>
        </p:spPr>
      </p:sp>
      <p:sp>
        <p:nvSpPr>
          <p:cNvPr id="22" name="Text 20"/>
          <p:cNvSpPr txBox="1"/>
          <p:nvPr/>
        </p:nvSpPr>
        <p:spPr>
          <a:xfrm>
            <a:off x="685800" y="3063240"/>
            <a:ext cx="2926080" cy="402336"/>
          </a:xfrm>
          <a:prstGeom prst="rect">
            <a:avLst/>
          </a:prstGeom>
          <a:noFill/>
          <a:ln/>
        </p:spPr>
        <p:txBody>
          <a:bodyPr wrap="square" lIns="0" tIns="0" rIns="0" bIns="0" rtlCol="0" anchor="ctr"/>
          <a:lstStyle/>
          <a:p>
            <a:pPr indent="0" marL="0">
              <a:buNone/>
            </a:pPr>
            <a:r>
              <a:rPr lang="en-US" sz="1200" b="1" dirty="0">
                <a:solidFill>
                  <a:srgbClr val="B42318"/>
                </a:solidFill>
              </a:rPr>
              <a:t>Not built for Indian patients</a:t>
            </a:r>
            <a:endParaRPr lang="en-US" sz="1200" dirty="0"/>
          </a:p>
        </p:txBody>
      </p:sp>
      <p:sp>
        <p:nvSpPr>
          <p:cNvPr id="23" name="Shape 21"/>
          <p:cNvSpPr/>
          <p:nvPr/>
        </p:nvSpPr>
        <p:spPr>
          <a:xfrm>
            <a:off x="3703320" y="3264408"/>
            <a:ext cx="411480" cy="0"/>
          </a:xfrm>
          <a:prstGeom prst="line">
            <a:avLst/>
          </a:prstGeom>
          <a:noFill/>
          <a:ln w="22225">
            <a:solidFill>
              <a:srgbClr val="0F7068"/>
            </a:solidFill>
            <a:prstDash val="solid"/>
            <a:tailEnd type="triangle"/>
          </a:ln>
        </p:spPr>
      </p:sp>
      <p:sp>
        <p:nvSpPr>
          <p:cNvPr id="24" name="Shape 22"/>
          <p:cNvSpPr/>
          <p:nvPr/>
        </p:nvSpPr>
        <p:spPr>
          <a:xfrm>
            <a:off x="4160520" y="3063240"/>
            <a:ext cx="4434840" cy="402336"/>
          </a:xfrm>
          <a:prstGeom prst="roundRect">
            <a:avLst>
              <a:gd name="adj" fmla="val 18182"/>
            </a:avLst>
          </a:prstGeom>
          <a:solidFill>
            <a:srgbClr val="E7F2F0"/>
          </a:solidFill>
          <a:ln w="12700">
            <a:solidFill>
              <a:srgbClr val="E7F2F0"/>
            </a:solidFill>
            <a:prstDash val="solid"/>
          </a:ln>
        </p:spPr>
      </p:sp>
      <p:sp>
        <p:nvSpPr>
          <p:cNvPr id="25" name="Text 23"/>
          <p:cNvSpPr txBox="1"/>
          <p:nvPr/>
        </p:nvSpPr>
        <p:spPr>
          <a:xfrm>
            <a:off x="4297680" y="3063240"/>
            <a:ext cx="4206240" cy="402336"/>
          </a:xfrm>
          <a:prstGeom prst="rect">
            <a:avLst/>
          </a:prstGeom>
          <a:noFill/>
          <a:ln/>
        </p:spPr>
        <p:txBody>
          <a:bodyPr wrap="square" lIns="0" tIns="0" rIns="0" bIns="0" rtlCol="0" anchor="ctr"/>
          <a:lstStyle/>
          <a:p>
            <a:pPr indent="0" marL="0">
              <a:buNone/>
            </a:pPr>
            <a:r>
              <a:rPr lang="en-US" sz="1050" dirty="0">
                <a:solidFill>
                  <a:srgbClr val="0F3B38"/>
                </a:solidFill>
              </a:rPr>
              <a:t>Patient app in English, Hindi, Telugu and Kannada with voice; retina grader tested on the Indian IDRiD set</a:t>
            </a:r>
            <a:endParaRPr lang="en-US" sz="1050" dirty="0"/>
          </a:p>
        </p:txBody>
      </p:sp>
      <p:sp>
        <p:nvSpPr>
          <p:cNvPr id="26" name="Shape 24"/>
          <p:cNvSpPr/>
          <p:nvPr/>
        </p:nvSpPr>
        <p:spPr>
          <a:xfrm>
            <a:off x="548640" y="3520440"/>
            <a:ext cx="3108960" cy="402336"/>
          </a:xfrm>
          <a:prstGeom prst="roundRect">
            <a:avLst>
              <a:gd name="adj" fmla="val 18182"/>
            </a:avLst>
          </a:prstGeom>
          <a:solidFill>
            <a:srgbClr val="FBEDEA"/>
          </a:solidFill>
          <a:ln w="12700">
            <a:solidFill>
              <a:srgbClr val="FBEDEA"/>
            </a:solidFill>
            <a:prstDash val="solid"/>
          </a:ln>
        </p:spPr>
      </p:sp>
      <p:sp>
        <p:nvSpPr>
          <p:cNvPr id="27" name="Text 25"/>
          <p:cNvSpPr txBox="1"/>
          <p:nvPr/>
        </p:nvSpPr>
        <p:spPr>
          <a:xfrm>
            <a:off x="685800" y="3520440"/>
            <a:ext cx="2926080" cy="402336"/>
          </a:xfrm>
          <a:prstGeom prst="rect">
            <a:avLst/>
          </a:prstGeom>
          <a:noFill/>
          <a:ln/>
        </p:spPr>
        <p:txBody>
          <a:bodyPr wrap="square" lIns="0" tIns="0" rIns="0" bIns="0" rtlCol="0" anchor="ctr"/>
          <a:lstStyle/>
          <a:p>
            <a:pPr indent="0" marL="0">
              <a:buNone/>
            </a:pPr>
            <a:r>
              <a:rPr lang="en-US" sz="1200" b="1" dirty="0">
                <a:solidFill>
                  <a:srgbClr val="B42318"/>
                </a:solidFill>
              </a:rPr>
              <a:t>Snapshots, not a live picture</a:t>
            </a:r>
            <a:endParaRPr lang="en-US" sz="1200" dirty="0"/>
          </a:p>
        </p:txBody>
      </p:sp>
      <p:sp>
        <p:nvSpPr>
          <p:cNvPr id="28" name="Shape 26"/>
          <p:cNvSpPr/>
          <p:nvPr/>
        </p:nvSpPr>
        <p:spPr>
          <a:xfrm>
            <a:off x="3703320" y="3721608"/>
            <a:ext cx="411480" cy="0"/>
          </a:xfrm>
          <a:prstGeom prst="line">
            <a:avLst/>
          </a:prstGeom>
          <a:noFill/>
          <a:ln w="22225">
            <a:solidFill>
              <a:srgbClr val="0F7068"/>
            </a:solidFill>
            <a:prstDash val="solid"/>
            <a:tailEnd type="triangle"/>
          </a:ln>
        </p:spPr>
      </p:sp>
      <p:sp>
        <p:nvSpPr>
          <p:cNvPr id="29" name="Shape 27"/>
          <p:cNvSpPr/>
          <p:nvPr/>
        </p:nvSpPr>
        <p:spPr>
          <a:xfrm>
            <a:off x="4160520" y="3520440"/>
            <a:ext cx="4434840" cy="402336"/>
          </a:xfrm>
          <a:prstGeom prst="roundRect">
            <a:avLst>
              <a:gd name="adj" fmla="val 18182"/>
            </a:avLst>
          </a:prstGeom>
          <a:solidFill>
            <a:srgbClr val="E7F2F0"/>
          </a:solidFill>
          <a:ln w="12700">
            <a:solidFill>
              <a:srgbClr val="E7F2F0"/>
            </a:solidFill>
            <a:prstDash val="solid"/>
          </a:ln>
        </p:spPr>
      </p:sp>
      <p:sp>
        <p:nvSpPr>
          <p:cNvPr id="30" name="Text 28"/>
          <p:cNvSpPr txBox="1"/>
          <p:nvPr/>
        </p:nvSpPr>
        <p:spPr>
          <a:xfrm>
            <a:off x="4297680" y="3520440"/>
            <a:ext cx="4206240" cy="402336"/>
          </a:xfrm>
          <a:prstGeom prst="rect">
            <a:avLst/>
          </a:prstGeom>
          <a:noFill/>
          <a:ln/>
        </p:spPr>
        <p:txBody>
          <a:bodyPr wrap="square" lIns="0" tIns="0" rIns="0" bIns="0" rtlCol="0" anchor="ctr"/>
          <a:lstStyle/>
          <a:p>
            <a:pPr indent="0" marL="0">
              <a:buNone/>
            </a:pPr>
            <a:r>
              <a:rPr lang="en-US" sz="1050" dirty="0">
                <a:solidFill>
                  <a:srgbClr val="0F3B38"/>
                </a:solidFill>
              </a:rPr>
              <a:t>Live mode re-forecasts on every 5-minute reading; catches 72% of lows, 45 minutes ahead</a:t>
            </a:r>
            <a:endParaRPr lang="en-US" sz="1050" dirty="0"/>
          </a:p>
        </p:txBody>
      </p:sp>
      <p:sp>
        <p:nvSpPr>
          <p:cNvPr id="31" name="Shape 29"/>
          <p:cNvSpPr/>
          <p:nvPr/>
        </p:nvSpPr>
        <p:spPr>
          <a:xfrm>
            <a:off x="548640" y="3977640"/>
            <a:ext cx="3108960" cy="402336"/>
          </a:xfrm>
          <a:prstGeom prst="roundRect">
            <a:avLst>
              <a:gd name="adj" fmla="val 18182"/>
            </a:avLst>
          </a:prstGeom>
          <a:solidFill>
            <a:srgbClr val="FBEDEA"/>
          </a:solidFill>
          <a:ln w="12700">
            <a:solidFill>
              <a:srgbClr val="FBEDEA"/>
            </a:solidFill>
            <a:prstDash val="solid"/>
          </a:ln>
        </p:spPr>
      </p:sp>
      <p:sp>
        <p:nvSpPr>
          <p:cNvPr id="32" name="Text 30"/>
          <p:cNvSpPr txBox="1"/>
          <p:nvPr/>
        </p:nvSpPr>
        <p:spPr>
          <a:xfrm>
            <a:off x="685800" y="3977640"/>
            <a:ext cx="2926080" cy="402336"/>
          </a:xfrm>
          <a:prstGeom prst="rect">
            <a:avLst/>
          </a:prstGeom>
          <a:noFill/>
          <a:ln/>
        </p:spPr>
        <p:txBody>
          <a:bodyPr wrap="square" lIns="0" tIns="0" rIns="0" bIns="0" rtlCol="0" anchor="ctr"/>
          <a:lstStyle/>
          <a:p>
            <a:pPr indent="0" marL="0">
              <a:buNone/>
            </a:pPr>
            <a:r>
              <a:rPr lang="en-US" sz="1200" b="1" dirty="0">
                <a:solidFill>
                  <a:srgbClr val="B42318"/>
                </a:solidFill>
              </a:rPr>
              <a:t>Hard to plug in and run</a:t>
            </a:r>
            <a:endParaRPr lang="en-US" sz="1200" dirty="0"/>
          </a:p>
        </p:txBody>
      </p:sp>
      <p:sp>
        <p:nvSpPr>
          <p:cNvPr id="33" name="Shape 31"/>
          <p:cNvSpPr/>
          <p:nvPr/>
        </p:nvSpPr>
        <p:spPr>
          <a:xfrm>
            <a:off x="3703320" y="4178808"/>
            <a:ext cx="411480" cy="0"/>
          </a:xfrm>
          <a:prstGeom prst="line">
            <a:avLst/>
          </a:prstGeom>
          <a:noFill/>
          <a:ln w="22225">
            <a:solidFill>
              <a:srgbClr val="0F7068"/>
            </a:solidFill>
            <a:prstDash val="solid"/>
            <a:tailEnd type="triangle"/>
          </a:ln>
        </p:spPr>
      </p:sp>
      <p:sp>
        <p:nvSpPr>
          <p:cNvPr id="34" name="Shape 32"/>
          <p:cNvSpPr/>
          <p:nvPr/>
        </p:nvSpPr>
        <p:spPr>
          <a:xfrm>
            <a:off x="4160520" y="3977640"/>
            <a:ext cx="4434840" cy="402336"/>
          </a:xfrm>
          <a:prstGeom prst="roundRect">
            <a:avLst>
              <a:gd name="adj" fmla="val 18182"/>
            </a:avLst>
          </a:prstGeom>
          <a:solidFill>
            <a:srgbClr val="E7F2F0"/>
          </a:solidFill>
          <a:ln w="12700">
            <a:solidFill>
              <a:srgbClr val="E7F2F0"/>
            </a:solidFill>
            <a:prstDash val="solid"/>
          </a:ln>
        </p:spPr>
      </p:sp>
      <p:sp>
        <p:nvSpPr>
          <p:cNvPr id="35" name="Text 33"/>
          <p:cNvSpPr txBox="1"/>
          <p:nvPr/>
        </p:nvSpPr>
        <p:spPr>
          <a:xfrm>
            <a:off x="4297680" y="3977640"/>
            <a:ext cx="4206240" cy="402336"/>
          </a:xfrm>
          <a:prstGeom prst="rect">
            <a:avLst/>
          </a:prstGeom>
          <a:noFill/>
          <a:ln/>
        </p:spPr>
        <p:txBody>
          <a:bodyPr wrap="square" lIns="0" tIns="0" rIns="0" bIns="0" rtlCol="0" anchor="ctr"/>
          <a:lstStyle/>
          <a:p>
            <a:pPr indent="0" marL="0">
              <a:buNone/>
            </a:pPr>
            <a:r>
              <a:rPr lang="en-US" sz="1050" dirty="0">
                <a:solidFill>
                  <a:srgbClr val="0F3B38"/>
                </a:solidFill>
              </a:rPr>
              <a:t>FHIR R4 and live-reading APIs, Docker deploy, an admin page with health, audit trail and self-test</a:t>
            </a:r>
            <a:endParaRPr lang="en-US" sz="105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WHAT WE HAVE BUILT</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Nine things Kaya already does, end to end</a:t>
            </a:r>
            <a:endParaRPr lang="en-US" sz="2500" dirty="0"/>
          </a:p>
        </p:txBody>
      </p:sp>
      <p:sp>
        <p:nvSpPr>
          <p:cNvPr id="4" name="Shape 2"/>
          <p:cNvSpPr/>
          <p:nvPr/>
        </p:nvSpPr>
        <p:spPr>
          <a:xfrm>
            <a:off x="548640" y="1463040"/>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5" name="Shape 3"/>
          <p:cNvSpPr/>
          <p:nvPr/>
        </p:nvSpPr>
        <p:spPr>
          <a:xfrm>
            <a:off x="676656" y="1682496"/>
            <a:ext cx="475488" cy="475488"/>
          </a:xfrm>
          <a:prstGeom prst="ellipse">
            <a:avLst/>
          </a:prstGeom>
          <a:solidFill>
            <a:srgbClr val="E7F2F0"/>
          </a:solidFill>
          <a:ln w="12700">
            <a:solidFill>
              <a:srgbClr val="E7F2F0"/>
            </a:solidFill>
            <a:prstDash val="solid"/>
          </a:ln>
        </p:spPr>
      </p:sp>
      <p:sp>
        <p:nvSpPr>
          <p:cNvPr id="6" name="Text 4"/>
          <p:cNvSpPr txBox="1"/>
          <p:nvPr/>
        </p:nvSpPr>
        <p:spPr>
          <a:xfrm>
            <a:off x="676656" y="1682496"/>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7" name="Text 5"/>
          <p:cNvSpPr txBox="1"/>
          <p:nvPr/>
        </p:nvSpPr>
        <p:spPr>
          <a:xfrm>
            <a:off x="1261872" y="1554480"/>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Live mode</a:t>
            </a:r>
            <a:endParaRPr lang="en-US" sz="1250" dirty="0"/>
          </a:p>
        </p:txBody>
      </p:sp>
      <p:sp>
        <p:nvSpPr>
          <p:cNvPr id="8" name="Text 6"/>
          <p:cNvSpPr txBox="1"/>
          <p:nvPr/>
        </p:nvSpPr>
        <p:spPr>
          <a:xfrm>
            <a:off x="1261872" y="1828800"/>
            <a:ext cx="1783080" cy="530352"/>
          </a:xfrm>
          <a:prstGeom prst="rect">
            <a:avLst/>
          </a:prstGeom>
          <a:noFill/>
          <a:ln/>
        </p:spPr>
        <p:txBody>
          <a:bodyPr wrap="square" lIns="0" tIns="0" rIns="0" bIns="0" rtlCol="0" anchor="t"/>
          <a:lstStyle/>
          <a:p>
            <a:pPr indent="0" marL="0">
              <a:buNone/>
            </a:pPr>
            <a:r>
              <a:rPr lang="en-US" sz="1000" dirty="0">
                <a:solidFill>
                  <a:srgbClr val="5B6B77"/>
                </a:solidFill>
              </a:rPr>
              <a:t>The twin updates on every 5-minute reading</a:t>
            </a:r>
            <a:endParaRPr lang="en-US" sz="1000" dirty="0"/>
          </a:p>
        </p:txBody>
      </p:sp>
      <p:sp>
        <p:nvSpPr>
          <p:cNvPr id="9" name="Shape 7"/>
          <p:cNvSpPr/>
          <p:nvPr/>
        </p:nvSpPr>
        <p:spPr>
          <a:xfrm>
            <a:off x="3291840" y="1463040"/>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0" name="Shape 8"/>
          <p:cNvSpPr/>
          <p:nvPr/>
        </p:nvSpPr>
        <p:spPr>
          <a:xfrm>
            <a:off x="3419856" y="1682496"/>
            <a:ext cx="475488" cy="475488"/>
          </a:xfrm>
          <a:prstGeom prst="ellipse">
            <a:avLst/>
          </a:prstGeom>
          <a:solidFill>
            <a:srgbClr val="E7F2F0"/>
          </a:solidFill>
          <a:ln w="12700">
            <a:solidFill>
              <a:srgbClr val="E7F2F0"/>
            </a:solidFill>
            <a:prstDash val="solid"/>
          </a:ln>
        </p:spPr>
      </p:sp>
      <p:sp>
        <p:nvSpPr>
          <p:cNvPr id="11" name="Text 9"/>
          <p:cNvSpPr txBox="1"/>
          <p:nvPr/>
        </p:nvSpPr>
        <p:spPr>
          <a:xfrm>
            <a:off x="3419856" y="1682496"/>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2" name="Text 10"/>
          <p:cNvSpPr txBox="1"/>
          <p:nvPr/>
        </p:nvSpPr>
        <p:spPr>
          <a:xfrm>
            <a:off x="4005072" y="1554480"/>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Full patient record</a:t>
            </a:r>
            <a:endParaRPr lang="en-US" sz="1250" dirty="0"/>
          </a:p>
        </p:txBody>
      </p:sp>
      <p:sp>
        <p:nvSpPr>
          <p:cNvPr id="13" name="Text 11"/>
          <p:cNvSpPr txBox="1"/>
          <p:nvPr/>
        </p:nvSpPr>
        <p:spPr>
          <a:xfrm>
            <a:off x="4005072" y="1828800"/>
            <a:ext cx="1783080" cy="530352"/>
          </a:xfrm>
          <a:prstGeom prst="rect">
            <a:avLst/>
          </a:prstGeom>
          <a:noFill/>
          <a:ln/>
        </p:spPr>
        <p:txBody>
          <a:bodyPr wrap="square" lIns="0" tIns="0" rIns="0" bIns="0" rtlCol="0" anchor="t"/>
          <a:lstStyle/>
          <a:p>
            <a:pPr indent="0" marL="0">
              <a:buNone/>
            </a:pPr>
            <a:r>
              <a:rPr lang="en-US" sz="1000" dirty="0">
                <a:solidFill>
                  <a:srgbClr val="5B6B77"/>
                </a:solidFill>
              </a:rPr>
              <a:t>14-day glucose, organs, labs and every alert with its reason</a:t>
            </a:r>
            <a:endParaRPr lang="en-US" sz="1000" dirty="0"/>
          </a:p>
        </p:txBody>
      </p:sp>
      <p:sp>
        <p:nvSpPr>
          <p:cNvPr id="14" name="Shape 12"/>
          <p:cNvSpPr/>
          <p:nvPr/>
        </p:nvSpPr>
        <p:spPr>
          <a:xfrm>
            <a:off x="6035040" y="1463040"/>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5" name="Shape 13"/>
          <p:cNvSpPr/>
          <p:nvPr/>
        </p:nvSpPr>
        <p:spPr>
          <a:xfrm>
            <a:off x="6163056" y="1682496"/>
            <a:ext cx="475488" cy="475488"/>
          </a:xfrm>
          <a:prstGeom prst="ellipse">
            <a:avLst/>
          </a:prstGeom>
          <a:solidFill>
            <a:srgbClr val="E7F2F0"/>
          </a:solidFill>
          <a:ln w="12700">
            <a:solidFill>
              <a:srgbClr val="E7F2F0"/>
            </a:solidFill>
            <a:prstDash val="solid"/>
          </a:ln>
        </p:spPr>
      </p:sp>
      <p:sp>
        <p:nvSpPr>
          <p:cNvPr id="16" name="Text 14"/>
          <p:cNvSpPr txBox="1"/>
          <p:nvPr/>
        </p:nvSpPr>
        <p:spPr>
          <a:xfrm>
            <a:off x="6163056" y="1682496"/>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7" name="Text 15"/>
          <p:cNvSpPr txBox="1"/>
          <p:nvPr/>
        </p:nvSpPr>
        <p:spPr>
          <a:xfrm>
            <a:off x="6748272" y="1554480"/>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Medical reports</a:t>
            </a:r>
            <a:endParaRPr lang="en-US" sz="1250" dirty="0"/>
          </a:p>
        </p:txBody>
      </p:sp>
      <p:sp>
        <p:nvSpPr>
          <p:cNvPr id="18" name="Text 16"/>
          <p:cNvSpPr txBox="1"/>
          <p:nvPr/>
        </p:nvSpPr>
        <p:spPr>
          <a:xfrm>
            <a:off x="6748272" y="1828800"/>
            <a:ext cx="1783080" cy="530352"/>
          </a:xfrm>
          <a:prstGeom prst="rect">
            <a:avLst/>
          </a:prstGeom>
          <a:noFill/>
          <a:ln/>
        </p:spPr>
        <p:txBody>
          <a:bodyPr wrap="square" lIns="0" tIns="0" rIns="0" bIns="0" rtlCol="0" anchor="t"/>
          <a:lstStyle/>
          <a:p>
            <a:pPr indent="0" marL="0">
              <a:buNone/>
            </a:pPr>
            <a:r>
              <a:rPr lang="en-US" sz="1000" dirty="0">
                <a:solidFill>
                  <a:srgbClr val="5B6B77"/>
                </a:solidFill>
              </a:rPr>
              <a:t>Labs, retina, liver scan, X-ray, ECG, foot exam, with trends</a:t>
            </a:r>
            <a:endParaRPr lang="en-US" sz="1000" dirty="0"/>
          </a:p>
        </p:txBody>
      </p:sp>
      <p:sp>
        <p:nvSpPr>
          <p:cNvPr id="19" name="Shape 17"/>
          <p:cNvSpPr/>
          <p:nvPr/>
        </p:nvSpPr>
        <p:spPr>
          <a:xfrm>
            <a:off x="548640" y="2496312"/>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20" name="Shape 18"/>
          <p:cNvSpPr/>
          <p:nvPr/>
        </p:nvSpPr>
        <p:spPr>
          <a:xfrm>
            <a:off x="676656" y="2715768"/>
            <a:ext cx="475488" cy="475488"/>
          </a:xfrm>
          <a:prstGeom prst="ellipse">
            <a:avLst/>
          </a:prstGeom>
          <a:solidFill>
            <a:srgbClr val="E7F2F0"/>
          </a:solidFill>
          <a:ln w="12700">
            <a:solidFill>
              <a:srgbClr val="E7F2F0"/>
            </a:solidFill>
            <a:prstDash val="solid"/>
          </a:ln>
        </p:spPr>
      </p:sp>
      <p:sp>
        <p:nvSpPr>
          <p:cNvPr id="21" name="Text 19"/>
          <p:cNvSpPr txBox="1"/>
          <p:nvPr/>
        </p:nvSpPr>
        <p:spPr>
          <a:xfrm>
            <a:off x="676656" y="2715768"/>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2" name="Text 20"/>
          <p:cNvSpPr txBox="1"/>
          <p:nvPr/>
        </p:nvSpPr>
        <p:spPr>
          <a:xfrm>
            <a:off x="1261872" y="2587752"/>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What changed</a:t>
            </a:r>
            <a:endParaRPr lang="en-US" sz="1250" dirty="0"/>
          </a:p>
        </p:txBody>
      </p:sp>
      <p:sp>
        <p:nvSpPr>
          <p:cNvPr id="23" name="Text 21"/>
          <p:cNvSpPr txBox="1"/>
          <p:nvPr/>
        </p:nvSpPr>
        <p:spPr>
          <a:xfrm>
            <a:off x="1261872" y="2862072"/>
            <a:ext cx="1783080" cy="530352"/>
          </a:xfrm>
          <a:prstGeom prst="rect">
            <a:avLst/>
          </a:prstGeom>
          <a:noFill/>
          <a:ln/>
        </p:spPr>
        <p:txBody>
          <a:bodyPr wrap="square" lIns="0" tIns="0" rIns="0" bIns="0" rtlCol="0" anchor="t"/>
          <a:lstStyle/>
          <a:p>
            <a:pPr indent="0" marL="0">
              <a:buNone/>
            </a:pPr>
            <a:r>
              <a:rPr lang="en-US" sz="1000" dirty="0">
                <a:solidFill>
                  <a:srgbClr val="5B6B77"/>
                </a:solidFill>
              </a:rPr>
              <a:t>Since the last visit: labs, eyes, medicines, last 7 days</a:t>
            </a:r>
            <a:endParaRPr lang="en-US" sz="1000" dirty="0"/>
          </a:p>
        </p:txBody>
      </p:sp>
      <p:sp>
        <p:nvSpPr>
          <p:cNvPr id="24" name="Shape 22"/>
          <p:cNvSpPr/>
          <p:nvPr/>
        </p:nvSpPr>
        <p:spPr>
          <a:xfrm>
            <a:off x="3291840" y="2496312"/>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25" name="Shape 23"/>
          <p:cNvSpPr/>
          <p:nvPr/>
        </p:nvSpPr>
        <p:spPr>
          <a:xfrm>
            <a:off x="3419856" y="2715768"/>
            <a:ext cx="475488" cy="475488"/>
          </a:xfrm>
          <a:prstGeom prst="ellipse">
            <a:avLst/>
          </a:prstGeom>
          <a:solidFill>
            <a:srgbClr val="E7F2F0"/>
          </a:solidFill>
          <a:ln w="12700">
            <a:solidFill>
              <a:srgbClr val="E7F2F0"/>
            </a:solidFill>
            <a:prstDash val="solid"/>
          </a:ln>
        </p:spPr>
      </p:sp>
      <p:sp>
        <p:nvSpPr>
          <p:cNvPr id="26" name="Text 24"/>
          <p:cNvSpPr txBox="1"/>
          <p:nvPr/>
        </p:nvSpPr>
        <p:spPr>
          <a:xfrm>
            <a:off x="3419856" y="2715768"/>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7" name="Text 25"/>
          <p:cNvSpPr txBox="1"/>
          <p:nvPr/>
        </p:nvSpPr>
        <p:spPr>
          <a:xfrm>
            <a:off x="4005072" y="2587752"/>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What to do now</a:t>
            </a:r>
            <a:endParaRPr lang="en-US" sz="1250" dirty="0"/>
          </a:p>
        </p:txBody>
      </p:sp>
      <p:sp>
        <p:nvSpPr>
          <p:cNvPr id="28" name="Text 26"/>
          <p:cNvSpPr txBox="1"/>
          <p:nvPr/>
        </p:nvSpPr>
        <p:spPr>
          <a:xfrm>
            <a:off x="4005072" y="2862072"/>
            <a:ext cx="1783080" cy="530352"/>
          </a:xfrm>
          <a:prstGeom prst="rect">
            <a:avLst/>
          </a:prstGeom>
          <a:noFill/>
          <a:ln/>
        </p:spPr>
        <p:txBody>
          <a:bodyPr wrap="square" lIns="0" tIns="0" rIns="0" bIns="0" rtlCol="0" anchor="t"/>
          <a:lstStyle/>
          <a:p>
            <a:pPr indent="0" marL="0">
              <a:buNone/>
            </a:pPr>
            <a:r>
              <a:rPr lang="en-US" sz="1000" dirty="0">
                <a:solidFill>
                  <a:srgbClr val="5B6B77"/>
                </a:solidFill>
              </a:rPr>
              <a:t>One next action and why, plus a five-second quick log</a:t>
            </a:r>
            <a:endParaRPr lang="en-US" sz="1000" dirty="0"/>
          </a:p>
        </p:txBody>
      </p:sp>
      <p:sp>
        <p:nvSpPr>
          <p:cNvPr id="29" name="Shape 27"/>
          <p:cNvSpPr/>
          <p:nvPr/>
        </p:nvSpPr>
        <p:spPr>
          <a:xfrm>
            <a:off x="6035040" y="2496312"/>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30" name="Shape 28"/>
          <p:cNvSpPr/>
          <p:nvPr/>
        </p:nvSpPr>
        <p:spPr>
          <a:xfrm>
            <a:off x="6163056" y="2715768"/>
            <a:ext cx="475488" cy="475488"/>
          </a:xfrm>
          <a:prstGeom prst="ellipse">
            <a:avLst/>
          </a:prstGeom>
          <a:solidFill>
            <a:srgbClr val="E7F2F0"/>
          </a:solidFill>
          <a:ln w="12700">
            <a:solidFill>
              <a:srgbClr val="E7F2F0"/>
            </a:solidFill>
            <a:prstDash val="solid"/>
          </a:ln>
        </p:spPr>
      </p:sp>
      <p:sp>
        <p:nvSpPr>
          <p:cNvPr id="31" name="Text 29"/>
          <p:cNvSpPr txBox="1"/>
          <p:nvPr/>
        </p:nvSpPr>
        <p:spPr>
          <a:xfrm>
            <a:off x="6163056" y="2715768"/>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2" name="Text 30"/>
          <p:cNvSpPr txBox="1"/>
          <p:nvPr/>
        </p:nvSpPr>
        <p:spPr>
          <a:xfrm>
            <a:off x="6748272" y="2587752"/>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Adherence diary</a:t>
            </a:r>
            <a:endParaRPr lang="en-US" sz="1250" dirty="0"/>
          </a:p>
        </p:txBody>
      </p:sp>
      <p:sp>
        <p:nvSpPr>
          <p:cNvPr id="33" name="Text 31"/>
          <p:cNvSpPr txBox="1"/>
          <p:nvPr/>
        </p:nvSpPr>
        <p:spPr>
          <a:xfrm>
            <a:off x="6748272" y="2862072"/>
            <a:ext cx="1783080" cy="530352"/>
          </a:xfrm>
          <a:prstGeom prst="rect">
            <a:avLst/>
          </a:prstGeom>
          <a:noFill/>
          <a:ln/>
        </p:spPr>
        <p:txBody>
          <a:bodyPr wrap="square" lIns="0" tIns="0" rIns="0" bIns="0" rtlCol="0" anchor="t"/>
          <a:lstStyle/>
          <a:p>
            <a:pPr indent="0" marL="0">
              <a:buNone/>
            </a:pPr>
            <a:r>
              <a:rPr lang="en-US" sz="1000" dirty="0">
                <a:solidFill>
                  <a:srgbClr val="5B6B77"/>
                </a:solidFill>
              </a:rPr>
              <a:t>Missed evening doses reach the doctor's attention list</a:t>
            </a:r>
            <a:endParaRPr lang="en-US" sz="1000" dirty="0"/>
          </a:p>
        </p:txBody>
      </p:sp>
      <p:sp>
        <p:nvSpPr>
          <p:cNvPr id="34" name="Shape 32"/>
          <p:cNvSpPr/>
          <p:nvPr/>
        </p:nvSpPr>
        <p:spPr>
          <a:xfrm>
            <a:off x="548640" y="3529584"/>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35" name="Shape 33"/>
          <p:cNvSpPr/>
          <p:nvPr/>
        </p:nvSpPr>
        <p:spPr>
          <a:xfrm>
            <a:off x="676656" y="3749040"/>
            <a:ext cx="475488" cy="475488"/>
          </a:xfrm>
          <a:prstGeom prst="ellipse">
            <a:avLst/>
          </a:prstGeom>
          <a:solidFill>
            <a:srgbClr val="E7F2F0"/>
          </a:solidFill>
          <a:ln w="12700">
            <a:solidFill>
              <a:srgbClr val="E7F2F0"/>
            </a:solidFill>
            <a:prstDash val="solid"/>
          </a:ln>
        </p:spPr>
      </p:sp>
      <p:sp>
        <p:nvSpPr>
          <p:cNvPr id="36" name="Text 34"/>
          <p:cNvSpPr txBox="1"/>
          <p:nvPr/>
        </p:nvSpPr>
        <p:spPr>
          <a:xfrm>
            <a:off x="676656" y="3749040"/>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7" name="Text 35"/>
          <p:cNvSpPr txBox="1"/>
          <p:nvPr/>
        </p:nvSpPr>
        <p:spPr>
          <a:xfrm>
            <a:off x="1261872" y="3621024"/>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Report upload</a:t>
            </a:r>
            <a:endParaRPr lang="en-US" sz="1250" dirty="0"/>
          </a:p>
        </p:txBody>
      </p:sp>
      <p:sp>
        <p:nvSpPr>
          <p:cNvPr id="38" name="Text 36"/>
          <p:cNvSpPr txBox="1"/>
          <p:nvPr/>
        </p:nvSpPr>
        <p:spPr>
          <a:xfrm>
            <a:off x="1261872" y="3895344"/>
            <a:ext cx="1783080" cy="530352"/>
          </a:xfrm>
          <a:prstGeom prst="rect">
            <a:avLst/>
          </a:prstGeom>
          <a:noFill/>
          <a:ln/>
        </p:spPr>
        <p:txBody>
          <a:bodyPr wrap="square" lIns="0" tIns="0" rIns="0" bIns="0" rtlCol="0" anchor="t"/>
          <a:lstStyle/>
          <a:p>
            <a:pPr indent="0" marL="0">
              <a:buNone/>
            </a:pPr>
            <a:r>
              <a:rPr lang="en-US" sz="1000" dirty="0">
                <a:solidFill>
                  <a:srgbClr val="5B6B77"/>
                </a:solidFill>
              </a:rPr>
              <a:t>Patients add a PDF or photo; Sarvam Document AI reads the values</a:t>
            </a:r>
            <a:endParaRPr lang="en-US" sz="1000" dirty="0"/>
          </a:p>
        </p:txBody>
      </p:sp>
      <p:sp>
        <p:nvSpPr>
          <p:cNvPr id="39" name="Shape 37"/>
          <p:cNvSpPr/>
          <p:nvPr/>
        </p:nvSpPr>
        <p:spPr>
          <a:xfrm>
            <a:off x="3291840" y="3529584"/>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40" name="Shape 38"/>
          <p:cNvSpPr/>
          <p:nvPr/>
        </p:nvSpPr>
        <p:spPr>
          <a:xfrm>
            <a:off x="3419856" y="3749040"/>
            <a:ext cx="475488" cy="475488"/>
          </a:xfrm>
          <a:prstGeom prst="ellipse">
            <a:avLst/>
          </a:prstGeom>
          <a:solidFill>
            <a:srgbClr val="E7F2F0"/>
          </a:solidFill>
          <a:ln w="12700">
            <a:solidFill>
              <a:srgbClr val="E7F2F0"/>
            </a:solidFill>
            <a:prstDash val="solid"/>
          </a:ln>
        </p:spPr>
      </p:sp>
      <p:sp>
        <p:nvSpPr>
          <p:cNvPr id="41" name="Text 39"/>
          <p:cNvSpPr txBox="1"/>
          <p:nvPr/>
        </p:nvSpPr>
        <p:spPr>
          <a:xfrm>
            <a:off x="3419856" y="3749040"/>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2" name="Text 40"/>
          <p:cNvSpPr txBox="1"/>
          <p:nvPr/>
        </p:nvSpPr>
        <p:spPr>
          <a:xfrm>
            <a:off x="4005072" y="3621024"/>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Voice and chat</a:t>
            </a:r>
            <a:endParaRPr lang="en-US" sz="1250" dirty="0"/>
          </a:p>
        </p:txBody>
      </p:sp>
      <p:sp>
        <p:nvSpPr>
          <p:cNvPr id="43" name="Text 41"/>
          <p:cNvSpPr txBox="1"/>
          <p:nvPr/>
        </p:nvSpPr>
        <p:spPr>
          <a:xfrm>
            <a:off x="4005072" y="3895344"/>
            <a:ext cx="1783080" cy="530352"/>
          </a:xfrm>
          <a:prstGeom prst="rect">
            <a:avLst/>
          </a:prstGeom>
          <a:noFill/>
          <a:ln/>
        </p:spPr>
        <p:txBody>
          <a:bodyPr wrap="square" lIns="0" tIns="0" rIns="0" bIns="0" rtlCol="0" anchor="t"/>
          <a:lstStyle/>
          <a:p>
            <a:pPr indent="0" marL="0">
              <a:buNone/>
            </a:pPr>
            <a:r>
              <a:rPr lang="en-US" sz="1000" dirty="0">
                <a:solidFill>
                  <a:srgbClr val="5B6B77"/>
                </a:solidFill>
              </a:rPr>
              <a:t>Ask in your language; safety rules run in code first</a:t>
            </a:r>
            <a:endParaRPr lang="en-US" sz="1000" dirty="0"/>
          </a:p>
        </p:txBody>
      </p:sp>
      <p:sp>
        <p:nvSpPr>
          <p:cNvPr id="44" name="Shape 42"/>
          <p:cNvSpPr/>
          <p:nvPr/>
        </p:nvSpPr>
        <p:spPr>
          <a:xfrm>
            <a:off x="6035040" y="3529584"/>
            <a:ext cx="2560320" cy="932688"/>
          </a:xfrm>
          <a:prstGeom prst="roundRect">
            <a:avLst>
              <a:gd name="adj" fmla="val 9804"/>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45" name="Shape 43"/>
          <p:cNvSpPr/>
          <p:nvPr/>
        </p:nvSpPr>
        <p:spPr>
          <a:xfrm>
            <a:off x="6163056" y="3749040"/>
            <a:ext cx="475488" cy="475488"/>
          </a:xfrm>
          <a:prstGeom prst="ellipse">
            <a:avLst/>
          </a:prstGeom>
          <a:solidFill>
            <a:srgbClr val="E7F2F0"/>
          </a:solidFill>
          <a:ln w="12700">
            <a:solidFill>
              <a:srgbClr val="E7F2F0"/>
            </a:solidFill>
            <a:prstDash val="solid"/>
          </a:ln>
        </p:spPr>
      </p:sp>
      <p:sp>
        <p:nvSpPr>
          <p:cNvPr id="46" name="Text 44"/>
          <p:cNvSpPr txBox="1"/>
          <p:nvPr/>
        </p:nvSpPr>
        <p:spPr>
          <a:xfrm>
            <a:off x="6163056" y="3749040"/>
            <a:ext cx="475488" cy="47548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7" name="Text 45"/>
          <p:cNvSpPr txBox="1"/>
          <p:nvPr/>
        </p:nvSpPr>
        <p:spPr>
          <a:xfrm>
            <a:off x="6748272" y="3621024"/>
            <a:ext cx="1783080" cy="256032"/>
          </a:xfrm>
          <a:prstGeom prst="rect">
            <a:avLst/>
          </a:prstGeom>
          <a:noFill/>
          <a:ln/>
        </p:spPr>
        <p:txBody>
          <a:bodyPr wrap="square" lIns="0" tIns="0" rIns="0" bIns="0" rtlCol="0" anchor="ctr"/>
          <a:lstStyle/>
          <a:p>
            <a:pPr indent="0" marL="0">
              <a:buNone/>
            </a:pPr>
            <a:r>
              <a:rPr lang="en-US" sz="1250" b="1" dirty="0">
                <a:solidFill>
                  <a:srgbClr val="0F3B38"/>
                </a:solidFill>
              </a:rPr>
              <a:t>Clinical summary PDF</a:t>
            </a:r>
            <a:endParaRPr lang="en-US" sz="1250" dirty="0"/>
          </a:p>
        </p:txBody>
      </p:sp>
      <p:sp>
        <p:nvSpPr>
          <p:cNvPr id="48" name="Text 46"/>
          <p:cNvSpPr txBox="1"/>
          <p:nvPr/>
        </p:nvSpPr>
        <p:spPr>
          <a:xfrm>
            <a:off x="6748272" y="3895344"/>
            <a:ext cx="1783080" cy="530352"/>
          </a:xfrm>
          <a:prstGeom prst="rect">
            <a:avLst/>
          </a:prstGeom>
          <a:noFill/>
          <a:ln/>
        </p:spPr>
        <p:txBody>
          <a:bodyPr wrap="square" lIns="0" tIns="0" rIns="0" bIns="0" rtlCol="0" anchor="t"/>
          <a:lstStyle/>
          <a:p>
            <a:pPr indent="0" marL="0">
              <a:buNone/>
            </a:pPr>
            <a:r>
              <a:rPr lang="en-US" sz="1000" dirty="0">
                <a:solidFill>
                  <a:srgbClr val="5B6B77"/>
                </a:solidFill>
              </a:rPr>
              <a:t>One click from the doctor view, with forecast and what-if</a:t>
            </a:r>
            <a:endParaRPr lang="en-US" sz="10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THE PRODUCT</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See it working: doctor workspace and patient app</a:t>
            </a:r>
            <a:endParaRPr lang="en-US" sz="2500" dirty="0"/>
          </a:p>
        </p:txBody>
      </p:sp>
      <p:pic>
        <p:nvPicPr>
          <p:cNvPr id="4" name="Image 0" descr="Kaya doctor workspace: triage list, what changed since the last visit and the glucose twin">    </p:cNvPr>
          <p:cNvPicPr>
            <a:picLocks noChangeAspect="1"/>
          </p:cNvPicPr>
          <p:nvPr/>
        </p:nvPicPr>
        <p:blipFill>
          <a:blip r:embed="rId1"/>
          <a:stretch>
            <a:fillRect/>
          </a:stretch>
        </p:blipFill>
        <p:spPr>
          <a:xfrm>
            <a:off x="548640" y="1463040"/>
            <a:ext cx="4754880" cy="3081528"/>
          </a:xfrm>
          <a:prstGeom prst="rect">
            <a:avLst/>
          </a:prstGeom>
        </p:spPr>
      </p:pic>
      <p:pic>
        <p:nvPicPr>
          <p:cNvPr id="5" name="Image 1" descr="Kaya patient app, Today screen">    </p:cNvPr>
          <p:cNvPicPr>
            <a:picLocks noChangeAspect="1"/>
          </p:cNvPicPr>
          <p:nvPr/>
        </p:nvPicPr>
        <p:blipFill>
          <a:blip r:embed="rId2"/>
          <a:stretch>
            <a:fillRect/>
          </a:stretch>
        </p:blipFill>
        <p:spPr>
          <a:xfrm>
            <a:off x="5541264" y="1463040"/>
            <a:ext cx="1499616" cy="3026664"/>
          </a:xfrm>
          <a:prstGeom prst="rect">
            <a:avLst/>
          </a:prstGeom>
        </p:spPr>
      </p:pic>
      <p:pic>
        <p:nvPicPr>
          <p:cNvPr id="6" name="Image 2" descr="Kaya patient app, Try a change screen">    </p:cNvPr>
          <p:cNvPicPr>
            <a:picLocks noChangeAspect="1"/>
          </p:cNvPicPr>
          <p:nvPr/>
        </p:nvPicPr>
        <p:blipFill>
          <a:blip r:embed="rId3"/>
          <a:stretch>
            <a:fillRect/>
          </a:stretch>
        </p:blipFill>
        <p:spPr>
          <a:xfrm>
            <a:off x="7095744" y="1463040"/>
            <a:ext cx="1499616" cy="3026664"/>
          </a:xfrm>
          <a:prstGeom prst="rect">
            <a:avLst/>
          </a:prstGeom>
        </p:spPr>
      </p:pic>
      <p:sp>
        <p:nvSpPr>
          <p:cNvPr id="7" name="Text 2"/>
          <p:cNvSpPr txBox="1"/>
          <p:nvPr/>
        </p:nvSpPr>
        <p:spPr>
          <a:xfrm>
            <a:off x="548640" y="4572000"/>
            <a:ext cx="4754880" cy="201168"/>
          </a:xfrm>
          <a:prstGeom prst="rect">
            <a:avLst/>
          </a:prstGeom>
          <a:noFill/>
          <a:ln/>
        </p:spPr>
        <p:txBody>
          <a:bodyPr wrap="square" lIns="0" tIns="0" rIns="0" bIns="0" rtlCol="0" anchor="ctr"/>
          <a:lstStyle/>
          <a:p>
            <a:pPr indent="0" marL="0">
              <a:buNone/>
            </a:pPr>
            <a:r>
              <a:rPr lang="en-US" sz="1000" i="1" dirty="0">
                <a:solidFill>
                  <a:srgbClr val="5B6B77"/>
                </a:solidFill>
              </a:rPr>
              <a:t>Doctor: triage, what changed, glucose twin</a:t>
            </a:r>
            <a:endParaRPr lang="en-US" sz="1000" dirty="0"/>
          </a:p>
        </p:txBody>
      </p:sp>
      <p:sp>
        <p:nvSpPr>
          <p:cNvPr id="8" name="Text 3"/>
          <p:cNvSpPr txBox="1"/>
          <p:nvPr/>
        </p:nvSpPr>
        <p:spPr>
          <a:xfrm>
            <a:off x="5541264" y="4572000"/>
            <a:ext cx="3054096" cy="201168"/>
          </a:xfrm>
          <a:prstGeom prst="rect">
            <a:avLst/>
          </a:prstGeom>
          <a:noFill/>
          <a:ln/>
        </p:spPr>
        <p:txBody>
          <a:bodyPr wrap="square" lIns="0" tIns="0" rIns="0" bIns="0" rtlCol="0" anchor="ctr"/>
          <a:lstStyle/>
          <a:p>
            <a:pPr algn="ctr" indent="0" marL="0">
              <a:buNone/>
            </a:pPr>
            <a:r>
              <a:rPr lang="en-US" sz="1000" i="1" dirty="0">
                <a:solidFill>
                  <a:srgbClr val="5B6B77"/>
                </a:solidFill>
              </a:rPr>
              <a:t>Patient: Today  ·  Try a change</a:t>
            </a:r>
            <a:endParaRPr lang="en-US" sz="10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8"/>
        </a:solidFill>
      </p:bgPr>
    </p:bg>
    <p:spTree>
      <p:nvGrpSpPr>
        <p:cNvPr id="1" name=""/>
        <p:cNvGrpSpPr/>
        <p:nvPr/>
      </p:nvGrpSpPr>
      <p:grpSpPr>
        <a:xfrm>
          <a:off x="0" y="0"/>
          <a:ext cx="0" cy="0"/>
          <a:chOff x="0" y="0"/>
          <a:chExt cx="0" cy="0"/>
        </a:xfrm>
      </p:grpSpPr>
      <p:pic>
        <p:nvPicPr>
          <p:cNvPr id="2" name="Image 0" descr="Kaya system architecture: inputs, the twin engine, and the patient, doctor and admin flow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THE AI / ML MODELS</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Four models, each tested on real data</a:t>
            </a:r>
            <a:endParaRPr lang="en-US" sz="2500" dirty="0"/>
          </a:p>
        </p:txBody>
      </p:sp>
      <p:sp>
        <p:nvSpPr>
          <p:cNvPr id="4" name="Shape 2"/>
          <p:cNvSpPr/>
          <p:nvPr/>
        </p:nvSpPr>
        <p:spPr>
          <a:xfrm>
            <a:off x="548640" y="1463040"/>
            <a:ext cx="3931920" cy="2377440"/>
          </a:xfrm>
          <a:prstGeom prst="roundRect">
            <a:avLst>
              <a:gd name="adj" fmla="val 3846"/>
            </a:avLst>
          </a:prstGeom>
          <a:solidFill>
            <a:srgbClr val="FAF9F5"/>
          </a:solidFill>
          <a:ln w="9525">
            <a:solidFill>
              <a:srgbClr val="D5DEDC"/>
            </a:solidFill>
            <a:prstDash val="solid"/>
          </a:ln>
        </p:spPr>
      </p:sp>
      <p:sp>
        <p:nvSpPr>
          <p:cNvPr id="5" name="Text 3"/>
          <p:cNvSpPr txBox="1"/>
          <p:nvPr/>
        </p:nvSpPr>
        <p:spPr>
          <a:xfrm>
            <a:off x="685800" y="1517904"/>
            <a:ext cx="3657600" cy="256032"/>
          </a:xfrm>
          <a:prstGeom prst="rect">
            <a:avLst/>
          </a:prstGeom>
          <a:noFill/>
          <a:ln/>
        </p:spPr>
        <p:txBody>
          <a:bodyPr wrap="square" lIns="0" tIns="0" rIns="0" bIns="0" rtlCol="0" anchor="ctr"/>
          <a:lstStyle/>
          <a:p>
            <a:pPr indent="0" marL="0">
              <a:buNone/>
            </a:pPr>
            <a:r>
              <a:rPr lang="en-US" sz="1100" b="1" dirty="0">
                <a:solidFill>
                  <a:srgbClr val="0F3B38"/>
                </a:solidFill>
              </a:rPr>
              <a:t>Glucose forecast error (mg/dL, lower is better)</a:t>
            </a:r>
            <a:endParaRPr lang="en-US" sz="1100" dirty="0"/>
          </a:p>
        </p:txBody>
      </p:sp>
      <p:graphicFrame>
        <p:nvGraphicFramePr>
          <p:cNvPr id="6" name="Chart 0" descr=""/>
          <p:cNvGraphicFramePr/>
          <p:nvPr/>
        </p:nvGraphicFramePr>
        <p:xfrm>
          <a:off x="594360" y="1755648"/>
          <a:ext cx="3840480" cy="1627632"/>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85800" y="3383280"/>
            <a:ext cx="3657600" cy="411480"/>
          </a:xfrm>
          <a:prstGeom prst="rect">
            <a:avLst/>
          </a:prstGeom>
          <a:noFill/>
          <a:ln/>
        </p:spPr>
        <p:txBody>
          <a:bodyPr wrap="square" lIns="0" tIns="0" rIns="0" bIns="0" rtlCol="0" anchor="t"/>
          <a:lstStyle/>
          <a:p>
            <a:pPr indent="0" marL="0">
              <a:buNone/>
            </a:pPr>
            <a:r>
              <a:rPr lang="en-US" sz="1050" dirty="0">
                <a:solidFill>
                  <a:srgbClr val="5B6B77"/>
                </a:solidFill>
              </a:rPr>
              <a:t>80% intervals really cover 80%. Catches 72% of lows, 45 min early.</a:t>
            </a:r>
            <a:endParaRPr lang="en-US" sz="1050" dirty="0"/>
          </a:p>
        </p:txBody>
      </p:sp>
      <p:sp>
        <p:nvSpPr>
          <p:cNvPr id="8" name="Shape 5"/>
          <p:cNvSpPr/>
          <p:nvPr/>
        </p:nvSpPr>
        <p:spPr>
          <a:xfrm>
            <a:off x="4663440" y="1463040"/>
            <a:ext cx="3931920" cy="2377440"/>
          </a:xfrm>
          <a:prstGeom prst="roundRect">
            <a:avLst>
              <a:gd name="adj" fmla="val 3846"/>
            </a:avLst>
          </a:prstGeom>
          <a:solidFill>
            <a:srgbClr val="FAF9F5"/>
          </a:solidFill>
          <a:ln w="9525">
            <a:solidFill>
              <a:srgbClr val="D5DEDC"/>
            </a:solidFill>
            <a:prstDash val="solid"/>
          </a:ln>
        </p:spPr>
      </p:sp>
      <p:sp>
        <p:nvSpPr>
          <p:cNvPr id="9" name="Text 6"/>
          <p:cNvSpPr txBox="1"/>
          <p:nvPr/>
        </p:nvSpPr>
        <p:spPr>
          <a:xfrm>
            <a:off x="4800600" y="1517904"/>
            <a:ext cx="3657600" cy="256032"/>
          </a:xfrm>
          <a:prstGeom prst="rect">
            <a:avLst/>
          </a:prstGeom>
          <a:noFill/>
          <a:ln/>
        </p:spPr>
        <p:txBody>
          <a:bodyPr wrap="square" lIns="0" tIns="0" rIns="0" bIns="0" rtlCol="0" anchor="ctr"/>
          <a:lstStyle/>
          <a:p>
            <a:pPr indent="0" marL="0">
              <a:buNone/>
            </a:pPr>
            <a:r>
              <a:rPr lang="en-US" sz="1100" b="1" dirty="0">
                <a:solidFill>
                  <a:srgbClr val="0F3B38"/>
                </a:solidFill>
              </a:rPr>
              <a:t>Liver and kidney: AUROC (higher is better)</a:t>
            </a:r>
            <a:endParaRPr lang="en-US" sz="1100" dirty="0"/>
          </a:p>
        </p:txBody>
      </p:sp>
      <p:graphicFrame>
        <p:nvGraphicFramePr>
          <p:cNvPr id="10" name="Chart 1" descr=""/>
          <p:cNvGraphicFramePr/>
          <p:nvPr/>
        </p:nvGraphicFramePr>
        <p:xfrm>
          <a:off x="4709160" y="1755648"/>
          <a:ext cx="3840480" cy="162763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4800600" y="3383280"/>
            <a:ext cx="3657600" cy="411480"/>
          </a:xfrm>
          <a:prstGeom prst="rect">
            <a:avLst/>
          </a:prstGeom>
          <a:noFill/>
          <a:ln/>
        </p:spPr>
        <p:txBody>
          <a:bodyPr wrap="square" lIns="0" tIns="0" rIns="0" bIns="0" rtlCol="0" anchor="t"/>
          <a:lstStyle/>
          <a:p>
            <a:pPr indent="0" marL="0">
              <a:buNone/>
            </a:pPr>
            <a:r>
              <a:rPr lang="en-US" sz="1050" dirty="0">
                <a:solidFill>
                  <a:srgbClr val="5B6B77"/>
                </a:solidFill>
              </a:rPr>
              <a:t>Eye grader: kappa 0.89 on APTOS, 0.71 on the Indian IDRiD set.</a:t>
            </a:r>
            <a:endParaRPr lang="en-US" sz="1050" dirty="0"/>
          </a:p>
        </p:txBody>
      </p:sp>
      <p:sp>
        <p:nvSpPr>
          <p:cNvPr id="12" name="Shape 8"/>
          <p:cNvSpPr/>
          <p:nvPr/>
        </p:nvSpPr>
        <p:spPr>
          <a:xfrm>
            <a:off x="548640" y="3959352"/>
            <a:ext cx="1920240" cy="566928"/>
          </a:xfrm>
          <a:prstGeom prst="roundRect">
            <a:avLst>
              <a:gd name="adj" fmla="val 12903"/>
            </a:avLst>
          </a:prstGeom>
          <a:solidFill>
            <a:srgbClr val="FFFFFF"/>
          </a:solidFill>
          <a:ln w="12700">
            <a:solidFill>
              <a:srgbClr val="0F7068"/>
            </a:solidFill>
            <a:prstDash val="solid"/>
          </a:ln>
        </p:spPr>
      </p:sp>
      <p:sp>
        <p:nvSpPr>
          <p:cNvPr id="13" name="Text 9"/>
          <p:cNvSpPr txBox="1"/>
          <p:nvPr/>
        </p:nvSpPr>
        <p:spPr>
          <a:xfrm>
            <a:off x="621792" y="3959352"/>
            <a:ext cx="365760" cy="56692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4" name="Text 10"/>
          <p:cNvSpPr txBox="1"/>
          <p:nvPr/>
        </p:nvSpPr>
        <p:spPr>
          <a:xfrm>
            <a:off x="1024128" y="3959352"/>
            <a:ext cx="1417320" cy="566928"/>
          </a:xfrm>
          <a:prstGeom prst="rect">
            <a:avLst/>
          </a:prstGeom>
          <a:noFill/>
          <a:ln/>
        </p:spPr>
        <p:txBody>
          <a:bodyPr wrap="square" lIns="0" tIns="0" rIns="0" bIns="0" rtlCol="0" anchor="ctr"/>
          <a:lstStyle/>
          <a:p>
            <a:pPr indent="0" marL="0">
              <a:buNone/>
            </a:pPr>
            <a:r>
              <a:rPr lang="en-US" sz="1150" b="1" dirty="0">
                <a:solidFill>
                  <a:srgbClr val="0F3B38"/>
                </a:solidFill>
              </a:rPr>
              <a:t>Glucose</a:t>
            </a:r>
            <a:endParaRPr lang="en-US" sz="1150" dirty="0"/>
          </a:p>
          <a:p>
            <a:pPr indent="0" marL="0">
              <a:buNone/>
            </a:pPr>
            <a:r>
              <a:rPr lang="en-US" sz="1000" dirty="0">
                <a:solidFill>
                  <a:srgbClr val="5B6B77"/>
                </a:solidFill>
              </a:rPr>
              <a:t>GRU (PyTorch) + LightGBM</a:t>
            </a:r>
            <a:endParaRPr lang="en-US" sz="1150" dirty="0"/>
          </a:p>
        </p:txBody>
      </p:sp>
      <p:sp>
        <p:nvSpPr>
          <p:cNvPr id="15" name="Shape 11"/>
          <p:cNvSpPr/>
          <p:nvPr/>
        </p:nvSpPr>
        <p:spPr>
          <a:xfrm>
            <a:off x="2606040" y="3959352"/>
            <a:ext cx="1920240" cy="566928"/>
          </a:xfrm>
          <a:prstGeom prst="roundRect">
            <a:avLst>
              <a:gd name="adj" fmla="val 12903"/>
            </a:avLst>
          </a:prstGeom>
          <a:solidFill>
            <a:srgbClr val="FFFFFF"/>
          </a:solidFill>
          <a:ln w="12700">
            <a:solidFill>
              <a:srgbClr val="0F7068"/>
            </a:solidFill>
            <a:prstDash val="solid"/>
          </a:ln>
        </p:spPr>
      </p:sp>
      <p:sp>
        <p:nvSpPr>
          <p:cNvPr id="16" name="Text 12"/>
          <p:cNvSpPr txBox="1"/>
          <p:nvPr/>
        </p:nvSpPr>
        <p:spPr>
          <a:xfrm>
            <a:off x="2679192" y="3959352"/>
            <a:ext cx="365760" cy="56692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7" name="Text 13"/>
          <p:cNvSpPr txBox="1"/>
          <p:nvPr/>
        </p:nvSpPr>
        <p:spPr>
          <a:xfrm>
            <a:off x="3081528" y="3959352"/>
            <a:ext cx="1417320" cy="566928"/>
          </a:xfrm>
          <a:prstGeom prst="rect">
            <a:avLst/>
          </a:prstGeom>
          <a:noFill/>
          <a:ln/>
        </p:spPr>
        <p:txBody>
          <a:bodyPr wrap="square" lIns="0" tIns="0" rIns="0" bIns="0" rtlCol="0" anchor="ctr"/>
          <a:lstStyle/>
          <a:p>
            <a:pPr indent="0" marL="0">
              <a:buNone/>
            </a:pPr>
            <a:r>
              <a:rPr lang="en-US" sz="1150" b="1" dirty="0">
                <a:solidFill>
                  <a:srgbClr val="0F3B38"/>
                </a:solidFill>
              </a:rPr>
              <a:t>Liver</a:t>
            </a:r>
            <a:endParaRPr lang="en-US" sz="1150" dirty="0"/>
          </a:p>
          <a:p>
            <a:pPr indent="0" marL="0">
              <a:buNone/>
            </a:pPr>
            <a:r>
              <a:rPr lang="en-US" sz="1000" dirty="0">
                <a:solidFill>
                  <a:srgbClr val="5B6B77"/>
                </a:solidFill>
              </a:rPr>
              <a:t>LightGBM + logistic, SHAP</a:t>
            </a:r>
            <a:endParaRPr lang="en-US" sz="1150" dirty="0"/>
          </a:p>
        </p:txBody>
      </p:sp>
      <p:sp>
        <p:nvSpPr>
          <p:cNvPr id="18" name="Shape 14"/>
          <p:cNvSpPr/>
          <p:nvPr/>
        </p:nvSpPr>
        <p:spPr>
          <a:xfrm>
            <a:off x="4663440" y="3959352"/>
            <a:ext cx="1920240" cy="566928"/>
          </a:xfrm>
          <a:prstGeom prst="roundRect">
            <a:avLst>
              <a:gd name="adj" fmla="val 12903"/>
            </a:avLst>
          </a:prstGeom>
          <a:solidFill>
            <a:srgbClr val="FFFFFF"/>
          </a:solidFill>
          <a:ln w="12700">
            <a:solidFill>
              <a:srgbClr val="0F7068"/>
            </a:solidFill>
            <a:prstDash val="solid"/>
          </a:ln>
        </p:spPr>
      </p:sp>
      <p:sp>
        <p:nvSpPr>
          <p:cNvPr id="19" name="Text 15"/>
          <p:cNvSpPr txBox="1"/>
          <p:nvPr/>
        </p:nvSpPr>
        <p:spPr>
          <a:xfrm>
            <a:off x="4736592" y="3959352"/>
            <a:ext cx="365760" cy="56692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0" name="Text 16"/>
          <p:cNvSpPr txBox="1"/>
          <p:nvPr/>
        </p:nvSpPr>
        <p:spPr>
          <a:xfrm>
            <a:off x="5138928" y="3959352"/>
            <a:ext cx="1417320" cy="566928"/>
          </a:xfrm>
          <a:prstGeom prst="rect">
            <a:avLst/>
          </a:prstGeom>
          <a:noFill/>
          <a:ln/>
        </p:spPr>
        <p:txBody>
          <a:bodyPr wrap="square" lIns="0" tIns="0" rIns="0" bIns="0" rtlCol="0" anchor="ctr"/>
          <a:lstStyle/>
          <a:p>
            <a:pPr indent="0" marL="0">
              <a:buNone/>
            </a:pPr>
            <a:r>
              <a:rPr lang="en-US" sz="1150" b="1" dirty="0">
                <a:solidFill>
                  <a:srgbClr val="0F3B38"/>
                </a:solidFill>
              </a:rPr>
              <a:t>Eye</a:t>
            </a:r>
            <a:endParaRPr lang="en-US" sz="1150" dirty="0"/>
          </a:p>
          <a:p>
            <a:pPr indent="0" marL="0">
              <a:buNone/>
            </a:pPr>
            <a:r>
              <a:rPr lang="en-US" sz="1000" dirty="0">
                <a:solidFill>
                  <a:srgbClr val="5B6B77"/>
                </a:solidFill>
              </a:rPr>
              <a:t>EfficientNet-B2 (timm)</a:t>
            </a:r>
            <a:endParaRPr lang="en-US" sz="1150" dirty="0"/>
          </a:p>
        </p:txBody>
      </p:sp>
      <p:sp>
        <p:nvSpPr>
          <p:cNvPr id="21" name="Shape 17"/>
          <p:cNvSpPr/>
          <p:nvPr/>
        </p:nvSpPr>
        <p:spPr>
          <a:xfrm>
            <a:off x="6720840" y="3959352"/>
            <a:ext cx="1920240" cy="566928"/>
          </a:xfrm>
          <a:prstGeom prst="roundRect">
            <a:avLst>
              <a:gd name="adj" fmla="val 12903"/>
            </a:avLst>
          </a:prstGeom>
          <a:solidFill>
            <a:srgbClr val="FFFFFF"/>
          </a:solidFill>
          <a:ln w="12700">
            <a:solidFill>
              <a:srgbClr val="0F7068"/>
            </a:solidFill>
            <a:prstDash val="solid"/>
          </a:ln>
        </p:spPr>
      </p:sp>
      <p:sp>
        <p:nvSpPr>
          <p:cNvPr id="22" name="Text 18"/>
          <p:cNvSpPr txBox="1"/>
          <p:nvPr/>
        </p:nvSpPr>
        <p:spPr>
          <a:xfrm>
            <a:off x="6793992" y="3959352"/>
            <a:ext cx="365760" cy="56692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3" name="Text 19"/>
          <p:cNvSpPr txBox="1"/>
          <p:nvPr/>
        </p:nvSpPr>
        <p:spPr>
          <a:xfrm>
            <a:off x="7196328" y="3959352"/>
            <a:ext cx="1417320" cy="566928"/>
          </a:xfrm>
          <a:prstGeom prst="rect">
            <a:avLst/>
          </a:prstGeom>
          <a:noFill/>
          <a:ln/>
        </p:spPr>
        <p:txBody>
          <a:bodyPr wrap="square" lIns="0" tIns="0" rIns="0" bIns="0" rtlCol="0" anchor="ctr"/>
          <a:lstStyle/>
          <a:p>
            <a:pPr indent="0" marL="0">
              <a:buNone/>
            </a:pPr>
            <a:r>
              <a:rPr lang="en-US" sz="1150" b="1" dirty="0">
                <a:solidFill>
                  <a:srgbClr val="0F3B38"/>
                </a:solidFill>
              </a:rPr>
              <a:t>Kidney</a:t>
            </a:r>
            <a:endParaRPr lang="en-US" sz="1150" dirty="0"/>
          </a:p>
          <a:p>
            <a:pPr indent="0" marL="0">
              <a:buNone/>
            </a:pPr>
            <a:r>
              <a:rPr lang="en-US" sz="1000" dirty="0">
                <a:solidFill>
                  <a:srgbClr val="5B6B77"/>
                </a:solidFill>
              </a:rPr>
              <a:t>LightGBM + logistic, SHAP</a:t>
            </a:r>
            <a:endParaRPr lang="en-US" sz="115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TECHNICAL STACK</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Open data in, explainable models, one clean platform</a:t>
            </a:r>
            <a:endParaRPr lang="en-US" sz="2500" dirty="0"/>
          </a:p>
        </p:txBody>
      </p:sp>
      <p:sp>
        <p:nvSpPr>
          <p:cNvPr id="4" name="Shape 2"/>
          <p:cNvSpPr/>
          <p:nvPr/>
        </p:nvSpPr>
        <p:spPr>
          <a:xfrm>
            <a:off x="548640" y="1417320"/>
            <a:ext cx="1920240" cy="292608"/>
          </a:xfrm>
          <a:prstGeom prst="roundRect">
            <a:avLst>
              <a:gd name="adj" fmla="val 25000"/>
            </a:avLst>
          </a:prstGeom>
          <a:solidFill>
            <a:srgbClr val="1D6FB8"/>
          </a:solidFill>
          <a:ln w="12700">
            <a:solidFill>
              <a:srgbClr val="1D6FB8"/>
            </a:solidFill>
            <a:prstDash val="solid"/>
          </a:ln>
        </p:spPr>
      </p:sp>
      <p:sp>
        <p:nvSpPr>
          <p:cNvPr id="5" name="Text 3"/>
          <p:cNvSpPr txBox="1"/>
          <p:nvPr/>
        </p:nvSpPr>
        <p:spPr>
          <a:xfrm>
            <a:off x="640080" y="1417320"/>
            <a:ext cx="1783080" cy="292608"/>
          </a:xfrm>
          <a:prstGeom prst="rect">
            <a:avLst/>
          </a:prstGeom>
          <a:noFill/>
          <a:ln/>
        </p:spPr>
        <p:txBody>
          <a:bodyPr wrap="square" lIns="0" tIns="0" rIns="0" bIns="0" rtlCol="0" anchor="ctr"/>
          <a:lstStyle/>
          <a:p>
            <a:pPr indent="0" marL="0">
              <a:buNone/>
            </a:pPr>
            <a:r>
              <a:rPr lang="en-US" sz="950" b="1" spc="100" kern="0" dirty="0">
                <a:solidFill>
                  <a:srgbClr val="FFFFFF"/>
                </a:solidFill>
              </a:rPr>
              <a:t>DATA</a:t>
            </a:r>
            <a:endParaRPr lang="en-US" sz="950" dirty="0"/>
          </a:p>
        </p:txBody>
      </p:sp>
      <p:sp>
        <p:nvSpPr>
          <p:cNvPr id="6" name="Shape 4"/>
          <p:cNvSpPr/>
          <p:nvPr/>
        </p:nvSpPr>
        <p:spPr>
          <a:xfrm>
            <a:off x="548640" y="1783080"/>
            <a:ext cx="1920240" cy="621792"/>
          </a:xfrm>
          <a:prstGeom prst="roundRect">
            <a:avLst>
              <a:gd name="adj" fmla="val 11765"/>
            </a:avLst>
          </a:prstGeom>
          <a:solidFill>
            <a:srgbClr val="FFFFFF"/>
          </a:solidFill>
          <a:ln w="12700">
            <a:solidFill>
              <a:srgbClr val="1D6FB8"/>
            </a:solidFill>
            <a:prstDash val="solid"/>
          </a:ln>
          <a:effectLst>
            <a:outerShdw sx="100000" sy="100000" kx="0" ky="0" algn="bl" rotWithShape="0" blurRad="101600" dist="25400" dir="5400000">
              <a:srgbClr val="0F3B38">
                <a:alpha val="12000"/>
              </a:srgbClr>
            </a:outerShdw>
          </a:effectLst>
        </p:spPr>
      </p:sp>
      <p:sp>
        <p:nvSpPr>
          <p:cNvPr id="7" name="Shape 5"/>
          <p:cNvSpPr/>
          <p:nvPr/>
        </p:nvSpPr>
        <p:spPr>
          <a:xfrm>
            <a:off x="621792" y="1911096"/>
            <a:ext cx="365760" cy="365760"/>
          </a:xfrm>
          <a:prstGeom prst="ellipse">
            <a:avLst/>
          </a:prstGeom>
          <a:solidFill>
            <a:srgbClr val="E7F2F0"/>
          </a:solidFill>
          <a:ln w="12700">
            <a:solidFill>
              <a:srgbClr val="E7F2F0"/>
            </a:solidFill>
            <a:prstDash val="solid"/>
          </a:ln>
        </p:spPr>
      </p:sp>
      <p:sp>
        <p:nvSpPr>
          <p:cNvPr id="8" name="Text 6"/>
          <p:cNvSpPr txBox="1"/>
          <p:nvPr/>
        </p:nvSpPr>
        <p:spPr>
          <a:xfrm>
            <a:off x="621792" y="1911096"/>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9" name="Text 7"/>
          <p:cNvSpPr txBox="1"/>
          <p:nvPr/>
        </p:nvSpPr>
        <p:spPr>
          <a:xfrm>
            <a:off x="1060704" y="1783080"/>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CGMacros</a:t>
            </a:r>
            <a:endParaRPr lang="en-US" sz="1100" dirty="0"/>
          </a:p>
          <a:p>
            <a:pPr indent="0" marL="0">
              <a:buNone/>
            </a:pPr>
            <a:r>
              <a:rPr lang="en-US" sz="1000" dirty="0">
                <a:solidFill>
                  <a:srgbClr val="5B6B77"/>
                </a:solidFill>
              </a:rPr>
              <a:t>real CGM, 34 people</a:t>
            </a:r>
            <a:endParaRPr lang="en-US" sz="1100" dirty="0"/>
          </a:p>
        </p:txBody>
      </p:sp>
      <p:sp>
        <p:nvSpPr>
          <p:cNvPr id="10" name="Shape 8"/>
          <p:cNvSpPr/>
          <p:nvPr/>
        </p:nvSpPr>
        <p:spPr>
          <a:xfrm>
            <a:off x="548640" y="2459736"/>
            <a:ext cx="1920240" cy="621792"/>
          </a:xfrm>
          <a:prstGeom prst="roundRect">
            <a:avLst>
              <a:gd name="adj" fmla="val 11765"/>
            </a:avLst>
          </a:prstGeom>
          <a:solidFill>
            <a:srgbClr val="FFFFFF"/>
          </a:solidFill>
          <a:ln w="12700">
            <a:solidFill>
              <a:srgbClr val="1D6FB8"/>
            </a:solidFill>
            <a:prstDash val="solid"/>
          </a:ln>
          <a:effectLst>
            <a:outerShdw sx="100000" sy="100000" kx="0" ky="0" algn="bl" rotWithShape="0" blurRad="101600" dist="25400" dir="5400000">
              <a:srgbClr val="0F3B38">
                <a:alpha val="12000"/>
              </a:srgbClr>
            </a:outerShdw>
          </a:effectLst>
        </p:spPr>
      </p:sp>
      <p:sp>
        <p:nvSpPr>
          <p:cNvPr id="11" name="Shape 9"/>
          <p:cNvSpPr/>
          <p:nvPr/>
        </p:nvSpPr>
        <p:spPr>
          <a:xfrm>
            <a:off x="621792" y="2587752"/>
            <a:ext cx="365760" cy="365760"/>
          </a:xfrm>
          <a:prstGeom prst="ellipse">
            <a:avLst/>
          </a:prstGeom>
          <a:solidFill>
            <a:srgbClr val="E7F2F0"/>
          </a:solidFill>
          <a:ln w="12700">
            <a:solidFill>
              <a:srgbClr val="E7F2F0"/>
            </a:solidFill>
            <a:prstDash val="solid"/>
          </a:ln>
        </p:spPr>
      </p:sp>
      <p:sp>
        <p:nvSpPr>
          <p:cNvPr id="12" name="Text 10"/>
          <p:cNvSpPr txBox="1"/>
          <p:nvPr/>
        </p:nvSpPr>
        <p:spPr>
          <a:xfrm>
            <a:off x="621792" y="2587752"/>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13" name="Text 11"/>
          <p:cNvSpPr txBox="1"/>
          <p:nvPr/>
        </p:nvSpPr>
        <p:spPr>
          <a:xfrm>
            <a:off x="1060704" y="2459736"/>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NHANES 2017-18</a:t>
            </a:r>
            <a:endParaRPr lang="en-US" sz="1100" dirty="0"/>
          </a:p>
          <a:p>
            <a:pPr indent="0" marL="0">
              <a:buNone/>
            </a:pPr>
            <a:r>
              <a:rPr lang="en-US" sz="1000" dirty="0">
                <a:solidFill>
                  <a:srgbClr val="5B6B77"/>
                </a:solidFill>
              </a:rPr>
              <a:t>labs + FibroScan</a:t>
            </a:r>
            <a:endParaRPr lang="en-US" sz="1100" dirty="0"/>
          </a:p>
        </p:txBody>
      </p:sp>
      <p:sp>
        <p:nvSpPr>
          <p:cNvPr id="14" name="Shape 12"/>
          <p:cNvSpPr/>
          <p:nvPr/>
        </p:nvSpPr>
        <p:spPr>
          <a:xfrm>
            <a:off x="548640" y="3136392"/>
            <a:ext cx="1920240" cy="621792"/>
          </a:xfrm>
          <a:prstGeom prst="roundRect">
            <a:avLst>
              <a:gd name="adj" fmla="val 11765"/>
            </a:avLst>
          </a:prstGeom>
          <a:solidFill>
            <a:srgbClr val="FFFFFF"/>
          </a:solidFill>
          <a:ln w="12700">
            <a:solidFill>
              <a:srgbClr val="1D6FB8"/>
            </a:solidFill>
            <a:prstDash val="solid"/>
          </a:ln>
          <a:effectLst>
            <a:outerShdw sx="100000" sy="100000" kx="0" ky="0" algn="bl" rotWithShape="0" blurRad="101600" dist="25400" dir="5400000">
              <a:srgbClr val="0F3B38">
                <a:alpha val="12000"/>
              </a:srgbClr>
            </a:outerShdw>
          </a:effectLst>
        </p:spPr>
      </p:sp>
      <p:sp>
        <p:nvSpPr>
          <p:cNvPr id="15" name="Shape 13"/>
          <p:cNvSpPr/>
          <p:nvPr/>
        </p:nvSpPr>
        <p:spPr>
          <a:xfrm>
            <a:off x="621792" y="3264408"/>
            <a:ext cx="365760" cy="365760"/>
          </a:xfrm>
          <a:prstGeom prst="ellipse">
            <a:avLst/>
          </a:prstGeom>
          <a:solidFill>
            <a:srgbClr val="E7F2F0"/>
          </a:solidFill>
          <a:ln w="12700">
            <a:solidFill>
              <a:srgbClr val="E7F2F0"/>
            </a:solidFill>
            <a:prstDash val="solid"/>
          </a:ln>
        </p:spPr>
      </p:sp>
      <p:sp>
        <p:nvSpPr>
          <p:cNvPr id="16" name="Text 14"/>
          <p:cNvSpPr txBox="1"/>
          <p:nvPr/>
        </p:nvSpPr>
        <p:spPr>
          <a:xfrm>
            <a:off x="621792" y="3264408"/>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17" name="Text 15"/>
          <p:cNvSpPr txBox="1"/>
          <p:nvPr/>
        </p:nvSpPr>
        <p:spPr>
          <a:xfrm>
            <a:off x="1060704" y="3136392"/>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APTOS + IDRiD</a:t>
            </a:r>
            <a:endParaRPr lang="en-US" sz="1100" dirty="0"/>
          </a:p>
          <a:p>
            <a:pPr indent="0" marL="0">
              <a:buNone/>
            </a:pPr>
            <a:r>
              <a:rPr lang="en-US" sz="1000" dirty="0">
                <a:solidFill>
                  <a:srgbClr val="5B6B77"/>
                </a:solidFill>
              </a:rPr>
              <a:t>retina, incl. Indian</a:t>
            </a:r>
            <a:endParaRPr lang="en-US" sz="1100" dirty="0"/>
          </a:p>
        </p:txBody>
      </p:sp>
      <p:sp>
        <p:nvSpPr>
          <p:cNvPr id="18" name="Shape 16"/>
          <p:cNvSpPr/>
          <p:nvPr/>
        </p:nvSpPr>
        <p:spPr>
          <a:xfrm>
            <a:off x="548640" y="3813048"/>
            <a:ext cx="1920240" cy="621792"/>
          </a:xfrm>
          <a:prstGeom prst="roundRect">
            <a:avLst>
              <a:gd name="adj" fmla="val 11765"/>
            </a:avLst>
          </a:prstGeom>
          <a:solidFill>
            <a:srgbClr val="FFFFFF"/>
          </a:solidFill>
          <a:ln w="12700">
            <a:solidFill>
              <a:srgbClr val="1D6FB8"/>
            </a:solidFill>
            <a:prstDash val="solid"/>
          </a:ln>
          <a:effectLst>
            <a:outerShdw sx="100000" sy="100000" kx="0" ky="0" algn="bl" rotWithShape="0" blurRad="101600" dist="25400" dir="5400000">
              <a:srgbClr val="0F3B38">
                <a:alpha val="12000"/>
              </a:srgbClr>
            </a:outerShdw>
          </a:effectLst>
        </p:spPr>
      </p:sp>
      <p:sp>
        <p:nvSpPr>
          <p:cNvPr id="19" name="Shape 17"/>
          <p:cNvSpPr/>
          <p:nvPr/>
        </p:nvSpPr>
        <p:spPr>
          <a:xfrm>
            <a:off x="621792" y="3941064"/>
            <a:ext cx="365760" cy="365760"/>
          </a:xfrm>
          <a:prstGeom prst="ellipse">
            <a:avLst/>
          </a:prstGeom>
          <a:solidFill>
            <a:srgbClr val="E7F2F0"/>
          </a:solidFill>
          <a:ln w="12700">
            <a:solidFill>
              <a:srgbClr val="E7F2F0"/>
            </a:solidFill>
            <a:prstDash val="solid"/>
          </a:ln>
        </p:spPr>
      </p:sp>
      <p:sp>
        <p:nvSpPr>
          <p:cNvPr id="20" name="Text 18"/>
          <p:cNvSpPr txBox="1"/>
          <p:nvPr/>
        </p:nvSpPr>
        <p:spPr>
          <a:xfrm>
            <a:off x="621792" y="3941064"/>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21" name="Text 19"/>
          <p:cNvSpPr txBox="1"/>
          <p:nvPr/>
        </p:nvSpPr>
        <p:spPr>
          <a:xfrm>
            <a:off x="1060704" y="3813048"/>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Synthetic cohort</a:t>
            </a:r>
            <a:endParaRPr lang="en-US" sz="1100" dirty="0"/>
          </a:p>
          <a:p>
            <a:pPr indent="0" marL="0">
              <a:buNone/>
            </a:pPr>
            <a:r>
              <a:rPr lang="en-US" sz="1000" dirty="0">
                <a:solidFill>
                  <a:srgbClr val="5B6B77"/>
                </a:solidFill>
              </a:rPr>
              <a:t>2,000, privacy-safe</a:t>
            </a:r>
            <a:endParaRPr lang="en-US" sz="1100" dirty="0"/>
          </a:p>
        </p:txBody>
      </p:sp>
      <p:sp>
        <p:nvSpPr>
          <p:cNvPr id="22" name="Shape 20"/>
          <p:cNvSpPr/>
          <p:nvPr/>
        </p:nvSpPr>
        <p:spPr>
          <a:xfrm>
            <a:off x="2606040" y="1417320"/>
            <a:ext cx="1920240" cy="292608"/>
          </a:xfrm>
          <a:prstGeom prst="roundRect">
            <a:avLst>
              <a:gd name="adj" fmla="val 25000"/>
            </a:avLst>
          </a:prstGeom>
          <a:solidFill>
            <a:srgbClr val="0F7068"/>
          </a:solidFill>
          <a:ln w="12700">
            <a:solidFill>
              <a:srgbClr val="0F7068"/>
            </a:solidFill>
            <a:prstDash val="solid"/>
          </a:ln>
        </p:spPr>
      </p:sp>
      <p:sp>
        <p:nvSpPr>
          <p:cNvPr id="23" name="Text 21"/>
          <p:cNvSpPr txBox="1"/>
          <p:nvPr/>
        </p:nvSpPr>
        <p:spPr>
          <a:xfrm>
            <a:off x="2697480" y="1417320"/>
            <a:ext cx="1783080" cy="292608"/>
          </a:xfrm>
          <a:prstGeom prst="rect">
            <a:avLst/>
          </a:prstGeom>
          <a:noFill/>
          <a:ln/>
        </p:spPr>
        <p:txBody>
          <a:bodyPr wrap="square" lIns="0" tIns="0" rIns="0" bIns="0" rtlCol="0" anchor="ctr"/>
          <a:lstStyle/>
          <a:p>
            <a:pPr indent="0" marL="0">
              <a:buNone/>
            </a:pPr>
            <a:r>
              <a:rPr lang="en-US" sz="950" b="1" spc="100" kern="0" dirty="0">
                <a:solidFill>
                  <a:srgbClr val="FFFFFF"/>
                </a:solidFill>
              </a:rPr>
              <a:t>AI / ML</a:t>
            </a:r>
            <a:endParaRPr lang="en-US" sz="950" dirty="0"/>
          </a:p>
        </p:txBody>
      </p:sp>
      <p:sp>
        <p:nvSpPr>
          <p:cNvPr id="24" name="Shape 22"/>
          <p:cNvSpPr/>
          <p:nvPr/>
        </p:nvSpPr>
        <p:spPr>
          <a:xfrm>
            <a:off x="2606040" y="1783080"/>
            <a:ext cx="1920240" cy="621792"/>
          </a:xfrm>
          <a:prstGeom prst="roundRect">
            <a:avLst>
              <a:gd name="adj" fmla="val 11765"/>
            </a:avLst>
          </a:prstGeom>
          <a:solidFill>
            <a:srgbClr val="FFFFFF"/>
          </a:solidFill>
          <a:ln w="12700">
            <a:solidFill>
              <a:srgbClr val="0F7068"/>
            </a:solidFill>
            <a:prstDash val="solid"/>
          </a:ln>
          <a:effectLst>
            <a:outerShdw sx="100000" sy="100000" kx="0" ky="0" algn="bl" rotWithShape="0" blurRad="101600" dist="25400" dir="5400000">
              <a:srgbClr val="0F3B38">
                <a:alpha val="12000"/>
              </a:srgbClr>
            </a:outerShdw>
          </a:effectLst>
        </p:spPr>
      </p:sp>
      <p:sp>
        <p:nvSpPr>
          <p:cNvPr id="25" name="Shape 23"/>
          <p:cNvSpPr/>
          <p:nvPr/>
        </p:nvSpPr>
        <p:spPr>
          <a:xfrm>
            <a:off x="2679192" y="1911096"/>
            <a:ext cx="365760" cy="365760"/>
          </a:xfrm>
          <a:prstGeom prst="ellipse">
            <a:avLst/>
          </a:prstGeom>
          <a:solidFill>
            <a:srgbClr val="E7F2F0"/>
          </a:solidFill>
          <a:ln w="12700">
            <a:solidFill>
              <a:srgbClr val="E7F2F0"/>
            </a:solidFill>
            <a:prstDash val="solid"/>
          </a:ln>
        </p:spPr>
      </p:sp>
      <p:sp>
        <p:nvSpPr>
          <p:cNvPr id="26" name="Text 24"/>
          <p:cNvSpPr txBox="1"/>
          <p:nvPr/>
        </p:nvSpPr>
        <p:spPr>
          <a:xfrm>
            <a:off x="2679192" y="1911096"/>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27" name="Text 25"/>
          <p:cNvSpPr txBox="1"/>
          <p:nvPr/>
        </p:nvSpPr>
        <p:spPr>
          <a:xfrm>
            <a:off x="3118104" y="1783080"/>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PyTorch</a:t>
            </a:r>
            <a:endParaRPr lang="en-US" sz="1100" dirty="0"/>
          </a:p>
          <a:p>
            <a:pPr indent="0" marL="0">
              <a:buNone/>
            </a:pPr>
            <a:r>
              <a:rPr lang="en-US" sz="1000" dirty="0">
                <a:solidFill>
                  <a:srgbClr val="5B6B77"/>
                </a:solidFill>
              </a:rPr>
              <a:t>GRU glucose forecaster</a:t>
            </a:r>
            <a:endParaRPr lang="en-US" sz="1100" dirty="0"/>
          </a:p>
        </p:txBody>
      </p:sp>
      <p:sp>
        <p:nvSpPr>
          <p:cNvPr id="28" name="Shape 26"/>
          <p:cNvSpPr/>
          <p:nvPr/>
        </p:nvSpPr>
        <p:spPr>
          <a:xfrm>
            <a:off x="2606040" y="2459736"/>
            <a:ext cx="1920240" cy="621792"/>
          </a:xfrm>
          <a:prstGeom prst="roundRect">
            <a:avLst>
              <a:gd name="adj" fmla="val 11765"/>
            </a:avLst>
          </a:prstGeom>
          <a:solidFill>
            <a:srgbClr val="FFFFFF"/>
          </a:solidFill>
          <a:ln w="12700">
            <a:solidFill>
              <a:srgbClr val="0F7068"/>
            </a:solidFill>
            <a:prstDash val="solid"/>
          </a:ln>
          <a:effectLst>
            <a:outerShdw sx="100000" sy="100000" kx="0" ky="0" algn="bl" rotWithShape="0" blurRad="101600" dist="25400" dir="5400000">
              <a:srgbClr val="0F3B38">
                <a:alpha val="12000"/>
              </a:srgbClr>
            </a:outerShdw>
          </a:effectLst>
        </p:spPr>
      </p:sp>
      <p:sp>
        <p:nvSpPr>
          <p:cNvPr id="29" name="Shape 27"/>
          <p:cNvSpPr/>
          <p:nvPr/>
        </p:nvSpPr>
        <p:spPr>
          <a:xfrm>
            <a:off x="2679192" y="2587752"/>
            <a:ext cx="365760" cy="365760"/>
          </a:xfrm>
          <a:prstGeom prst="ellipse">
            <a:avLst/>
          </a:prstGeom>
          <a:solidFill>
            <a:srgbClr val="E7F2F0"/>
          </a:solidFill>
          <a:ln w="12700">
            <a:solidFill>
              <a:srgbClr val="E7F2F0"/>
            </a:solidFill>
            <a:prstDash val="solid"/>
          </a:ln>
        </p:spPr>
      </p:sp>
      <p:sp>
        <p:nvSpPr>
          <p:cNvPr id="30" name="Text 28"/>
          <p:cNvSpPr txBox="1"/>
          <p:nvPr/>
        </p:nvSpPr>
        <p:spPr>
          <a:xfrm>
            <a:off x="2679192" y="2587752"/>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31" name="Text 29"/>
          <p:cNvSpPr txBox="1"/>
          <p:nvPr/>
        </p:nvSpPr>
        <p:spPr>
          <a:xfrm>
            <a:off x="3118104" y="2459736"/>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LightGBM, scikit-learn</a:t>
            </a:r>
            <a:endParaRPr lang="en-US" sz="1100" dirty="0"/>
          </a:p>
          <a:p>
            <a:pPr indent="0" marL="0">
              <a:buNone/>
            </a:pPr>
            <a:r>
              <a:rPr lang="en-US" sz="1000" dirty="0">
                <a:solidFill>
                  <a:srgbClr val="5B6B77"/>
                </a:solidFill>
              </a:rPr>
              <a:t>liver, kidney, glucose</a:t>
            </a:r>
            <a:endParaRPr lang="en-US" sz="1100" dirty="0"/>
          </a:p>
        </p:txBody>
      </p:sp>
      <p:sp>
        <p:nvSpPr>
          <p:cNvPr id="32" name="Shape 30"/>
          <p:cNvSpPr/>
          <p:nvPr/>
        </p:nvSpPr>
        <p:spPr>
          <a:xfrm>
            <a:off x="2606040" y="3136392"/>
            <a:ext cx="1920240" cy="621792"/>
          </a:xfrm>
          <a:prstGeom prst="roundRect">
            <a:avLst>
              <a:gd name="adj" fmla="val 11765"/>
            </a:avLst>
          </a:prstGeom>
          <a:solidFill>
            <a:srgbClr val="FFFFFF"/>
          </a:solidFill>
          <a:ln w="12700">
            <a:solidFill>
              <a:srgbClr val="0F7068"/>
            </a:solidFill>
            <a:prstDash val="solid"/>
          </a:ln>
          <a:effectLst>
            <a:outerShdw sx="100000" sy="100000" kx="0" ky="0" algn="bl" rotWithShape="0" blurRad="101600" dist="25400" dir="5400000">
              <a:srgbClr val="0F3B38">
                <a:alpha val="12000"/>
              </a:srgbClr>
            </a:outerShdw>
          </a:effectLst>
        </p:spPr>
      </p:sp>
      <p:sp>
        <p:nvSpPr>
          <p:cNvPr id="33" name="Shape 31"/>
          <p:cNvSpPr/>
          <p:nvPr/>
        </p:nvSpPr>
        <p:spPr>
          <a:xfrm>
            <a:off x="2679192" y="3264408"/>
            <a:ext cx="365760" cy="365760"/>
          </a:xfrm>
          <a:prstGeom prst="ellipse">
            <a:avLst/>
          </a:prstGeom>
          <a:solidFill>
            <a:srgbClr val="E7F2F0"/>
          </a:solidFill>
          <a:ln w="12700">
            <a:solidFill>
              <a:srgbClr val="E7F2F0"/>
            </a:solidFill>
            <a:prstDash val="solid"/>
          </a:ln>
        </p:spPr>
      </p:sp>
      <p:sp>
        <p:nvSpPr>
          <p:cNvPr id="34" name="Text 32"/>
          <p:cNvSpPr txBox="1"/>
          <p:nvPr/>
        </p:nvSpPr>
        <p:spPr>
          <a:xfrm>
            <a:off x="2679192" y="3264408"/>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35" name="Text 33"/>
          <p:cNvSpPr txBox="1"/>
          <p:nvPr/>
        </p:nvSpPr>
        <p:spPr>
          <a:xfrm>
            <a:off x="3118104" y="3136392"/>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EfficientNet-B2</a:t>
            </a:r>
            <a:endParaRPr lang="en-US" sz="1100" dirty="0"/>
          </a:p>
          <a:p>
            <a:pPr indent="0" marL="0">
              <a:buNone/>
            </a:pPr>
            <a:r>
              <a:rPr lang="en-US" sz="1000" dirty="0">
                <a:solidFill>
                  <a:srgbClr val="5B6B77"/>
                </a:solidFill>
              </a:rPr>
              <a:t>retina grading via timm</a:t>
            </a:r>
            <a:endParaRPr lang="en-US" sz="1100" dirty="0"/>
          </a:p>
        </p:txBody>
      </p:sp>
      <p:sp>
        <p:nvSpPr>
          <p:cNvPr id="36" name="Shape 34"/>
          <p:cNvSpPr/>
          <p:nvPr/>
        </p:nvSpPr>
        <p:spPr>
          <a:xfrm>
            <a:off x="2606040" y="3813048"/>
            <a:ext cx="1920240" cy="621792"/>
          </a:xfrm>
          <a:prstGeom prst="roundRect">
            <a:avLst>
              <a:gd name="adj" fmla="val 11765"/>
            </a:avLst>
          </a:prstGeom>
          <a:solidFill>
            <a:srgbClr val="FFFFFF"/>
          </a:solidFill>
          <a:ln w="12700">
            <a:solidFill>
              <a:srgbClr val="0F7068"/>
            </a:solidFill>
            <a:prstDash val="solid"/>
          </a:ln>
          <a:effectLst>
            <a:outerShdw sx="100000" sy="100000" kx="0" ky="0" algn="bl" rotWithShape="0" blurRad="101600" dist="25400" dir="5400000">
              <a:srgbClr val="0F3B38">
                <a:alpha val="12000"/>
              </a:srgbClr>
            </a:outerShdw>
          </a:effectLst>
        </p:spPr>
      </p:sp>
      <p:sp>
        <p:nvSpPr>
          <p:cNvPr id="37" name="Shape 35"/>
          <p:cNvSpPr/>
          <p:nvPr/>
        </p:nvSpPr>
        <p:spPr>
          <a:xfrm>
            <a:off x="2679192" y="3941064"/>
            <a:ext cx="365760" cy="365760"/>
          </a:xfrm>
          <a:prstGeom prst="ellipse">
            <a:avLst/>
          </a:prstGeom>
          <a:solidFill>
            <a:srgbClr val="E7F2F0"/>
          </a:solidFill>
          <a:ln w="12700">
            <a:solidFill>
              <a:srgbClr val="E7F2F0"/>
            </a:solidFill>
            <a:prstDash val="solid"/>
          </a:ln>
        </p:spPr>
      </p:sp>
      <p:sp>
        <p:nvSpPr>
          <p:cNvPr id="38" name="Text 36"/>
          <p:cNvSpPr txBox="1"/>
          <p:nvPr/>
        </p:nvSpPr>
        <p:spPr>
          <a:xfrm>
            <a:off x="2679192" y="3941064"/>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39" name="Text 37"/>
          <p:cNvSpPr txBox="1"/>
          <p:nvPr/>
        </p:nvSpPr>
        <p:spPr>
          <a:xfrm>
            <a:off x="3118104" y="3813048"/>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SHAP, Grad-CAM</a:t>
            </a:r>
            <a:endParaRPr lang="en-US" sz="1100" dirty="0"/>
          </a:p>
          <a:p>
            <a:pPr indent="0" marL="0">
              <a:buNone/>
            </a:pPr>
            <a:r>
              <a:rPr lang="en-US" sz="1000" dirty="0">
                <a:solidFill>
                  <a:srgbClr val="5B6B77"/>
                </a:solidFill>
              </a:rPr>
              <a:t>explains every prediction</a:t>
            </a:r>
            <a:endParaRPr lang="en-US" sz="1100" dirty="0"/>
          </a:p>
        </p:txBody>
      </p:sp>
      <p:sp>
        <p:nvSpPr>
          <p:cNvPr id="40" name="Shape 38"/>
          <p:cNvSpPr/>
          <p:nvPr/>
        </p:nvSpPr>
        <p:spPr>
          <a:xfrm>
            <a:off x="4663440" y="1417320"/>
            <a:ext cx="1920240" cy="292608"/>
          </a:xfrm>
          <a:prstGeom prst="roundRect">
            <a:avLst>
              <a:gd name="adj" fmla="val 25000"/>
            </a:avLst>
          </a:prstGeom>
          <a:solidFill>
            <a:srgbClr val="E8A03C"/>
          </a:solidFill>
          <a:ln w="12700">
            <a:solidFill>
              <a:srgbClr val="E8A03C"/>
            </a:solidFill>
            <a:prstDash val="solid"/>
          </a:ln>
        </p:spPr>
      </p:sp>
      <p:sp>
        <p:nvSpPr>
          <p:cNvPr id="41" name="Text 39"/>
          <p:cNvSpPr txBox="1"/>
          <p:nvPr/>
        </p:nvSpPr>
        <p:spPr>
          <a:xfrm>
            <a:off x="4754880" y="1417320"/>
            <a:ext cx="1783080" cy="292608"/>
          </a:xfrm>
          <a:prstGeom prst="rect">
            <a:avLst/>
          </a:prstGeom>
          <a:noFill/>
          <a:ln/>
        </p:spPr>
        <p:txBody>
          <a:bodyPr wrap="square" lIns="0" tIns="0" rIns="0" bIns="0" rtlCol="0" anchor="ctr"/>
          <a:lstStyle/>
          <a:p>
            <a:pPr indent="0" marL="0">
              <a:buNone/>
            </a:pPr>
            <a:r>
              <a:rPr lang="en-US" sz="950" b="1" spc="100" kern="0" dirty="0">
                <a:solidFill>
                  <a:srgbClr val="FFFFFF"/>
                </a:solidFill>
              </a:rPr>
              <a:t>TRUST AND LANGUAGE</a:t>
            </a:r>
            <a:endParaRPr lang="en-US" sz="950" dirty="0"/>
          </a:p>
        </p:txBody>
      </p:sp>
      <p:sp>
        <p:nvSpPr>
          <p:cNvPr id="42" name="Shape 40"/>
          <p:cNvSpPr/>
          <p:nvPr/>
        </p:nvSpPr>
        <p:spPr>
          <a:xfrm>
            <a:off x="4663440" y="1783080"/>
            <a:ext cx="1920240" cy="621792"/>
          </a:xfrm>
          <a:prstGeom prst="roundRect">
            <a:avLst>
              <a:gd name="adj" fmla="val 11765"/>
            </a:avLst>
          </a:prstGeom>
          <a:solidFill>
            <a:srgbClr val="FFFFFF"/>
          </a:solidFill>
          <a:ln w="12700">
            <a:solidFill>
              <a:srgbClr val="E8A03C"/>
            </a:solidFill>
            <a:prstDash val="solid"/>
          </a:ln>
          <a:effectLst>
            <a:outerShdw sx="100000" sy="100000" kx="0" ky="0" algn="bl" rotWithShape="0" blurRad="101600" dist="25400" dir="5400000">
              <a:srgbClr val="0F3B38">
                <a:alpha val="12000"/>
              </a:srgbClr>
            </a:outerShdw>
          </a:effectLst>
        </p:spPr>
      </p:sp>
      <p:sp>
        <p:nvSpPr>
          <p:cNvPr id="43" name="Shape 41"/>
          <p:cNvSpPr/>
          <p:nvPr/>
        </p:nvSpPr>
        <p:spPr>
          <a:xfrm>
            <a:off x="4736592" y="1911096"/>
            <a:ext cx="365760" cy="365760"/>
          </a:xfrm>
          <a:prstGeom prst="ellipse">
            <a:avLst/>
          </a:prstGeom>
          <a:solidFill>
            <a:srgbClr val="E7F2F0"/>
          </a:solidFill>
          <a:ln w="12700">
            <a:solidFill>
              <a:srgbClr val="E7F2F0"/>
            </a:solidFill>
            <a:prstDash val="solid"/>
          </a:ln>
        </p:spPr>
      </p:sp>
      <p:sp>
        <p:nvSpPr>
          <p:cNvPr id="44" name="Text 42"/>
          <p:cNvSpPr txBox="1"/>
          <p:nvPr/>
        </p:nvSpPr>
        <p:spPr>
          <a:xfrm>
            <a:off x="4736592" y="1911096"/>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45" name="Text 43"/>
          <p:cNvSpPr txBox="1"/>
          <p:nvPr/>
        </p:nvSpPr>
        <p:spPr>
          <a:xfrm>
            <a:off x="5175504" y="1783080"/>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Conformal, isotonic</a:t>
            </a:r>
            <a:endParaRPr lang="en-US" sz="1100" dirty="0"/>
          </a:p>
          <a:p>
            <a:pPr indent="0" marL="0">
              <a:buNone/>
            </a:pPr>
            <a:r>
              <a:rPr lang="en-US" sz="1000" dirty="0">
                <a:solidFill>
                  <a:srgbClr val="5B6B77"/>
                </a:solidFill>
              </a:rPr>
              <a:t>honest uncertainty</a:t>
            </a:r>
            <a:endParaRPr lang="en-US" sz="1100" dirty="0"/>
          </a:p>
        </p:txBody>
      </p:sp>
      <p:sp>
        <p:nvSpPr>
          <p:cNvPr id="46" name="Shape 44"/>
          <p:cNvSpPr/>
          <p:nvPr/>
        </p:nvSpPr>
        <p:spPr>
          <a:xfrm>
            <a:off x="4663440" y="2459736"/>
            <a:ext cx="1920240" cy="621792"/>
          </a:xfrm>
          <a:prstGeom prst="roundRect">
            <a:avLst>
              <a:gd name="adj" fmla="val 11765"/>
            </a:avLst>
          </a:prstGeom>
          <a:solidFill>
            <a:srgbClr val="FFFFFF"/>
          </a:solidFill>
          <a:ln w="12700">
            <a:solidFill>
              <a:srgbClr val="E8A03C"/>
            </a:solidFill>
            <a:prstDash val="solid"/>
          </a:ln>
          <a:effectLst>
            <a:outerShdw sx="100000" sy="100000" kx="0" ky="0" algn="bl" rotWithShape="0" blurRad="101600" dist="25400" dir="5400000">
              <a:srgbClr val="0F3B38">
                <a:alpha val="12000"/>
              </a:srgbClr>
            </a:outerShdw>
          </a:effectLst>
        </p:spPr>
      </p:sp>
      <p:sp>
        <p:nvSpPr>
          <p:cNvPr id="47" name="Shape 45"/>
          <p:cNvSpPr/>
          <p:nvPr/>
        </p:nvSpPr>
        <p:spPr>
          <a:xfrm>
            <a:off x="4736592" y="2587752"/>
            <a:ext cx="365760" cy="365760"/>
          </a:xfrm>
          <a:prstGeom prst="ellipse">
            <a:avLst/>
          </a:prstGeom>
          <a:solidFill>
            <a:srgbClr val="E7F2F0"/>
          </a:solidFill>
          <a:ln w="12700">
            <a:solidFill>
              <a:srgbClr val="E7F2F0"/>
            </a:solidFill>
            <a:prstDash val="solid"/>
          </a:ln>
        </p:spPr>
      </p:sp>
      <p:sp>
        <p:nvSpPr>
          <p:cNvPr id="48" name="Text 46"/>
          <p:cNvSpPr txBox="1"/>
          <p:nvPr/>
        </p:nvSpPr>
        <p:spPr>
          <a:xfrm>
            <a:off x="4736592" y="2587752"/>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49" name="Text 47"/>
          <p:cNvSpPr txBox="1"/>
          <p:nvPr/>
        </p:nvSpPr>
        <p:spPr>
          <a:xfrm>
            <a:off x="5175504" y="2459736"/>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Sarvam AI</a:t>
            </a:r>
            <a:endParaRPr lang="en-US" sz="1100" dirty="0"/>
          </a:p>
          <a:p>
            <a:pPr indent="0" marL="0">
              <a:buNone/>
            </a:pPr>
            <a:r>
              <a:rPr lang="en-US" sz="1000" dirty="0">
                <a:solidFill>
                  <a:srgbClr val="5B6B77"/>
                </a:solidFill>
              </a:rPr>
              <a:t>speech, chat, voice</a:t>
            </a:r>
            <a:endParaRPr lang="en-US" sz="1100" dirty="0"/>
          </a:p>
        </p:txBody>
      </p:sp>
      <p:sp>
        <p:nvSpPr>
          <p:cNvPr id="50" name="Shape 48"/>
          <p:cNvSpPr/>
          <p:nvPr/>
        </p:nvSpPr>
        <p:spPr>
          <a:xfrm>
            <a:off x="4663440" y="3136392"/>
            <a:ext cx="1920240" cy="621792"/>
          </a:xfrm>
          <a:prstGeom prst="roundRect">
            <a:avLst>
              <a:gd name="adj" fmla="val 11765"/>
            </a:avLst>
          </a:prstGeom>
          <a:solidFill>
            <a:srgbClr val="FFFFFF"/>
          </a:solidFill>
          <a:ln w="12700">
            <a:solidFill>
              <a:srgbClr val="E8A03C"/>
            </a:solidFill>
            <a:prstDash val="solid"/>
          </a:ln>
          <a:effectLst>
            <a:outerShdw sx="100000" sy="100000" kx="0" ky="0" algn="bl" rotWithShape="0" blurRad="101600" dist="25400" dir="5400000">
              <a:srgbClr val="0F3B38">
                <a:alpha val="12000"/>
              </a:srgbClr>
            </a:outerShdw>
          </a:effectLst>
        </p:spPr>
      </p:sp>
      <p:sp>
        <p:nvSpPr>
          <p:cNvPr id="51" name="Shape 49"/>
          <p:cNvSpPr/>
          <p:nvPr/>
        </p:nvSpPr>
        <p:spPr>
          <a:xfrm>
            <a:off x="4736592" y="3264408"/>
            <a:ext cx="365760" cy="365760"/>
          </a:xfrm>
          <a:prstGeom prst="ellipse">
            <a:avLst/>
          </a:prstGeom>
          <a:solidFill>
            <a:srgbClr val="E7F2F0"/>
          </a:solidFill>
          <a:ln w="12700">
            <a:solidFill>
              <a:srgbClr val="E7F2F0"/>
            </a:solidFill>
            <a:prstDash val="solid"/>
          </a:ln>
        </p:spPr>
      </p:sp>
      <p:sp>
        <p:nvSpPr>
          <p:cNvPr id="52" name="Text 50"/>
          <p:cNvSpPr txBox="1"/>
          <p:nvPr/>
        </p:nvSpPr>
        <p:spPr>
          <a:xfrm>
            <a:off x="4736592" y="3264408"/>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53" name="Text 51"/>
          <p:cNvSpPr txBox="1"/>
          <p:nvPr/>
        </p:nvSpPr>
        <p:spPr>
          <a:xfrm>
            <a:off x="5175504" y="3136392"/>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Sarvam Document AI</a:t>
            </a:r>
            <a:endParaRPr lang="en-US" sz="1100" dirty="0"/>
          </a:p>
          <a:p>
            <a:pPr indent="0" marL="0">
              <a:buNone/>
            </a:pPr>
            <a:r>
              <a:rPr lang="en-US" sz="1000" dirty="0">
                <a:solidFill>
                  <a:srgbClr val="5B6B77"/>
                </a:solidFill>
              </a:rPr>
              <a:t>reads uploaded reports</a:t>
            </a:r>
            <a:endParaRPr lang="en-US" sz="1100" dirty="0"/>
          </a:p>
        </p:txBody>
      </p:sp>
      <p:sp>
        <p:nvSpPr>
          <p:cNvPr id="54" name="Shape 52"/>
          <p:cNvSpPr/>
          <p:nvPr/>
        </p:nvSpPr>
        <p:spPr>
          <a:xfrm>
            <a:off x="4663440" y="3813048"/>
            <a:ext cx="1920240" cy="621792"/>
          </a:xfrm>
          <a:prstGeom prst="roundRect">
            <a:avLst>
              <a:gd name="adj" fmla="val 11765"/>
            </a:avLst>
          </a:prstGeom>
          <a:solidFill>
            <a:srgbClr val="FFFFFF"/>
          </a:solidFill>
          <a:ln w="12700">
            <a:solidFill>
              <a:srgbClr val="E8A03C"/>
            </a:solidFill>
            <a:prstDash val="solid"/>
          </a:ln>
          <a:effectLst>
            <a:outerShdw sx="100000" sy="100000" kx="0" ky="0" algn="bl" rotWithShape="0" blurRad="101600" dist="25400" dir="5400000">
              <a:srgbClr val="0F3B38">
                <a:alpha val="12000"/>
              </a:srgbClr>
            </a:outerShdw>
          </a:effectLst>
        </p:spPr>
      </p:sp>
      <p:sp>
        <p:nvSpPr>
          <p:cNvPr id="55" name="Shape 53"/>
          <p:cNvSpPr/>
          <p:nvPr/>
        </p:nvSpPr>
        <p:spPr>
          <a:xfrm>
            <a:off x="4736592" y="3941064"/>
            <a:ext cx="365760" cy="365760"/>
          </a:xfrm>
          <a:prstGeom prst="ellipse">
            <a:avLst/>
          </a:prstGeom>
          <a:solidFill>
            <a:srgbClr val="E7F2F0"/>
          </a:solidFill>
          <a:ln w="12700">
            <a:solidFill>
              <a:srgbClr val="E7F2F0"/>
            </a:solidFill>
            <a:prstDash val="solid"/>
          </a:ln>
        </p:spPr>
      </p:sp>
      <p:sp>
        <p:nvSpPr>
          <p:cNvPr id="56" name="Text 54"/>
          <p:cNvSpPr txBox="1"/>
          <p:nvPr/>
        </p:nvSpPr>
        <p:spPr>
          <a:xfrm>
            <a:off x="4736592" y="3941064"/>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57" name="Text 55"/>
          <p:cNvSpPr txBox="1"/>
          <p:nvPr/>
        </p:nvSpPr>
        <p:spPr>
          <a:xfrm>
            <a:off x="5175504" y="3813048"/>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Safety rules in code</a:t>
            </a:r>
            <a:endParaRPr lang="en-US" sz="1100" dirty="0"/>
          </a:p>
          <a:p>
            <a:pPr indent="0" marL="0">
              <a:buNone/>
            </a:pPr>
            <a:r>
              <a:rPr lang="en-US" sz="1000" dirty="0">
                <a:solidFill>
                  <a:srgbClr val="5B6B77"/>
                </a:solidFill>
              </a:rPr>
              <a:t>run before the model</a:t>
            </a:r>
            <a:endParaRPr lang="en-US" sz="1100" dirty="0"/>
          </a:p>
        </p:txBody>
      </p:sp>
      <p:sp>
        <p:nvSpPr>
          <p:cNvPr id="58" name="Shape 56"/>
          <p:cNvSpPr/>
          <p:nvPr/>
        </p:nvSpPr>
        <p:spPr>
          <a:xfrm>
            <a:off x="6720840" y="1417320"/>
            <a:ext cx="1920240" cy="292608"/>
          </a:xfrm>
          <a:prstGeom prst="roundRect">
            <a:avLst>
              <a:gd name="adj" fmla="val 25000"/>
            </a:avLst>
          </a:prstGeom>
          <a:solidFill>
            <a:srgbClr val="475569"/>
          </a:solidFill>
          <a:ln w="12700">
            <a:solidFill>
              <a:srgbClr val="475569"/>
            </a:solidFill>
            <a:prstDash val="solid"/>
          </a:ln>
        </p:spPr>
      </p:sp>
      <p:sp>
        <p:nvSpPr>
          <p:cNvPr id="59" name="Text 57"/>
          <p:cNvSpPr txBox="1"/>
          <p:nvPr/>
        </p:nvSpPr>
        <p:spPr>
          <a:xfrm>
            <a:off x="6812280" y="1417320"/>
            <a:ext cx="1783080" cy="292608"/>
          </a:xfrm>
          <a:prstGeom prst="rect">
            <a:avLst/>
          </a:prstGeom>
          <a:noFill/>
          <a:ln/>
        </p:spPr>
        <p:txBody>
          <a:bodyPr wrap="square" lIns="0" tIns="0" rIns="0" bIns="0" rtlCol="0" anchor="ctr"/>
          <a:lstStyle/>
          <a:p>
            <a:pPr indent="0" marL="0">
              <a:buNone/>
            </a:pPr>
            <a:r>
              <a:rPr lang="en-US" sz="950" b="1" spc="100" kern="0" dirty="0">
                <a:solidFill>
                  <a:srgbClr val="FFFFFF"/>
                </a:solidFill>
              </a:rPr>
              <a:t>PLATFORM</a:t>
            </a:r>
            <a:endParaRPr lang="en-US" sz="950" dirty="0"/>
          </a:p>
        </p:txBody>
      </p:sp>
      <p:sp>
        <p:nvSpPr>
          <p:cNvPr id="60" name="Shape 58"/>
          <p:cNvSpPr/>
          <p:nvPr/>
        </p:nvSpPr>
        <p:spPr>
          <a:xfrm>
            <a:off x="6720840" y="1783080"/>
            <a:ext cx="1920240" cy="621792"/>
          </a:xfrm>
          <a:prstGeom prst="roundRect">
            <a:avLst>
              <a:gd name="adj" fmla="val 11765"/>
            </a:avLst>
          </a:prstGeom>
          <a:solidFill>
            <a:srgbClr val="FFFFFF"/>
          </a:solidFill>
          <a:ln w="12700">
            <a:solidFill>
              <a:srgbClr val="475569"/>
            </a:solidFill>
            <a:prstDash val="solid"/>
          </a:ln>
          <a:effectLst>
            <a:outerShdw sx="100000" sy="100000" kx="0" ky="0" algn="bl" rotWithShape="0" blurRad="101600" dist="25400" dir="5400000">
              <a:srgbClr val="0F3B38">
                <a:alpha val="12000"/>
              </a:srgbClr>
            </a:outerShdw>
          </a:effectLst>
        </p:spPr>
      </p:sp>
      <p:sp>
        <p:nvSpPr>
          <p:cNvPr id="61" name="Shape 59"/>
          <p:cNvSpPr/>
          <p:nvPr/>
        </p:nvSpPr>
        <p:spPr>
          <a:xfrm>
            <a:off x="6793992" y="1911096"/>
            <a:ext cx="365760" cy="365760"/>
          </a:xfrm>
          <a:prstGeom prst="ellipse">
            <a:avLst/>
          </a:prstGeom>
          <a:solidFill>
            <a:srgbClr val="E7F2F0"/>
          </a:solidFill>
          <a:ln w="12700">
            <a:solidFill>
              <a:srgbClr val="E7F2F0"/>
            </a:solidFill>
            <a:prstDash val="solid"/>
          </a:ln>
        </p:spPr>
      </p:sp>
      <p:sp>
        <p:nvSpPr>
          <p:cNvPr id="62" name="Text 60"/>
          <p:cNvSpPr txBox="1"/>
          <p:nvPr/>
        </p:nvSpPr>
        <p:spPr>
          <a:xfrm>
            <a:off x="6793992" y="1911096"/>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63" name="Text 61"/>
          <p:cNvSpPr txBox="1"/>
          <p:nvPr/>
        </p:nvSpPr>
        <p:spPr>
          <a:xfrm>
            <a:off x="7232904" y="1783080"/>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FastAPI, Pydantic</a:t>
            </a:r>
            <a:endParaRPr lang="en-US" sz="1100" dirty="0"/>
          </a:p>
          <a:p>
            <a:pPr indent="0" marL="0">
              <a:buNone/>
            </a:pPr>
            <a:r>
              <a:rPr lang="en-US" sz="1000" dirty="0">
                <a:solidFill>
                  <a:srgbClr val="5B6B77"/>
                </a:solidFill>
              </a:rPr>
              <a:t>REST, WebSocket, FHIR</a:t>
            </a:r>
            <a:endParaRPr lang="en-US" sz="1100" dirty="0"/>
          </a:p>
        </p:txBody>
      </p:sp>
      <p:sp>
        <p:nvSpPr>
          <p:cNvPr id="64" name="Shape 62"/>
          <p:cNvSpPr/>
          <p:nvPr/>
        </p:nvSpPr>
        <p:spPr>
          <a:xfrm>
            <a:off x="6720840" y="2459736"/>
            <a:ext cx="1920240" cy="621792"/>
          </a:xfrm>
          <a:prstGeom prst="roundRect">
            <a:avLst>
              <a:gd name="adj" fmla="val 11765"/>
            </a:avLst>
          </a:prstGeom>
          <a:solidFill>
            <a:srgbClr val="FFFFFF"/>
          </a:solidFill>
          <a:ln w="12700">
            <a:solidFill>
              <a:srgbClr val="475569"/>
            </a:solidFill>
            <a:prstDash val="solid"/>
          </a:ln>
          <a:effectLst>
            <a:outerShdw sx="100000" sy="100000" kx="0" ky="0" algn="bl" rotWithShape="0" blurRad="101600" dist="25400" dir="5400000">
              <a:srgbClr val="0F3B38">
                <a:alpha val="12000"/>
              </a:srgbClr>
            </a:outerShdw>
          </a:effectLst>
        </p:spPr>
      </p:sp>
      <p:sp>
        <p:nvSpPr>
          <p:cNvPr id="65" name="Shape 63"/>
          <p:cNvSpPr/>
          <p:nvPr/>
        </p:nvSpPr>
        <p:spPr>
          <a:xfrm>
            <a:off x="6793992" y="2587752"/>
            <a:ext cx="365760" cy="365760"/>
          </a:xfrm>
          <a:prstGeom prst="ellipse">
            <a:avLst/>
          </a:prstGeom>
          <a:solidFill>
            <a:srgbClr val="E7F2F0"/>
          </a:solidFill>
          <a:ln w="12700">
            <a:solidFill>
              <a:srgbClr val="E7F2F0"/>
            </a:solidFill>
            <a:prstDash val="solid"/>
          </a:ln>
        </p:spPr>
      </p:sp>
      <p:sp>
        <p:nvSpPr>
          <p:cNvPr id="66" name="Text 64"/>
          <p:cNvSpPr txBox="1"/>
          <p:nvPr/>
        </p:nvSpPr>
        <p:spPr>
          <a:xfrm>
            <a:off x="6793992" y="2587752"/>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67" name="Text 65"/>
          <p:cNvSpPr txBox="1"/>
          <p:nvPr/>
        </p:nvSpPr>
        <p:spPr>
          <a:xfrm>
            <a:off x="7232904" y="2459736"/>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React 18, Vite</a:t>
            </a:r>
            <a:endParaRPr lang="en-US" sz="1100" dirty="0"/>
          </a:p>
          <a:p>
            <a:pPr indent="0" marL="0">
              <a:buNone/>
            </a:pPr>
            <a:r>
              <a:rPr lang="en-US" sz="1000" dirty="0">
                <a:solidFill>
                  <a:srgbClr val="5B6B77"/>
                </a:solidFill>
              </a:rPr>
              <a:t>doctor, patient, admin</a:t>
            </a:r>
            <a:endParaRPr lang="en-US" sz="1100" dirty="0"/>
          </a:p>
        </p:txBody>
      </p:sp>
      <p:sp>
        <p:nvSpPr>
          <p:cNvPr id="68" name="Shape 66"/>
          <p:cNvSpPr/>
          <p:nvPr/>
        </p:nvSpPr>
        <p:spPr>
          <a:xfrm>
            <a:off x="6720840" y="3136392"/>
            <a:ext cx="1920240" cy="621792"/>
          </a:xfrm>
          <a:prstGeom prst="roundRect">
            <a:avLst>
              <a:gd name="adj" fmla="val 11765"/>
            </a:avLst>
          </a:prstGeom>
          <a:solidFill>
            <a:srgbClr val="FFFFFF"/>
          </a:solidFill>
          <a:ln w="12700">
            <a:solidFill>
              <a:srgbClr val="475569"/>
            </a:solidFill>
            <a:prstDash val="solid"/>
          </a:ln>
          <a:effectLst>
            <a:outerShdw sx="100000" sy="100000" kx="0" ky="0" algn="bl" rotWithShape="0" blurRad="101600" dist="25400" dir="5400000">
              <a:srgbClr val="0F3B38">
                <a:alpha val="12000"/>
              </a:srgbClr>
            </a:outerShdw>
          </a:effectLst>
        </p:spPr>
      </p:sp>
      <p:sp>
        <p:nvSpPr>
          <p:cNvPr id="69" name="Shape 67"/>
          <p:cNvSpPr/>
          <p:nvPr/>
        </p:nvSpPr>
        <p:spPr>
          <a:xfrm>
            <a:off x="6793992" y="3264408"/>
            <a:ext cx="365760" cy="365760"/>
          </a:xfrm>
          <a:prstGeom prst="ellipse">
            <a:avLst/>
          </a:prstGeom>
          <a:solidFill>
            <a:srgbClr val="E7F2F0"/>
          </a:solidFill>
          <a:ln w="12700">
            <a:solidFill>
              <a:srgbClr val="E7F2F0"/>
            </a:solidFill>
            <a:prstDash val="solid"/>
          </a:ln>
        </p:spPr>
      </p:sp>
      <p:sp>
        <p:nvSpPr>
          <p:cNvPr id="70" name="Text 68"/>
          <p:cNvSpPr txBox="1"/>
          <p:nvPr/>
        </p:nvSpPr>
        <p:spPr>
          <a:xfrm>
            <a:off x="6793992" y="3264408"/>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71" name="Text 69"/>
          <p:cNvSpPr txBox="1"/>
          <p:nvPr/>
        </p:nvSpPr>
        <p:spPr>
          <a:xfrm>
            <a:off x="7232904" y="3136392"/>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NumPy live model</a:t>
            </a:r>
            <a:endParaRPr lang="en-US" sz="1100" dirty="0"/>
          </a:p>
          <a:p>
            <a:pPr indent="0" marL="0">
              <a:buNone/>
            </a:pPr>
            <a:r>
              <a:rPr lang="en-US" sz="1000" dirty="0">
                <a:solidFill>
                  <a:srgbClr val="5B6B77"/>
                </a:solidFill>
              </a:rPr>
              <a:t>about 1 ms, no GPU</a:t>
            </a:r>
            <a:endParaRPr lang="en-US" sz="1100" dirty="0"/>
          </a:p>
        </p:txBody>
      </p:sp>
      <p:sp>
        <p:nvSpPr>
          <p:cNvPr id="72" name="Shape 70"/>
          <p:cNvSpPr/>
          <p:nvPr/>
        </p:nvSpPr>
        <p:spPr>
          <a:xfrm>
            <a:off x="6720840" y="3813048"/>
            <a:ext cx="1920240" cy="621792"/>
          </a:xfrm>
          <a:prstGeom prst="roundRect">
            <a:avLst>
              <a:gd name="adj" fmla="val 11765"/>
            </a:avLst>
          </a:prstGeom>
          <a:solidFill>
            <a:srgbClr val="FFFFFF"/>
          </a:solidFill>
          <a:ln w="12700">
            <a:solidFill>
              <a:srgbClr val="475569"/>
            </a:solidFill>
            <a:prstDash val="solid"/>
          </a:ln>
          <a:effectLst>
            <a:outerShdw sx="100000" sy="100000" kx="0" ky="0" algn="bl" rotWithShape="0" blurRad="101600" dist="25400" dir="5400000">
              <a:srgbClr val="0F3B38">
                <a:alpha val="12000"/>
              </a:srgbClr>
            </a:outerShdw>
          </a:effectLst>
        </p:spPr>
      </p:sp>
      <p:sp>
        <p:nvSpPr>
          <p:cNvPr id="73" name="Shape 71"/>
          <p:cNvSpPr/>
          <p:nvPr/>
        </p:nvSpPr>
        <p:spPr>
          <a:xfrm>
            <a:off x="6793992" y="3941064"/>
            <a:ext cx="365760" cy="365760"/>
          </a:xfrm>
          <a:prstGeom prst="ellipse">
            <a:avLst/>
          </a:prstGeom>
          <a:solidFill>
            <a:srgbClr val="E7F2F0"/>
          </a:solidFill>
          <a:ln w="12700">
            <a:solidFill>
              <a:srgbClr val="E7F2F0"/>
            </a:solidFill>
            <a:prstDash val="solid"/>
          </a:ln>
        </p:spPr>
      </p:sp>
      <p:sp>
        <p:nvSpPr>
          <p:cNvPr id="74" name="Text 72"/>
          <p:cNvSpPr txBox="1"/>
          <p:nvPr/>
        </p:nvSpPr>
        <p:spPr>
          <a:xfrm>
            <a:off x="6793992" y="3941064"/>
            <a:ext cx="365760" cy="365760"/>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75" name="Text 73"/>
          <p:cNvSpPr txBox="1"/>
          <p:nvPr/>
        </p:nvSpPr>
        <p:spPr>
          <a:xfrm>
            <a:off x="7232904" y="3813048"/>
            <a:ext cx="1371600" cy="621792"/>
          </a:xfrm>
          <a:prstGeom prst="rect">
            <a:avLst/>
          </a:prstGeom>
          <a:noFill/>
          <a:ln/>
        </p:spPr>
        <p:txBody>
          <a:bodyPr wrap="square" lIns="0" tIns="0" rIns="0" bIns="0" rtlCol="0" anchor="ctr"/>
          <a:lstStyle/>
          <a:p>
            <a:pPr indent="0" marL="0">
              <a:buNone/>
            </a:pPr>
            <a:r>
              <a:rPr lang="en-US" sz="1100" b="1" dirty="0">
                <a:solidFill>
                  <a:srgbClr val="0F3B38"/>
                </a:solidFill>
              </a:rPr>
              <a:t>Docker, GitHub CI</a:t>
            </a:r>
            <a:endParaRPr lang="en-US" sz="1100" dirty="0"/>
          </a:p>
          <a:p>
            <a:pPr indent="0" marL="0">
              <a:buNone/>
            </a:pPr>
            <a:r>
              <a:rPr lang="en-US" sz="1000" dirty="0">
                <a:solidFill>
                  <a:srgbClr val="5B6B77"/>
                </a:solidFill>
              </a:rPr>
              <a:t>tests on every push</a:t>
            </a:r>
            <a:endParaRPr lang="en-US" sz="1100" dirty="0"/>
          </a:p>
        </p:txBody>
      </p:sp>
      <p:sp>
        <p:nvSpPr>
          <p:cNvPr id="76" name="Text 74"/>
          <p:cNvSpPr txBox="1"/>
          <p:nvPr/>
        </p:nvSpPr>
        <p:spPr>
          <a:xfrm>
            <a:off x="548640" y="4526280"/>
            <a:ext cx="8046720" cy="201168"/>
          </a:xfrm>
          <a:prstGeom prst="rect">
            <a:avLst/>
          </a:prstGeom>
          <a:noFill/>
          <a:ln/>
        </p:spPr>
        <p:txBody>
          <a:bodyPr wrap="square" lIns="0" tIns="0" rIns="0" bIns="0" rtlCol="0" anchor="ctr"/>
          <a:lstStyle/>
          <a:p>
            <a:pPr indent="0" marL="0">
              <a:buNone/>
            </a:pPr>
            <a:r>
              <a:rPr lang="en-US" sz="1000" i="1" dirty="0">
                <a:solidFill>
                  <a:srgbClr val="5B6B77"/>
                </a:solidFill>
              </a:rPr>
              <a:t>Full detailed diagram in the appendix.</a:t>
            </a:r>
            <a:endParaRPr lang="en-US" sz="10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WHO IT IS FOR</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Three people, one twin, each with their own view</a:t>
            </a:r>
            <a:endParaRPr lang="en-US" sz="2500" dirty="0"/>
          </a:p>
        </p:txBody>
      </p:sp>
      <p:sp>
        <p:nvSpPr>
          <p:cNvPr id="4" name="Shape 2"/>
          <p:cNvSpPr/>
          <p:nvPr/>
        </p:nvSpPr>
        <p:spPr>
          <a:xfrm>
            <a:off x="548640" y="1417320"/>
            <a:ext cx="2560320" cy="3154680"/>
          </a:xfrm>
          <a:prstGeom prst="roundRect">
            <a:avLst>
              <a:gd name="adj" fmla="val 3571"/>
            </a:avLst>
          </a:prstGeom>
          <a:solidFill>
            <a:srgbClr val="FFFFFF"/>
          </a:solidFill>
          <a:ln w="15875">
            <a:solidFill>
              <a:srgbClr val="0F7068"/>
            </a:solidFill>
            <a:prstDash val="solid"/>
          </a:ln>
          <a:effectLst>
            <a:outerShdw sx="100000" sy="100000" kx="0" ky="0" algn="bl" rotWithShape="0" blurRad="101600" dist="25400" dir="5400000">
              <a:srgbClr val="0F3B38">
                <a:alpha val="12000"/>
              </a:srgbClr>
            </a:outerShdw>
          </a:effectLst>
        </p:spPr>
      </p:sp>
      <p:pic>
        <p:nvPicPr>
          <p:cNvPr id="5" name="Image 0" descr="Patient view of Kaya">    </p:cNvPr>
          <p:cNvPicPr>
            <a:picLocks noChangeAspect="1"/>
          </p:cNvPicPr>
          <p:nvPr/>
        </p:nvPicPr>
        <p:blipFill>
          <a:blip r:embed="rId1"/>
          <a:stretch>
            <a:fillRect/>
          </a:stretch>
        </p:blipFill>
        <p:spPr>
          <a:xfrm>
            <a:off x="640080" y="1508760"/>
            <a:ext cx="2377440" cy="1292087"/>
          </a:xfrm>
          <a:prstGeom prst="rect">
            <a:avLst/>
          </a:prstGeom>
        </p:spPr>
      </p:pic>
      <p:sp>
        <p:nvSpPr>
          <p:cNvPr id="6" name="Text 3"/>
          <p:cNvSpPr txBox="1"/>
          <p:nvPr/>
        </p:nvSpPr>
        <p:spPr>
          <a:xfrm>
            <a:off x="685800" y="2816352"/>
            <a:ext cx="2286000" cy="274320"/>
          </a:xfrm>
          <a:prstGeom prst="rect">
            <a:avLst/>
          </a:prstGeom>
          <a:noFill/>
          <a:ln/>
        </p:spPr>
        <p:txBody>
          <a:bodyPr wrap="square" lIns="0" tIns="0" rIns="0" bIns="0" rtlCol="0" anchor="ctr"/>
          <a:lstStyle/>
          <a:p>
            <a:pPr indent="0" marL="0">
              <a:buNone/>
            </a:pPr>
            <a:r>
              <a:rPr lang="en-US" sz="1700" b="1" dirty="0">
                <a:solidFill>
                  <a:srgbClr val="0F7068"/>
                </a:solidFill>
              </a:rPr>
              <a:t>Patient</a:t>
            </a:r>
            <a:endParaRPr lang="en-US" sz="1700" dirty="0"/>
          </a:p>
        </p:txBody>
      </p:sp>
      <p:sp>
        <p:nvSpPr>
          <p:cNvPr id="7" name="Text 4"/>
          <p:cNvSpPr txBox="1"/>
          <p:nvPr/>
        </p:nvSpPr>
        <p:spPr>
          <a:xfrm>
            <a:off x="685800" y="3090672"/>
            <a:ext cx="2286000" cy="219456"/>
          </a:xfrm>
          <a:prstGeom prst="rect">
            <a:avLst/>
          </a:prstGeom>
          <a:noFill/>
          <a:ln/>
        </p:spPr>
        <p:txBody>
          <a:bodyPr wrap="square" lIns="0" tIns="0" rIns="0" bIns="0" rtlCol="0" anchor="t"/>
          <a:lstStyle/>
          <a:p>
            <a:pPr indent="0" marL="0">
              <a:buNone/>
            </a:pPr>
            <a:r>
              <a:rPr lang="en-US" sz="1000" i="1" dirty="0">
                <a:solidFill>
                  <a:srgbClr val="5B6B77"/>
                </a:solidFill>
              </a:rPr>
              <a:t>People living with Type 2 diabetes</a:t>
            </a:r>
            <a:endParaRPr lang="en-US" sz="1000" dirty="0"/>
          </a:p>
        </p:txBody>
      </p:sp>
      <p:sp>
        <p:nvSpPr>
          <p:cNvPr id="8" name="Text 5"/>
          <p:cNvSpPr txBox="1"/>
          <p:nvPr/>
        </p:nvSpPr>
        <p:spPr>
          <a:xfrm>
            <a:off x="685800" y="3364992"/>
            <a:ext cx="2286000" cy="841248"/>
          </a:xfrm>
          <a:prstGeom prst="rect">
            <a:avLst/>
          </a:prstGeom>
          <a:noFill/>
          <a:ln/>
        </p:spPr>
        <p:txBody>
          <a:bodyPr wrap="square" lIns="0" tIns="0" rIns="0" bIns="0" rtlCol="0" anchor="t"/>
          <a:lstStyle/>
          <a:p>
            <a:pPr marL="152400" indent="-152400">
              <a:spcAft>
                <a:spcPts val="200"/>
              </a:spcAft>
              <a:buSzPct val="100000"/>
              <a:buChar char="•"/>
            </a:pPr>
            <a:r>
              <a:rPr lang="en-US" sz="1000" dirty="0">
                <a:solidFill>
                  <a:srgbClr val="0F3B38"/>
                </a:solidFill>
              </a:rPr>
              <a:t>One clear next action, and why</a:t>
            </a:r>
            <a:endParaRPr lang="en-US" sz="1000" dirty="0"/>
          </a:p>
          <a:p>
            <a:pPr marL="152400" indent="-152400">
              <a:spcAft>
                <a:spcPts val="200"/>
              </a:spcAft>
              <a:buSzPct val="100000"/>
              <a:buChar char="•"/>
            </a:pPr>
            <a:r>
              <a:rPr lang="en-US" sz="1000" dirty="0">
                <a:solidFill>
                  <a:srgbClr val="0F3B38"/>
                </a:solidFill>
              </a:rPr>
              <a:t>See how habits hit the organs</a:t>
            </a:r>
            <a:endParaRPr lang="en-US" sz="1000" dirty="0"/>
          </a:p>
          <a:p>
            <a:pPr marL="152400" indent="-152400">
              <a:spcAft>
                <a:spcPts val="200"/>
              </a:spcAft>
              <a:buSzPct val="100000"/>
              <a:buChar char="•"/>
            </a:pPr>
            <a:r>
              <a:rPr lang="en-US" sz="1000" dirty="0">
                <a:solidFill>
                  <a:srgbClr val="0F3B38"/>
                </a:solidFill>
              </a:rPr>
              <a:t>Try a change before making it</a:t>
            </a:r>
            <a:endParaRPr lang="en-US" sz="1000" dirty="0"/>
          </a:p>
          <a:p>
            <a:pPr marL="152400" indent="-152400">
              <a:spcAft>
                <a:spcPts val="200"/>
              </a:spcAft>
              <a:buSzPct val="100000"/>
              <a:buChar char="•"/>
            </a:pPr>
            <a:r>
              <a:rPr lang="en-US" sz="1000" dirty="0">
                <a:solidFill>
                  <a:srgbClr val="0F3B38"/>
                </a:solidFill>
              </a:rPr>
              <a:t>Voice help; upload reports</a:t>
            </a:r>
            <a:endParaRPr lang="en-US" sz="1000" dirty="0"/>
          </a:p>
        </p:txBody>
      </p:sp>
      <p:sp>
        <p:nvSpPr>
          <p:cNvPr id="9" name="Shape 6"/>
          <p:cNvSpPr/>
          <p:nvPr/>
        </p:nvSpPr>
        <p:spPr>
          <a:xfrm>
            <a:off x="658368" y="4224528"/>
            <a:ext cx="2340864" cy="274320"/>
          </a:xfrm>
          <a:prstGeom prst="roundRect">
            <a:avLst>
              <a:gd name="adj" fmla="val 26667"/>
            </a:avLst>
          </a:prstGeom>
          <a:solidFill>
            <a:srgbClr val="0F7068"/>
          </a:solidFill>
          <a:ln w="12700">
            <a:solidFill>
              <a:srgbClr val="0F7068"/>
            </a:solidFill>
            <a:prstDash val="solid"/>
          </a:ln>
        </p:spPr>
      </p:sp>
      <p:sp>
        <p:nvSpPr>
          <p:cNvPr id="10" name="Text 7"/>
          <p:cNvSpPr txBox="1"/>
          <p:nvPr/>
        </p:nvSpPr>
        <p:spPr>
          <a:xfrm>
            <a:off x="658368" y="4224528"/>
            <a:ext cx="2340864" cy="274320"/>
          </a:xfrm>
          <a:prstGeom prst="rect">
            <a:avLst/>
          </a:prstGeom>
          <a:noFill/>
          <a:ln/>
        </p:spPr>
        <p:txBody>
          <a:bodyPr wrap="square" lIns="0" tIns="0" rIns="0" bIns="0" rtlCol="0" anchor="ctr"/>
          <a:lstStyle/>
          <a:p>
            <a:pPr algn="ctr" indent="0" marL="0">
              <a:buNone/>
            </a:pPr>
            <a:r>
              <a:rPr lang="en-US" sz="1100" b="1" dirty="0">
                <a:solidFill>
                  <a:srgbClr val="FFFFFF"/>
                </a:solidFill>
              </a:rPr>
              <a:t>Knows what to do next</a:t>
            </a:r>
            <a:endParaRPr lang="en-US" sz="1100" dirty="0"/>
          </a:p>
        </p:txBody>
      </p:sp>
      <p:sp>
        <p:nvSpPr>
          <p:cNvPr id="11" name="Shape 8"/>
          <p:cNvSpPr/>
          <p:nvPr/>
        </p:nvSpPr>
        <p:spPr>
          <a:xfrm>
            <a:off x="3291840" y="1417320"/>
            <a:ext cx="2560320" cy="3154680"/>
          </a:xfrm>
          <a:prstGeom prst="roundRect">
            <a:avLst>
              <a:gd name="adj" fmla="val 3571"/>
            </a:avLst>
          </a:prstGeom>
          <a:solidFill>
            <a:srgbClr val="FFFFFF"/>
          </a:solidFill>
          <a:ln w="15875">
            <a:solidFill>
              <a:srgbClr val="1D6FB8"/>
            </a:solidFill>
            <a:prstDash val="solid"/>
          </a:ln>
          <a:effectLst>
            <a:outerShdw sx="100000" sy="100000" kx="0" ky="0" algn="bl" rotWithShape="0" blurRad="101600" dist="25400" dir="5400000">
              <a:srgbClr val="0F3B38">
                <a:alpha val="12000"/>
              </a:srgbClr>
            </a:outerShdw>
          </a:effectLst>
        </p:spPr>
      </p:sp>
      <p:pic>
        <p:nvPicPr>
          <p:cNvPr id="12" name="Image 1" descr="Doctor view of Kaya">    </p:cNvPr>
          <p:cNvPicPr>
            <a:picLocks noChangeAspect="1"/>
          </p:cNvPicPr>
          <p:nvPr/>
        </p:nvPicPr>
        <p:blipFill>
          <a:blip r:embed="rId2"/>
          <a:stretch>
            <a:fillRect/>
          </a:stretch>
        </p:blipFill>
        <p:spPr>
          <a:xfrm>
            <a:off x="3383280" y="1508760"/>
            <a:ext cx="2377440" cy="1292087"/>
          </a:xfrm>
          <a:prstGeom prst="rect">
            <a:avLst/>
          </a:prstGeom>
        </p:spPr>
      </p:pic>
      <p:sp>
        <p:nvSpPr>
          <p:cNvPr id="13" name="Text 9"/>
          <p:cNvSpPr txBox="1"/>
          <p:nvPr/>
        </p:nvSpPr>
        <p:spPr>
          <a:xfrm>
            <a:off x="3429000" y="2816352"/>
            <a:ext cx="2286000" cy="274320"/>
          </a:xfrm>
          <a:prstGeom prst="rect">
            <a:avLst/>
          </a:prstGeom>
          <a:noFill/>
          <a:ln/>
        </p:spPr>
        <p:txBody>
          <a:bodyPr wrap="square" lIns="0" tIns="0" rIns="0" bIns="0" rtlCol="0" anchor="ctr"/>
          <a:lstStyle/>
          <a:p>
            <a:pPr indent="0" marL="0">
              <a:buNone/>
            </a:pPr>
            <a:r>
              <a:rPr lang="en-US" sz="1700" b="1" dirty="0">
                <a:solidFill>
                  <a:srgbClr val="1D6FB8"/>
                </a:solidFill>
              </a:rPr>
              <a:t>Doctor</a:t>
            </a:r>
            <a:endParaRPr lang="en-US" sz="1700" dirty="0"/>
          </a:p>
        </p:txBody>
      </p:sp>
      <p:sp>
        <p:nvSpPr>
          <p:cNvPr id="14" name="Text 10"/>
          <p:cNvSpPr txBox="1"/>
          <p:nvPr/>
        </p:nvSpPr>
        <p:spPr>
          <a:xfrm>
            <a:off x="3429000" y="3090672"/>
            <a:ext cx="2286000" cy="219456"/>
          </a:xfrm>
          <a:prstGeom prst="rect">
            <a:avLst/>
          </a:prstGeom>
          <a:noFill/>
          <a:ln/>
        </p:spPr>
        <p:txBody>
          <a:bodyPr wrap="square" lIns="0" tIns="0" rIns="0" bIns="0" rtlCol="0" anchor="t"/>
          <a:lstStyle/>
          <a:p>
            <a:pPr indent="0" marL="0">
              <a:buNone/>
            </a:pPr>
            <a:r>
              <a:rPr lang="en-US" sz="1000" i="1" dirty="0">
                <a:solidFill>
                  <a:srgbClr val="5B6B77"/>
                </a:solidFill>
              </a:rPr>
              <a:t>Diabetologists and care teams</a:t>
            </a:r>
            <a:endParaRPr lang="en-US" sz="1000" dirty="0"/>
          </a:p>
        </p:txBody>
      </p:sp>
      <p:sp>
        <p:nvSpPr>
          <p:cNvPr id="15" name="Text 11"/>
          <p:cNvSpPr txBox="1"/>
          <p:nvPr/>
        </p:nvSpPr>
        <p:spPr>
          <a:xfrm>
            <a:off x="3429000" y="3364992"/>
            <a:ext cx="2286000" cy="841248"/>
          </a:xfrm>
          <a:prstGeom prst="rect">
            <a:avLst/>
          </a:prstGeom>
          <a:noFill/>
          <a:ln/>
        </p:spPr>
        <p:txBody>
          <a:bodyPr wrap="square" lIns="0" tIns="0" rIns="0" bIns="0" rtlCol="0" anchor="t"/>
          <a:lstStyle/>
          <a:p>
            <a:pPr marL="152400" indent="-152400">
              <a:spcAft>
                <a:spcPts val="200"/>
              </a:spcAft>
              <a:buSzPct val="100000"/>
              <a:buChar char="•"/>
            </a:pPr>
            <a:r>
              <a:rPr lang="en-US" sz="1000" dirty="0">
                <a:solidFill>
                  <a:srgbClr val="0F3B38"/>
                </a:solidFill>
              </a:rPr>
              <a:t>Triage list sorted by risk</a:t>
            </a:r>
            <a:endParaRPr lang="en-US" sz="1000" dirty="0"/>
          </a:p>
          <a:p>
            <a:pPr marL="152400" indent="-152400">
              <a:spcAft>
                <a:spcPts val="200"/>
              </a:spcAft>
              <a:buSzPct val="100000"/>
              <a:buChar char="•"/>
            </a:pPr>
            <a:r>
              <a:rPr lang="en-US" sz="1000" dirty="0">
                <a:solidFill>
                  <a:srgbClr val="0F3B38"/>
                </a:solidFill>
              </a:rPr>
              <a:t>Full record, what changed</a:t>
            </a:r>
            <a:endParaRPr lang="en-US" sz="1000" dirty="0"/>
          </a:p>
          <a:p>
            <a:pPr marL="152400" indent="-152400">
              <a:spcAft>
                <a:spcPts val="200"/>
              </a:spcAft>
              <a:buSzPct val="100000"/>
              <a:buChar char="•"/>
            </a:pPr>
            <a:r>
              <a:rPr lang="en-US" sz="1000" dirty="0">
                <a:solidFill>
                  <a:srgbClr val="0F3B38"/>
                </a:solidFill>
              </a:rPr>
              <a:t>What-if before changing care</a:t>
            </a:r>
            <a:endParaRPr lang="en-US" sz="1000" dirty="0"/>
          </a:p>
          <a:p>
            <a:pPr marL="152400" indent="-152400">
              <a:spcAft>
                <a:spcPts val="200"/>
              </a:spcAft>
              <a:buSzPct val="100000"/>
              <a:buChar char="•"/>
            </a:pPr>
            <a:r>
              <a:rPr lang="en-US" sz="1000" dirty="0">
                <a:solidFill>
                  <a:srgbClr val="0F3B38"/>
                </a:solidFill>
              </a:rPr>
              <a:t>One-click clinical PDF</a:t>
            </a:r>
            <a:endParaRPr lang="en-US" sz="1000" dirty="0"/>
          </a:p>
        </p:txBody>
      </p:sp>
      <p:sp>
        <p:nvSpPr>
          <p:cNvPr id="16" name="Shape 12"/>
          <p:cNvSpPr/>
          <p:nvPr/>
        </p:nvSpPr>
        <p:spPr>
          <a:xfrm>
            <a:off x="3401568" y="4224528"/>
            <a:ext cx="2340864" cy="274320"/>
          </a:xfrm>
          <a:prstGeom prst="roundRect">
            <a:avLst>
              <a:gd name="adj" fmla="val 26667"/>
            </a:avLst>
          </a:prstGeom>
          <a:solidFill>
            <a:srgbClr val="1D6FB8"/>
          </a:solidFill>
          <a:ln w="12700">
            <a:solidFill>
              <a:srgbClr val="1D6FB8"/>
            </a:solidFill>
            <a:prstDash val="solid"/>
          </a:ln>
        </p:spPr>
      </p:sp>
      <p:sp>
        <p:nvSpPr>
          <p:cNvPr id="17" name="Text 13"/>
          <p:cNvSpPr txBox="1"/>
          <p:nvPr/>
        </p:nvSpPr>
        <p:spPr>
          <a:xfrm>
            <a:off x="3401568" y="4224528"/>
            <a:ext cx="2340864" cy="274320"/>
          </a:xfrm>
          <a:prstGeom prst="rect">
            <a:avLst/>
          </a:prstGeom>
          <a:noFill/>
          <a:ln/>
        </p:spPr>
        <p:txBody>
          <a:bodyPr wrap="square" lIns="0" tIns="0" rIns="0" bIns="0" rtlCol="0" anchor="ctr"/>
          <a:lstStyle/>
          <a:p>
            <a:pPr algn="ctr" indent="0" marL="0">
              <a:buNone/>
            </a:pPr>
            <a:r>
              <a:rPr lang="en-US" sz="1100" b="1" dirty="0">
                <a:solidFill>
                  <a:srgbClr val="FFFFFF"/>
                </a:solidFill>
              </a:rPr>
              <a:t>Sees who needs help today</a:t>
            </a:r>
            <a:endParaRPr lang="en-US" sz="1100" dirty="0"/>
          </a:p>
        </p:txBody>
      </p:sp>
      <p:sp>
        <p:nvSpPr>
          <p:cNvPr id="18" name="Shape 14"/>
          <p:cNvSpPr/>
          <p:nvPr/>
        </p:nvSpPr>
        <p:spPr>
          <a:xfrm>
            <a:off x="6035040" y="1417320"/>
            <a:ext cx="2560320" cy="3154680"/>
          </a:xfrm>
          <a:prstGeom prst="roundRect">
            <a:avLst>
              <a:gd name="adj" fmla="val 3571"/>
            </a:avLst>
          </a:prstGeom>
          <a:solidFill>
            <a:srgbClr val="FFFFFF"/>
          </a:solidFill>
          <a:ln w="15875">
            <a:solidFill>
              <a:srgbClr val="E8A03C"/>
            </a:solidFill>
            <a:prstDash val="solid"/>
          </a:ln>
          <a:effectLst>
            <a:outerShdw sx="100000" sy="100000" kx="0" ky="0" algn="bl" rotWithShape="0" blurRad="101600" dist="25400" dir="5400000">
              <a:srgbClr val="0F3B38">
                <a:alpha val="12000"/>
              </a:srgbClr>
            </a:outerShdw>
          </a:effectLst>
        </p:spPr>
      </p:sp>
      <p:pic>
        <p:nvPicPr>
          <p:cNvPr id="19" name="Image 2" descr="Admin view of Kaya">    </p:cNvPr>
          <p:cNvPicPr>
            <a:picLocks noChangeAspect="1"/>
          </p:cNvPicPr>
          <p:nvPr/>
        </p:nvPicPr>
        <p:blipFill>
          <a:blip r:embed="rId3"/>
          <a:stretch>
            <a:fillRect/>
          </a:stretch>
        </p:blipFill>
        <p:spPr>
          <a:xfrm>
            <a:off x="6126480" y="1508760"/>
            <a:ext cx="2377440" cy="1292087"/>
          </a:xfrm>
          <a:prstGeom prst="rect">
            <a:avLst/>
          </a:prstGeom>
        </p:spPr>
      </p:pic>
      <p:sp>
        <p:nvSpPr>
          <p:cNvPr id="20" name="Text 15"/>
          <p:cNvSpPr txBox="1"/>
          <p:nvPr/>
        </p:nvSpPr>
        <p:spPr>
          <a:xfrm>
            <a:off x="6172200" y="2816352"/>
            <a:ext cx="2286000" cy="274320"/>
          </a:xfrm>
          <a:prstGeom prst="rect">
            <a:avLst/>
          </a:prstGeom>
          <a:noFill/>
          <a:ln/>
        </p:spPr>
        <p:txBody>
          <a:bodyPr wrap="square" lIns="0" tIns="0" rIns="0" bIns="0" rtlCol="0" anchor="ctr"/>
          <a:lstStyle/>
          <a:p>
            <a:pPr indent="0" marL="0">
              <a:buNone/>
            </a:pPr>
            <a:r>
              <a:rPr lang="en-US" sz="1700" b="1" dirty="0">
                <a:solidFill>
                  <a:srgbClr val="E8A03C"/>
                </a:solidFill>
              </a:rPr>
              <a:t>Admin</a:t>
            </a:r>
            <a:endParaRPr lang="en-US" sz="1700" dirty="0"/>
          </a:p>
        </p:txBody>
      </p:sp>
      <p:sp>
        <p:nvSpPr>
          <p:cNvPr id="21" name="Text 16"/>
          <p:cNvSpPr txBox="1"/>
          <p:nvPr/>
        </p:nvSpPr>
        <p:spPr>
          <a:xfrm>
            <a:off x="6172200" y="3090672"/>
            <a:ext cx="2286000" cy="219456"/>
          </a:xfrm>
          <a:prstGeom prst="rect">
            <a:avLst/>
          </a:prstGeom>
          <a:noFill/>
          <a:ln/>
        </p:spPr>
        <p:txBody>
          <a:bodyPr wrap="square" lIns="0" tIns="0" rIns="0" bIns="0" rtlCol="0" anchor="t"/>
          <a:lstStyle/>
          <a:p>
            <a:pPr indent="0" marL="0">
              <a:buNone/>
            </a:pPr>
            <a:r>
              <a:rPr lang="en-US" sz="1000" i="1" dirty="0">
                <a:solidFill>
                  <a:srgbClr val="5B6B77"/>
                </a:solidFill>
              </a:rPr>
              <a:t>Clinic admins and hospital IT</a:t>
            </a:r>
            <a:endParaRPr lang="en-US" sz="1000" dirty="0"/>
          </a:p>
        </p:txBody>
      </p:sp>
      <p:sp>
        <p:nvSpPr>
          <p:cNvPr id="22" name="Text 17"/>
          <p:cNvSpPr txBox="1"/>
          <p:nvPr/>
        </p:nvSpPr>
        <p:spPr>
          <a:xfrm>
            <a:off x="6172200" y="3364992"/>
            <a:ext cx="2286000" cy="841248"/>
          </a:xfrm>
          <a:prstGeom prst="rect">
            <a:avLst/>
          </a:prstGeom>
          <a:noFill/>
          <a:ln/>
        </p:spPr>
        <p:txBody>
          <a:bodyPr wrap="square" lIns="0" tIns="0" rIns="0" bIns="0" rtlCol="0" anchor="t"/>
          <a:lstStyle/>
          <a:p>
            <a:pPr marL="152400" indent="-152400">
              <a:spcAft>
                <a:spcPts val="200"/>
              </a:spcAft>
              <a:buSzPct val="100000"/>
              <a:buChar char="•"/>
            </a:pPr>
            <a:r>
              <a:rPr lang="en-US" sz="1000" dirty="0">
                <a:solidFill>
                  <a:srgbClr val="0F3B38"/>
                </a:solidFill>
              </a:rPr>
              <a:t>Service health and latency</a:t>
            </a:r>
            <a:endParaRPr lang="en-US" sz="1000" dirty="0"/>
          </a:p>
          <a:p>
            <a:pPr marL="152400" indent="-152400">
              <a:spcAft>
                <a:spcPts val="200"/>
              </a:spcAft>
              <a:buSzPct val="100000"/>
              <a:buChar char="•"/>
            </a:pPr>
            <a:r>
              <a:rPr lang="en-US" sz="1000" dirty="0">
                <a:solidFill>
                  <a:srgbClr val="0F3B38"/>
                </a:solidFill>
              </a:rPr>
              <a:t>Model and data inventory</a:t>
            </a:r>
            <a:endParaRPr lang="en-US" sz="1000" dirty="0"/>
          </a:p>
          <a:p>
            <a:pPr marL="152400" indent="-152400">
              <a:spcAft>
                <a:spcPts val="200"/>
              </a:spcAft>
              <a:buSzPct val="100000"/>
              <a:buChar char="•"/>
            </a:pPr>
            <a:r>
              <a:rPr lang="en-US" sz="1000" dirty="0">
                <a:solidFill>
                  <a:srgbClr val="0F3B38"/>
                </a:solidFill>
              </a:rPr>
              <a:t>Audit trail, safety counts</a:t>
            </a:r>
            <a:endParaRPr lang="en-US" sz="1000" dirty="0"/>
          </a:p>
          <a:p>
            <a:pPr marL="152400" indent="-152400">
              <a:spcAft>
                <a:spcPts val="200"/>
              </a:spcAft>
              <a:buSzPct val="100000"/>
              <a:buChar char="•"/>
            </a:pPr>
            <a:r>
              <a:rPr lang="en-US" sz="1000" dirty="0">
                <a:solidFill>
                  <a:srgbClr val="0F3B38"/>
                </a:solidFill>
              </a:rPr>
              <a:t>Self-test, FHIR R4 API</a:t>
            </a:r>
            <a:endParaRPr lang="en-US" sz="1000" dirty="0"/>
          </a:p>
        </p:txBody>
      </p:sp>
      <p:sp>
        <p:nvSpPr>
          <p:cNvPr id="23" name="Shape 18"/>
          <p:cNvSpPr/>
          <p:nvPr/>
        </p:nvSpPr>
        <p:spPr>
          <a:xfrm>
            <a:off x="6144768" y="4224528"/>
            <a:ext cx="2340864" cy="274320"/>
          </a:xfrm>
          <a:prstGeom prst="roundRect">
            <a:avLst>
              <a:gd name="adj" fmla="val 26667"/>
            </a:avLst>
          </a:prstGeom>
          <a:solidFill>
            <a:srgbClr val="E8A03C"/>
          </a:solidFill>
          <a:ln w="12700">
            <a:solidFill>
              <a:srgbClr val="E8A03C"/>
            </a:solidFill>
            <a:prstDash val="solid"/>
          </a:ln>
        </p:spPr>
      </p:sp>
      <p:sp>
        <p:nvSpPr>
          <p:cNvPr id="24" name="Text 19"/>
          <p:cNvSpPr txBox="1"/>
          <p:nvPr/>
        </p:nvSpPr>
        <p:spPr>
          <a:xfrm>
            <a:off x="6144768" y="4224528"/>
            <a:ext cx="2340864" cy="274320"/>
          </a:xfrm>
          <a:prstGeom prst="rect">
            <a:avLst/>
          </a:prstGeom>
          <a:noFill/>
          <a:ln/>
        </p:spPr>
        <p:txBody>
          <a:bodyPr wrap="square" lIns="0" tIns="0" rIns="0" bIns="0" rtlCol="0" anchor="ctr"/>
          <a:lstStyle/>
          <a:p>
            <a:pPr algn="ctr" indent="0" marL="0">
              <a:buNone/>
            </a:pPr>
            <a:r>
              <a:rPr lang="en-US" sz="1100" b="1" dirty="0">
                <a:solidFill>
                  <a:srgbClr val="FFFFFF"/>
                </a:solidFill>
              </a:rPr>
              <a:t>Runs it safely</a:t>
            </a:r>
            <a:endParaRPr lang="en-US" sz="11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indent="0" marL="0">
              <a:buNone/>
            </a:pPr>
            <a:r>
              <a:rPr lang="en-US" sz="1100" b="1" spc="300" kern="0" dirty="0">
                <a:solidFill>
                  <a:srgbClr val="0F7068"/>
                </a:solidFill>
              </a:rPr>
              <a:t>WHERE WE ARE</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indent="0" marL="0">
              <a:buNone/>
            </a:pPr>
            <a:r>
              <a:rPr lang="en-US" sz="2500" b="1" dirty="0">
                <a:solidFill>
                  <a:srgbClr val="0F3B38"/>
                </a:solidFill>
              </a:rPr>
              <a:t>Built and working today, with an honest road ahead</a:t>
            </a:r>
            <a:endParaRPr lang="en-US" sz="2500" dirty="0"/>
          </a:p>
        </p:txBody>
      </p:sp>
      <p:sp>
        <p:nvSpPr>
          <p:cNvPr id="4" name="Shape 2"/>
          <p:cNvSpPr/>
          <p:nvPr/>
        </p:nvSpPr>
        <p:spPr>
          <a:xfrm>
            <a:off x="548640" y="1417320"/>
            <a:ext cx="2560320" cy="3108960"/>
          </a:xfrm>
          <a:prstGeom prst="roundRect">
            <a:avLst>
              <a:gd name="adj" fmla="val 3571"/>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5" name="Shape 3"/>
          <p:cNvSpPr/>
          <p:nvPr/>
        </p:nvSpPr>
        <p:spPr>
          <a:xfrm>
            <a:off x="658368" y="1527048"/>
            <a:ext cx="2340864" cy="310896"/>
          </a:xfrm>
          <a:prstGeom prst="roundRect">
            <a:avLst>
              <a:gd name="adj" fmla="val 23529"/>
            </a:avLst>
          </a:prstGeom>
          <a:solidFill>
            <a:srgbClr val="0F7068"/>
          </a:solidFill>
          <a:ln w="12700">
            <a:solidFill>
              <a:srgbClr val="0F7068"/>
            </a:solidFill>
            <a:prstDash val="solid"/>
          </a:ln>
        </p:spPr>
      </p:sp>
      <p:sp>
        <p:nvSpPr>
          <p:cNvPr id="6" name="Text 4"/>
          <p:cNvSpPr txBox="1"/>
          <p:nvPr/>
        </p:nvSpPr>
        <p:spPr>
          <a:xfrm>
            <a:off x="658368" y="1527048"/>
            <a:ext cx="2340864"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rPr>
              <a:t>BUILT AND WORKING</a:t>
            </a:r>
            <a:endParaRPr lang="en-US" sz="1050" dirty="0"/>
          </a:p>
        </p:txBody>
      </p:sp>
      <p:sp>
        <p:nvSpPr>
          <p:cNvPr id="7" name="Text 5"/>
          <p:cNvSpPr txBox="1"/>
          <p:nvPr/>
        </p:nvSpPr>
        <p:spPr>
          <a:xfrm>
            <a:off x="713232" y="1938528"/>
            <a:ext cx="2231136" cy="25146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0F3B38"/>
                </a:solidFill>
              </a:rPr>
              <a:t>Glucose, liver, eye and kidney modules</a:t>
            </a:r>
            <a:endParaRPr lang="en-US" sz="1100" dirty="0"/>
          </a:p>
          <a:p>
            <a:pPr marL="177800" indent="-177800">
              <a:spcAft>
                <a:spcPts val="500"/>
              </a:spcAft>
              <a:buSzPct val="100000"/>
              <a:buChar char="•"/>
            </a:pPr>
            <a:r>
              <a:rPr lang="en-US" sz="1100" dirty="0">
                <a:solidFill>
                  <a:srgbClr val="0F3B38"/>
                </a:solidFill>
              </a:rPr>
              <a:t>What-if engine and live mode</a:t>
            </a:r>
            <a:endParaRPr lang="en-US" sz="1100" dirty="0"/>
          </a:p>
          <a:p>
            <a:pPr marL="177800" indent="-177800">
              <a:spcAft>
                <a:spcPts val="500"/>
              </a:spcAft>
              <a:buSzPct val="100000"/>
              <a:buChar char="•"/>
            </a:pPr>
            <a:r>
              <a:rPr lang="en-US" sz="1100" dirty="0">
                <a:solidFill>
                  <a:srgbClr val="0F3B38"/>
                </a:solidFill>
              </a:rPr>
              <a:t>Doctor, patient and admin views</a:t>
            </a:r>
            <a:endParaRPr lang="en-US" sz="1100" dirty="0"/>
          </a:p>
          <a:p>
            <a:pPr marL="177800" indent="-177800">
              <a:spcAft>
                <a:spcPts val="500"/>
              </a:spcAft>
              <a:buSzPct val="100000"/>
              <a:buChar char="•"/>
            </a:pPr>
            <a:r>
              <a:rPr lang="en-US" sz="1100" dirty="0">
                <a:solidFill>
                  <a:srgbClr val="0F3B38"/>
                </a:solidFill>
              </a:rPr>
              <a:t>English, Hindi, Telugu, Kannada, with voice</a:t>
            </a:r>
            <a:endParaRPr lang="en-US" sz="1100" dirty="0"/>
          </a:p>
          <a:p>
            <a:pPr marL="177800" indent="-177800">
              <a:spcAft>
                <a:spcPts val="500"/>
              </a:spcAft>
              <a:buSzPct val="100000"/>
              <a:buChar char="•"/>
            </a:pPr>
            <a:r>
              <a:rPr lang="en-US" sz="1100" dirty="0">
                <a:solidFill>
                  <a:srgbClr val="0F3B38"/>
                </a:solidFill>
              </a:rPr>
              <a:t>Report upload read by Document AI</a:t>
            </a:r>
            <a:endParaRPr lang="en-US" sz="1100" dirty="0"/>
          </a:p>
          <a:p>
            <a:pPr marL="177800" indent="-177800">
              <a:spcAft>
                <a:spcPts val="500"/>
              </a:spcAft>
              <a:buSzPct val="100000"/>
              <a:buChar char="•"/>
            </a:pPr>
            <a:r>
              <a:rPr lang="en-US" sz="1100" dirty="0">
                <a:solidFill>
                  <a:srgbClr val="0F3B38"/>
                </a:solidFill>
              </a:rPr>
              <a:t>FHIR R4 read API, PDF reports</a:t>
            </a:r>
            <a:endParaRPr lang="en-US" sz="1100" dirty="0"/>
          </a:p>
          <a:p>
            <a:pPr marL="177800" indent="-177800">
              <a:spcAft>
                <a:spcPts val="500"/>
              </a:spcAft>
              <a:buSzPct val="100000"/>
              <a:buChar char="•"/>
            </a:pPr>
            <a:r>
              <a:rPr lang="en-US" sz="1100" dirty="0">
                <a:solidFill>
                  <a:srgbClr val="0F3B38"/>
                </a:solidFill>
              </a:rPr>
              <a:t>Docker deploy, tests on every push</a:t>
            </a:r>
            <a:endParaRPr lang="en-US" sz="1100" dirty="0"/>
          </a:p>
        </p:txBody>
      </p:sp>
      <p:sp>
        <p:nvSpPr>
          <p:cNvPr id="8" name="Shape 6"/>
          <p:cNvSpPr/>
          <p:nvPr/>
        </p:nvSpPr>
        <p:spPr>
          <a:xfrm>
            <a:off x="3291840" y="1417320"/>
            <a:ext cx="2560320" cy="3108960"/>
          </a:xfrm>
          <a:prstGeom prst="roundRect">
            <a:avLst>
              <a:gd name="adj" fmla="val 3571"/>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9" name="Shape 7"/>
          <p:cNvSpPr/>
          <p:nvPr/>
        </p:nvSpPr>
        <p:spPr>
          <a:xfrm>
            <a:off x="3401568" y="1527048"/>
            <a:ext cx="2340864" cy="310896"/>
          </a:xfrm>
          <a:prstGeom prst="roundRect">
            <a:avLst>
              <a:gd name="adj" fmla="val 23529"/>
            </a:avLst>
          </a:prstGeom>
          <a:solidFill>
            <a:srgbClr val="E8A03C"/>
          </a:solidFill>
          <a:ln w="12700">
            <a:solidFill>
              <a:srgbClr val="E8A03C"/>
            </a:solidFill>
            <a:prstDash val="solid"/>
          </a:ln>
        </p:spPr>
      </p:sp>
      <p:sp>
        <p:nvSpPr>
          <p:cNvPr id="10" name="Text 8"/>
          <p:cNvSpPr txBox="1"/>
          <p:nvPr/>
        </p:nvSpPr>
        <p:spPr>
          <a:xfrm>
            <a:off x="3401568" y="1527048"/>
            <a:ext cx="2340864"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rPr>
              <a:t>NEXT</a:t>
            </a:r>
            <a:endParaRPr lang="en-US" sz="1050" dirty="0"/>
          </a:p>
        </p:txBody>
      </p:sp>
      <p:sp>
        <p:nvSpPr>
          <p:cNvPr id="11" name="Text 9"/>
          <p:cNvSpPr txBox="1"/>
          <p:nvPr/>
        </p:nvSpPr>
        <p:spPr>
          <a:xfrm>
            <a:off x="3456432" y="1938528"/>
            <a:ext cx="2231136" cy="25146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0F3B38"/>
                </a:solidFill>
              </a:rPr>
              <a:t>Consent records and a persistent audit log</a:t>
            </a:r>
            <a:endParaRPr lang="en-US" sz="1100" dirty="0"/>
          </a:p>
          <a:p>
            <a:pPr marL="177800" indent="-177800">
              <a:spcAft>
                <a:spcPts val="500"/>
              </a:spcAft>
              <a:buSzPct val="100000"/>
              <a:buChar char="•"/>
            </a:pPr>
            <a:r>
              <a:rPr lang="en-US" sz="1100" dirty="0">
                <a:solidFill>
                  <a:srgbClr val="0F3B38"/>
                </a:solidFill>
              </a:rPr>
              <a:t>Sign-in and hardening before real data</a:t>
            </a:r>
            <a:endParaRPr lang="en-US" sz="1100" dirty="0"/>
          </a:p>
          <a:p>
            <a:pPr marL="177800" indent="-177800">
              <a:spcAft>
                <a:spcPts val="500"/>
              </a:spcAft>
              <a:buSzPct val="100000"/>
              <a:buChar char="•"/>
            </a:pPr>
            <a:r>
              <a:rPr lang="en-US" sz="1100" dirty="0">
                <a:solidFill>
                  <a:srgbClr val="0F3B38"/>
                </a:solidFill>
              </a:rPr>
              <a:t>Fuller FHIR and ABDM alignment</a:t>
            </a:r>
            <a:endParaRPr lang="en-US" sz="1100" dirty="0"/>
          </a:p>
          <a:p>
            <a:pPr marL="177800" indent="-177800">
              <a:spcAft>
                <a:spcPts val="500"/>
              </a:spcAft>
              <a:buSzPct val="100000"/>
              <a:buChar char="•"/>
            </a:pPr>
            <a:r>
              <a:rPr lang="en-US" sz="1100" dirty="0">
                <a:solidFill>
                  <a:srgbClr val="0F3B38"/>
                </a:solidFill>
              </a:rPr>
              <a:t>Drift monitoring on the admin page</a:t>
            </a:r>
            <a:endParaRPr lang="en-US" sz="1100" dirty="0"/>
          </a:p>
          <a:p>
            <a:pPr marL="177800" indent="-177800">
              <a:spcAft>
                <a:spcPts val="500"/>
              </a:spcAft>
              <a:buSzPct val="100000"/>
              <a:buChar char="•"/>
            </a:pPr>
            <a:r>
              <a:rPr lang="en-US" sz="1100" dirty="0">
                <a:solidFill>
                  <a:srgbClr val="0F3B38"/>
                </a:solidFill>
              </a:rPr>
              <a:t>Pilot with a hospital partner on real Indian patient data</a:t>
            </a:r>
            <a:endParaRPr lang="en-US" sz="1100" dirty="0"/>
          </a:p>
          <a:p>
            <a:pPr marL="177800" indent="-177800">
              <a:spcAft>
                <a:spcPts val="500"/>
              </a:spcAft>
              <a:buSzPct val="100000"/>
              <a:buChar char="•"/>
            </a:pPr>
            <a:r>
              <a:rPr lang="en-US" sz="1100" dirty="0">
                <a:solidFill>
                  <a:srgbClr val="0F3B38"/>
                </a:solidFill>
              </a:rPr>
              <a:t>Native-speaker review of Indian-language texts</a:t>
            </a:r>
            <a:endParaRPr lang="en-US" sz="1100" dirty="0"/>
          </a:p>
        </p:txBody>
      </p:sp>
      <p:sp>
        <p:nvSpPr>
          <p:cNvPr id="12" name="Shape 10"/>
          <p:cNvSpPr/>
          <p:nvPr/>
        </p:nvSpPr>
        <p:spPr>
          <a:xfrm>
            <a:off x="6035040" y="1417320"/>
            <a:ext cx="2560320" cy="3108960"/>
          </a:xfrm>
          <a:prstGeom prst="roundRect">
            <a:avLst>
              <a:gd name="adj" fmla="val 3571"/>
            </a:avLst>
          </a:prstGeom>
          <a:solidFill>
            <a:srgbClr val="FFFFFF"/>
          </a:solidFill>
          <a:ln w="9525">
            <a:solidFill>
              <a:srgbClr val="D5DEDC"/>
            </a:solidFill>
            <a:prstDash val="solid"/>
          </a:ln>
          <a:effectLst>
            <a:outerShdw sx="100000" sy="100000" kx="0" ky="0" algn="bl" rotWithShape="0" blurRad="101600" dist="25400" dir="5400000">
              <a:srgbClr val="0F3B38">
                <a:alpha val="12000"/>
              </a:srgbClr>
            </a:outerShdw>
          </a:effectLst>
        </p:spPr>
      </p:sp>
      <p:sp>
        <p:nvSpPr>
          <p:cNvPr id="13" name="Shape 11"/>
          <p:cNvSpPr/>
          <p:nvPr/>
        </p:nvSpPr>
        <p:spPr>
          <a:xfrm>
            <a:off x="6144768" y="1527048"/>
            <a:ext cx="2340864" cy="310896"/>
          </a:xfrm>
          <a:prstGeom prst="roundRect">
            <a:avLst>
              <a:gd name="adj" fmla="val 23529"/>
            </a:avLst>
          </a:prstGeom>
          <a:solidFill>
            <a:srgbClr val="475569"/>
          </a:solidFill>
          <a:ln w="12700">
            <a:solidFill>
              <a:srgbClr val="475569"/>
            </a:solidFill>
            <a:prstDash val="solid"/>
          </a:ln>
        </p:spPr>
      </p:sp>
      <p:sp>
        <p:nvSpPr>
          <p:cNvPr id="14" name="Text 12"/>
          <p:cNvSpPr txBox="1"/>
          <p:nvPr/>
        </p:nvSpPr>
        <p:spPr>
          <a:xfrm>
            <a:off x="6144768" y="1527048"/>
            <a:ext cx="2340864"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rPr>
              <a:t>WHAT WE STATE OPENLY</a:t>
            </a:r>
            <a:endParaRPr lang="en-US" sz="1050" dirty="0"/>
          </a:p>
        </p:txBody>
      </p:sp>
      <p:sp>
        <p:nvSpPr>
          <p:cNvPr id="15" name="Text 13"/>
          <p:cNvSpPr txBox="1"/>
          <p:nvPr/>
        </p:nvSpPr>
        <p:spPr>
          <a:xfrm>
            <a:off x="6199632" y="1938528"/>
            <a:ext cx="2231136" cy="25146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0F3B38"/>
                </a:solidFill>
              </a:rPr>
              <a:t>Decision support, not a diagnostic device</a:t>
            </a:r>
            <a:endParaRPr lang="en-US" sz="1100" dirty="0"/>
          </a:p>
          <a:p>
            <a:pPr marL="177800" indent="-177800">
              <a:spcAft>
                <a:spcPts val="500"/>
              </a:spcAft>
              <a:buSzPct val="100000"/>
              <a:buChar char="•"/>
            </a:pPr>
            <a:r>
              <a:rPr lang="en-US" sz="1100" dirty="0">
                <a:solidFill>
                  <a:srgbClr val="0F3B38"/>
                </a:solidFill>
              </a:rPr>
              <a:t>Glucose-to-organ links are simulated on a synthetic cohort</a:t>
            </a:r>
            <a:endParaRPr lang="en-US" sz="1100" dirty="0"/>
          </a:p>
          <a:p>
            <a:pPr marL="177800" indent="-177800">
              <a:spcAft>
                <a:spcPts val="500"/>
              </a:spcAft>
              <a:buSzPct val="100000"/>
              <a:buChar char="•"/>
            </a:pPr>
            <a:r>
              <a:rPr lang="en-US" sz="1100" dirty="0">
                <a:solidFill>
                  <a:srgbClr val="0F3B38"/>
                </a:solidFill>
              </a:rPr>
              <a:t>Not yet clinically validated</a:t>
            </a:r>
            <a:endParaRPr lang="en-US" sz="1100" dirty="0"/>
          </a:p>
          <a:p>
            <a:pPr marL="177800" indent="-177800">
              <a:spcAft>
                <a:spcPts val="500"/>
              </a:spcAft>
              <a:buSzPct val="100000"/>
              <a:buChar char="•"/>
            </a:pPr>
            <a:r>
              <a:rPr lang="en-US" sz="1100" dirty="0">
                <a:solidFill>
                  <a:srgbClr val="0F3B38"/>
                </a:solidFill>
              </a:rPr>
              <a:t>Every module is validated on real data wherever real data exists</a:t>
            </a:r>
            <a:endParaRPr lang="en-US" sz="1100" dirty="0"/>
          </a:p>
          <a:p>
            <a:pPr marL="177800" indent="-177800">
              <a:spcAft>
                <a:spcPts val="500"/>
              </a:spcAft>
              <a:buSzPct val="100000"/>
              <a:buChar char="•"/>
            </a:pPr>
            <a:r>
              <a:rPr lang="en-US" sz="1100" dirty="0">
                <a:solidFill>
                  <a:srgbClr val="0F3B38"/>
                </a:solidFill>
              </a:rPr>
              <a:t>Metrics are out-of-sample</a:t>
            </a:r>
            <a:endParaRPr lang="en-US" sz="11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77"/>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 glucometer held in a hand">    </p:cNvPr>
          <p:cNvPicPr>
            <a:picLocks noChangeAspect="1"/>
          </p:cNvPicPr>
          <p:nvPr/>
        </p:nvPicPr>
        <p:blipFill>
          <a:blip r:embed="rId1"/>
          <a:srcRect l="0" r="0" t="0" b="0"/>
          <a:stretch/>
        </p:blipFill>
        <p:spPr>
          <a:xfrm>
            <a:off x="6035040" y="0"/>
            <a:ext cx="3108960" cy="5143500"/>
          </a:xfrm>
          <a:prstGeom prst="rect">
            <a:avLst/>
          </a:prstGeom>
        </p:spPr>
      </p:pic>
      <p:pic>
        <p:nvPicPr>
          <p:cNvPr id="3" name="Image 1" descr="Kaya logo">    </p:cNvPr>
          <p:cNvPicPr>
            <a:picLocks noChangeAspect="1"/>
          </p:cNvPicPr>
          <p:nvPr/>
        </p:nvPicPr>
        <p:blipFill>
          <a:blip r:embed="rId2"/>
          <a:stretch>
            <a:fillRect/>
          </a:stretch>
        </p:blipFill>
        <p:spPr>
          <a:xfrm>
            <a:off x="457200" y="548640"/>
            <a:ext cx="2651760" cy="786384"/>
          </a:xfrm>
          <a:prstGeom prst="rect">
            <a:avLst/>
          </a:prstGeom>
        </p:spPr>
      </p:pic>
      <p:sp>
        <p:nvSpPr>
          <p:cNvPr id="4" name="Title"/>
          <p:cNvSpPr txBox="1"/>
          <p:nvPr/>
        </p:nvSpPr>
        <p:spPr>
          <a:xfrm>
            <a:off x="548640" y="1691640"/>
            <a:ext cx="5120640" cy="1097280"/>
          </a:xfrm>
          <a:prstGeom prst="rect">
            <a:avLst/>
          </a:prstGeom>
          <a:noFill/>
          <a:ln/>
        </p:spPr>
        <p:txBody>
          <a:bodyPr wrap="square" lIns="0" tIns="0" rIns="0" bIns="0" rtlCol="0" anchor="t"/>
          <a:lstStyle/>
          <a:p>
            <a:pPr indent="0" marL="0">
              <a:buNone/>
            </a:pPr>
            <a:r>
              <a:rPr lang="en-US" sz="3200" b="1" dirty="0">
                <a:solidFill>
                  <a:srgbClr val="0F3B38"/>
                </a:solidFill>
              </a:rPr>
              <a:t>See the organs behind the glucose</a:t>
            </a:r>
            <a:endParaRPr lang="en-US" sz="3200" dirty="0"/>
          </a:p>
        </p:txBody>
      </p:sp>
      <p:sp>
        <p:nvSpPr>
          <p:cNvPr id="5" name="Text 1"/>
          <p:cNvSpPr txBox="1"/>
          <p:nvPr/>
        </p:nvSpPr>
        <p:spPr>
          <a:xfrm>
            <a:off x="548640" y="2834640"/>
            <a:ext cx="5029200" cy="777240"/>
          </a:xfrm>
          <a:prstGeom prst="rect">
            <a:avLst/>
          </a:prstGeom>
          <a:noFill/>
          <a:ln/>
        </p:spPr>
        <p:txBody>
          <a:bodyPr wrap="square" lIns="0" tIns="0" rIns="0" bIns="0" rtlCol="0" anchor="t"/>
          <a:lstStyle/>
          <a:p>
            <a:pPr indent="0" marL="0">
              <a:buNone/>
            </a:pPr>
            <a:r>
              <a:rPr lang="en-US" sz="1400" dirty="0">
                <a:solidFill>
                  <a:srgbClr val="0F7068"/>
                </a:solidFill>
              </a:rPr>
              <a:t>Kaya gives every patient a living twin, every doctor a way to test a change first, and every clinic a platform it can run safely.</a:t>
            </a:r>
            <a:endParaRPr lang="en-US" sz="1400" dirty="0"/>
          </a:p>
        </p:txBody>
      </p:sp>
      <p:sp>
        <p:nvSpPr>
          <p:cNvPr id="6" name="Text 2"/>
          <p:cNvSpPr txBox="1"/>
          <p:nvPr/>
        </p:nvSpPr>
        <p:spPr>
          <a:xfrm>
            <a:off x="548640" y="3931920"/>
            <a:ext cx="5029200" cy="731520"/>
          </a:xfrm>
          <a:prstGeom prst="rect">
            <a:avLst/>
          </a:prstGeom>
          <a:noFill/>
          <a:ln/>
        </p:spPr>
        <p:txBody>
          <a:bodyPr wrap="square" lIns="0" tIns="0" rIns="0" bIns="0" rtlCol="0" anchor="t"/>
          <a:lstStyle/>
          <a:p>
            <a:pPr indent="0" marL="0">
              <a:buNone/>
            </a:pPr>
            <a:r>
              <a:rPr lang="en-US" sz="1200" b="1" dirty="0">
                <a:solidFill>
                  <a:srgbClr val="0F3B38"/>
                </a:solidFill>
              </a:rPr>
              <a:t>Team Kaya</a:t>
            </a:r>
            <a:endParaRPr lang="en-US" sz="1200" dirty="0"/>
          </a:p>
          <a:p>
            <a:pPr indent="0" marL="0">
              <a:buNone/>
            </a:pPr>
            <a:r>
              <a:rPr lang="en-US" sz="1200" dirty="0">
                <a:solidFill>
                  <a:srgbClr val="0F3B38"/>
                </a:solidFill>
              </a:rPr>
              <a:t>Dulari Bhushan  ·  Prateek Giddaplavar</a:t>
            </a:r>
            <a:endParaRPr lang="en-US" sz="1200" dirty="0"/>
          </a:p>
          <a:p>
            <a:pPr indent="0" marL="0">
              <a:buNone/>
            </a:pPr>
            <a:r>
              <a:rPr lang="en-US" sz="1200" dirty="0">
                <a:solidFill>
                  <a:srgbClr val="5B6B77"/>
                </a:solidFill>
              </a:rPr>
              <a:t>Indian Institute of Technology Hyderabad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Kaya detailed architecture: data, models, trust and delivery, with footnotes">    </p:cNvPr>
          <p:cNvPicPr>
            <a:picLocks noChangeAspect="1"/>
          </p:cNvPicPr>
          <p:nvPr/>
        </p:nvPicPr>
        <p:blipFill>
          <a:blip r:embed="rId2"/>
          <a:stretch>
            <a:fillRect/>
          </a:stretch>
        </p:blipFill>
        <p:spPr>
          <a:xfrm>
            <a:off x="653796" y="0"/>
            <a:ext cx="7836408" cy="5143500"/>
          </a:xfrm>
          <a:prstGeom prst="rect">
            <a:avLst/>
          </a:prstGeom>
        </p:spPr>
      </p:pic>
    </p:spTree>
  </p:cSld>
  <p:clrMapOvr>
    <a:masterClrMapping/>
  </p:clrMapOvr>
</p:sld>
</file>

<file path=ppt/theme/theme1.xml><?xml version="1.0" encoding="utf-8"?>
<a:theme xmlns:a="http://schemas.openxmlformats.org/drawingml/2006/main" name="Kaya">
  <a:themeElements>
    <a:clrScheme name="Kaya">
      <a:dk1>
        <a:srgbClr val="0F3B38"/>
      </a:dk1>
      <a:lt1>
        <a:srgbClr val="FFFFFF"/>
      </a:lt1>
      <a:dk2>
        <a:srgbClr val="0F7068"/>
      </a:dk2>
      <a:lt2>
        <a:srgbClr val="FAF9F5"/>
      </a:lt2>
      <a:accent1>
        <a:srgbClr val="0F7068"/>
      </a:accent1>
      <a:accent2>
        <a:srgbClr val="E8A03C"/>
      </a:accent2>
      <a:accent3>
        <a:srgbClr val="1D6FB8"/>
      </a:accent3>
      <a:accent4>
        <a:srgbClr val="B42318"/>
      </a:accent4>
      <a:accent5>
        <a:srgbClr val="5B6B77"/>
      </a:accent5>
      <a:accent6>
        <a:srgbClr val="7FB3AC"/>
      </a:accent6>
      <a:hlink>
        <a:srgbClr val="0F7068"/>
      </a:hlink>
      <a:folHlink>
        <a:srgbClr val="5B6B77"/>
      </a:folHlink>
    </a:clrScheme>
    <a:fontScheme name="Kay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Kaya: a multi-organ digital twin for Type 2 Diabetes</dc:title>
  <dc:subject>PptxGenJS Presentation</dc:subject>
  <dc:creator>Team Kaya, IIT Hyderabad</dc:creator>
  <cp:lastModifiedBy>Team Kaya, IIT Hyderabad</cp:lastModifiedBy>
  <cp:revision>1</cp:revision>
  <dcterms:created xsi:type="dcterms:W3CDTF">2026-10-18T14:25:03Z</dcterms:created>
  <dcterms:modified xsi:type="dcterms:W3CDTF">2026-10-18T14:25:03Z</dcterms:modified>
</cp:coreProperties>
</file>